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Lst>
  <p:sldSz cx="12192000" cy="6858000"/>
  <p:notesSz cx="6858000" cy="9144000"/>
  <p:embeddedFontLst>
    <p:embeddedFont>
      <p:font typeface="Arimo" panose="020B0604020202020204" charset="0"/>
      <p:regular r:id="rId119"/>
      <p:bold r:id="rId120"/>
      <p:italic r:id="rId121"/>
      <p:boldItalic r:id="rId122"/>
    </p:embeddedFont>
    <p:embeddedFont>
      <p:font typeface="Calibri" panose="020F0502020204030204" pitchFamily="34" charset="0"/>
      <p:regular r:id="rId123"/>
      <p:bold r:id="rId124"/>
      <p:italic r:id="rId125"/>
      <p:boldItalic r:id="rId126"/>
    </p:embeddedFont>
    <p:embeddedFont>
      <p:font typeface="Georgia" panose="02040502050405020303" pitchFamily="18" charset="0"/>
      <p:regular r:id="rId127"/>
      <p:bold r:id="rId128"/>
      <p:italic r:id="rId129"/>
      <p:boldItalic r:id="rId130"/>
    </p:embeddedFont>
    <p:embeddedFont>
      <p:font typeface="Nunito" pitchFamily="2" charset="0"/>
      <p:regular r:id="rId131"/>
      <p:bold r:id="rId132"/>
      <p:italic r:id="rId133"/>
      <p:boldItalic r:id="rId134"/>
    </p:embeddedFont>
    <p:embeddedFont>
      <p:font typeface="Palatino Linotype" panose="02040502050505030304" pitchFamily="18" charset="0"/>
      <p:regular r:id="rId135"/>
      <p:bold r:id="rId136"/>
      <p:italic r:id="rId137"/>
      <p:boldItalic r:id="rId138"/>
    </p:embeddedFont>
    <p:embeddedFont>
      <p:font typeface="Roboto" panose="02000000000000000000" pitchFamily="2" charset="0"/>
      <p:regular r:id="rId139"/>
      <p:bold r:id="rId140"/>
      <p:italic r:id="rId141"/>
      <p:boldItalic r:id="rId142"/>
    </p:embeddedFont>
    <p:embeddedFont>
      <p:font typeface="Tahoma" panose="020B0604030504040204" pitchFamily="34" charset="0"/>
      <p:regular r:id="rId143"/>
      <p:bold r:id="rId1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B4984F8-A8F8-455D-BC84-363041B57BD0}">
  <a:tblStyle styleId="{7B4984F8-A8F8-455D-BC84-363041B57BD0}"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20.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font" Target="fonts/font10.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134" Type="http://schemas.openxmlformats.org/officeDocument/2006/relationships/font" Target="fonts/font16.fntdata"/><Relationship Id="rId139" Type="http://schemas.openxmlformats.org/officeDocument/2006/relationships/font" Target="fonts/font21.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6.fntdata"/><Relationship Id="rId129" Type="http://schemas.openxmlformats.org/officeDocument/2006/relationships/font" Target="fonts/font11.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22.fntdata"/><Relationship Id="rId14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font" Target="fonts/font1.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12.fntdata"/><Relationship Id="rId135" Type="http://schemas.openxmlformats.org/officeDocument/2006/relationships/font" Target="fonts/font17.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2.fntdata"/><Relationship Id="rId125" Type="http://schemas.openxmlformats.org/officeDocument/2006/relationships/font" Target="fonts/font7.fntdata"/><Relationship Id="rId141" Type="http://schemas.openxmlformats.org/officeDocument/2006/relationships/font" Target="fonts/font23.fntdata"/><Relationship Id="rId14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13.fntdata"/><Relationship Id="rId136" Type="http://schemas.openxmlformats.org/officeDocument/2006/relationships/font" Target="fonts/font18.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8.fntdata"/><Relationship Id="rId14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3.fntdata"/><Relationship Id="rId142" Type="http://schemas.openxmlformats.org/officeDocument/2006/relationships/font" Target="fonts/font24.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19.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14.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4.fntdata"/><Relationship Id="rId143" Type="http://schemas.openxmlformats.org/officeDocument/2006/relationships/font" Target="fonts/font25.fntdata"/><Relationship Id="rId14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15.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5.fntdata"/><Relationship Id="rId144" Type="http://schemas.openxmlformats.org/officeDocument/2006/relationships/font" Target="fonts/font2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 name="Google Shape;325;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5" name="Google Shape;425;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6" name="Google Shape;446;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5" name="Google Shape;465;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9" name="Google Shape;479;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7" name="Google Shape;487;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9" name="Google Shape;509;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7" name="Google Shape;517;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4" name="Google Shape;524;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1" name="Google Shape;531;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7" name="Google Shape;537;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3" name="Google Shape;563;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8" name="Google Shape;568;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3" name="Google Shape;573;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0" name="Google Shape;580;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7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6" name="Google Shape;586;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7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3" name="Google Shape;593;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7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0" name="Google Shape;600;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7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7" name="Google Shape;607;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4" name="Google Shape;614;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7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0" name="Google Shape;620;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7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5" name="Google Shape;625;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8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1" name="Google Shape;631;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p8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7" name="Google Shape;637;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8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3" name="Google Shape;643;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2" name="Google Shape;652;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8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9" name="Google Shape;659;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8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4" name="Google Shape;664;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8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0" name="Google Shape;670;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Propagation delay is time elapsed between the submission of an input and occurrence of the corresponding output.</a:t>
            </a:r>
            <a:endParaRPr/>
          </a:p>
        </p:txBody>
      </p:sp>
      <p:sp>
        <p:nvSpPr>
          <p:cNvPr id="678" name="Google Shape;678;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87</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8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5" name="Google Shape;685;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8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2" name="Google Shape;692;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9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9" name="Google Shape;699;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9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6" name="Google Shape;706;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9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2" name="Google Shape;712;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9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8" name="Google Shape;718;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p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24" name="Google Shape;724;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p9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30" name="Google Shape;730;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p9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37" name="Google Shape;737;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45" name="Google Shape;745;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p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51" name="Google Shape;751;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p9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57" name="Google Shape;757;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10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65" name="Google Shape;765;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10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71" name="Google Shape;771;p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p10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78" name="Google Shape;778;p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p10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84" name="Google Shape;784;p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10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90" name="Google Shape;790;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10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97" name="Google Shape;797;p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10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4" name="Google Shape;804;p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10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0" name="Google Shape;810;p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p10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7" name="Google Shape;817;p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p10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4" name="Google Shape;824;p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1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4" name="Google Shape;834;p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p1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1" name="Google Shape;841;p1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p1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9" name="Google Shape;849;p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p1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6" name="Google Shape;856;p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p1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5" name="Google Shape;865;p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1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2" name="Google Shape;872;p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p1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0" name="Google Shape;880;p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6" name="Google Shape;3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0"/>
          <p:cNvSpPr>
            <a:spLocks noGrp="1"/>
          </p:cNvSpPr>
          <p:nvPr>
            <p:ph type="pic" idx="2"/>
          </p:nvPr>
        </p:nvSpPr>
        <p:spPr>
          <a:xfrm>
            <a:off x="5183188" y="987425"/>
            <a:ext cx="6172200" cy="4873625"/>
          </a:xfrm>
          <a:prstGeom prst="rect">
            <a:avLst/>
          </a:prstGeom>
          <a:noFill/>
          <a:ln>
            <a:noFill/>
          </a:ln>
        </p:spPr>
      </p:sp>
      <p:sp>
        <p:nvSpPr>
          <p:cNvPr id="69" name="Google Shape;69;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1"/>
          <p:cNvSpPr/>
          <p:nvPr/>
        </p:nvSpPr>
        <p:spPr>
          <a:xfrm>
            <a:off x="10504715" y="230188"/>
            <a:ext cx="1231640" cy="690465"/>
          </a:xfrm>
          <a:prstGeom prst="rect">
            <a:avLst/>
          </a:prstGeom>
          <a:blipFill rotWithShape="1">
            <a:blip r:embed="rId1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watelectronics.com/major-electrical-electronic-components/"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7.png"/></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5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6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62.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6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6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82.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8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84.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89.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90.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10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10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05.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106.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notesSlide" Target="../notesSlides/notesSlide109.xml"/><Relationship Id="rId1" Type="http://schemas.openxmlformats.org/officeDocument/2006/relationships/slideLayout" Target="../slideLayouts/slideLayout2.xml"/><Relationship Id="rId5" Type="http://schemas.openxmlformats.org/officeDocument/2006/relationships/image" Target="../media/image88.jpg"/><Relationship Id="rId4" Type="http://schemas.openxmlformats.org/officeDocument/2006/relationships/image" Target="../media/image87.jpg"/></Relationships>
</file>

<file path=ppt/slides/_rels/slide110.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89.jp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txBox="1"/>
          <p:nvPr/>
        </p:nvSpPr>
        <p:spPr>
          <a:xfrm>
            <a:off x="623392" y="908720"/>
            <a:ext cx="11089232" cy="5472608"/>
          </a:xfrm>
          <a:prstGeom prst="rect">
            <a:avLst/>
          </a:prstGeom>
          <a:noFill/>
          <a:ln w="2857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0" name="Google Shape;90;p13"/>
          <p:cNvSpPr txBox="1">
            <a:spLocks noGrp="1"/>
          </p:cNvSpPr>
          <p:nvPr>
            <p:ph type="ctrTitle"/>
          </p:nvPr>
        </p:nvSpPr>
        <p:spPr>
          <a:xfrm>
            <a:off x="1596008" y="2564904"/>
            <a:ext cx="9144000" cy="288032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00000"/>
              <a:buFont typeface="Palatino Linotype"/>
              <a:buNone/>
            </a:pPr>
            <a:br>
              <a:rPr lang="en-US" sz="4800" b="1" i="0" u="none" strike="noStrike" cap="none">
                <a:solidFill>
                  <a:schemeClr val="dk1"/>
                </a:solidFill>
                <a:latin typeface="Palatino Linotype"/>
                <a:ea typeface="Palatino Linotype"/>
                <a:cs typeface="Palatino Linotype"/>
                <a:sym typeface="Palatino Linotype"/>
              </a:rPr>
            </a:br>
            <a:br>
              <a:rPr lang="en-US" sz="4800" b="1" i="0" u="none" strike="noStrike" cap="none">
                <a:solidFill>
                  <a:schemeClr val="dk1"/>
                </a:solidFill>
                <a:latin typeface="Palatino Linotype"/>
                <a:ea typeface="Palatino Linotype"/>
                <a:cs typeface="Palatino Linotype"/>
                <a:sym typeface="Palatino Linotype"/>
              </a:rPr>
            </a:br>
            <a:br>
              <a:rPr lang="en-US" sz="4800" b="1" i="0" u="none" strike="noStrike" cap="none">
                <a:solidFill>
                  <a:schemeClr val="dk1"/>
                </a:solidFill>
                <a:latin typeface="Palatino Linotype"/>
                <a:ea typeface="Palatino Linotype"/>
                <a:cs typeface="Palatino Linotype"/>
                <a:sym typeface="Palatino Linotype"/>
              </a:rPr>
            </a:br>
            <a:br>
              <a:rPr lang="en-US" sz="4800" b="1" i="0" u="none" strike="noStrike" cap="none">
                <a:solidFill>
                  <a:schemeClr val="dk1"/>
                </a:solidFill>
                <a:latin typeface="Palatino Linotype"/>
                <a:ea typeface="Palatino Linotype"/>
                <a:cs typeface="Palatino Linotype"/>
                <a:sym typeface="Palatino Linotype"/>
              </a:rPr>
            </a:br>
            <a:br>
              <a:rPr lang="en-US" sz="4800" b="1" i="0" u="none" strike="noStrike" cap="none">
                <a:solidFill>
                  <a:schemeClr val="dk1"/>
                </a:solidFill>
                <a:latin typeface="Palatino Linotype"/>
                <a:ea typeface="Palatino Linotype"/>
                <a:cs typeface="Palatino Linotype"/>
                <a:sym typeface="Palatino Linotype"/>
              </a:rPr>
            </a:br>
            <a:r>
              <a:rPr lang="en-US" sz="4800" b="1" i="0" u="none" strike="noStrike" cap="none">
                <a:solidFill>
                  <a:schemeClr val="dk1"/>
                </a:solidFill>
                <a:latin typeface="Palatino Linotype"/>
                <a:ea typeface="Palatino Linotype"/>
                <a:cs typeface="Palatino Linotype"/>
                <a:sym typeface="Palatino Linotype"/>
              </a:rPr>
              <a:t>21CSS201T</a:t>
            </a:r>
            <a:br>
              <a:rPr lang="en-US" sz="4800" b="1" i="0" u="none" strike="noStrike" cap="none">
                <a:solidFill>
                  <a:schemeClr val="dk1"/>
                </a:solidFill>
                <a:latin typeface="Palatino Linotype"/>
                <a:ea typeface="Palatino Linotype"/>
                <a:cs typeface="Palatino Linotype"/>
                <a:sym typeface="Palatino Linotype"/>
              </a:rPr>
            </a:br>
            <a:r>
              <a:rPr lang="en-US" sz="4800" b="1" i="0" u="none" strike="noStrike" cap="none">
                <a:solidFill>
                  <a:schemeClr val="dk1"/>
                </a:solidFill>
                <a:latin typeface="Palatino Linotype"/>
                <a:ea typeface="Palatino Linotype"/>
                <a:cs typeface="Palatino Linotype"/>
                <a:sym typeface="Palatino Linotype"/>
              </a:rPr>
              <a:t>COMPUTER ORGANIZATION AND ARCHITECTURE</a:t>
            </a:r>
            <a:br>
              <a:rPr lang="en-US" sz="4800" b="1" i="0" u="none" strike="noStrike" cap="none">
                <a:solidFill>
                  <a:schemeClr val="dk1"/>
                </a:solidFill>
                <a:latin typeface="Palatino Linotype"/>
                <a:ea typeface="Palatino Linotype"/>
                <a:cs typeface="Palatino Linotype"/>
                <a:sym typeface="Palatino Linotype"/>
              </a:rPr>
            </a:br>
            <a:br>
              <a:rPr lang="en-US" sz="4800" b="1" i="0" u="none" strike="noStrike" cap="none">
                <a:solidFill>
                  <a:schemeClr val="dk1"/>
                </a:solidFill>
                <a:latin typeface="Palatino Linotype"/>
                <a:ea typeface="Palatino Linotype"/>
                <a:cs typeface="Palatino Linotype"/>
                <a:sym typeface="Palatino Linotype"/>
              </a:rPr>
            </a:br>
            <a:r>
              <a:rPr lang="en-US" sz="4800" b="1" i="0" u="none" strike="noStrike" cap="none">
                <a:solidFill>
                  <a:schemeClr val="dk1"/>
                </a:solidFill>
                <a:latin typeface="Palatino Linotype"/>
                <a:ea typeface="Palatino Linotype"/>
                <a:cs typeface="Palatino Linotype"/>
                <a:sym typeface="Palatino Linotype"/>
              </a:rPr>
              <a:t>UNIT-3</a:t>
            </a:r>
            <a:br>
              <a:rPr lang="en-US" sz="4800" b="1" i="0" u="none" strike="noStrike" cap="none">
                <a:solidFill>
                  <a:schemeClr val="dk1"/>
                </a:solidFill>
                <a:latin typeface="Palatino Linotype"/>
                <a:ea typeface="Palatino Linotype"/>
                <a:cs typeface="Palatino Linotype"/>
                <a:sym typeface="Palatino Linotype"/>
              </a:rPr>
            </a:br>
            <a:r>
              <a:rPr lang="en-US" sz="4800" b="1" i="0" u="none" strike="noStrike" cap="none">
                <a:solidFill>
                  <a:schemeClr val="dk1"/>
                </a:solidFill>
                <a:latin typeface="Palatino Linotype"/>
                <a:ea typeface="Palatino Linotype"/>
                <a:cs typeface="Palatino Linotype"/>
                <a:sym typeface="Palatino Linotype"/>
              </a:rPr>
              <a:t>Design of ALU and De Morgan’s Law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txBox="1">
            <a:spLocks noGrp="1"/>
          </p:cNvSpPr>
          <p:nvPr>
            <p:ph type="title"/>
          </p:nvPr>
        </p:nvSpPr>
        <p:spPr>
          <a:xfrm>
            <a:off x="838200" y="305661"/>
            <a:ext cx="10515600" cy="63973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Palatino Linotype"/>
              <a:buNone/>
            </a:pPr>
            <a:r>
              <a:rPr lang="en-US" sz="4000" b="1" i="0" u="none" strike="noStrike" cap="none">
                <a:solidFill>
                  <a:schemeClr val="dk1"/>
                </a:solidFill>
                <a:latin typeface="Palatino Linotype"/>
                <a:ea typeface="Palatino Linotype"/>
                <a:cs typeface="Palatino Linotype"/>
                <a:sym typeface="Palatino Linotype"/>
              </a:rPr>
              <a:t>                </a:t>
            </a:r>
            <a:r>
              <a:rPr lang="en-US" sz="4000" b="0" i="0" u="none" strike="noStrike" cap="none">
                <a:solidFill>
                  <a:srgbClr val="C00000"/>
                </a:solidFill>
                <a:latin typeface="Palatino Linotype"/>
                <a:ea typeface="Palatino Linotype"/>
                <a:cs typeface="Palatino Linotype"/>
                <a:sym typeface="Palatino Linotype"/>
              </a:rPr>
              <a:t>Arithmetic Logic Unit</a:t>
            </a:r>
            <a:endParaRPr/>
          </a:p>
        </p:txBody>
      </p:sp>
      <p:sp>
        <p:nvSpPr>
          <p:cNvPr id="96" name="Google Shape;96;p14"/>
          <p:cNvSpPr txBox="1">
            <a:spLocks noGrp="1"/>
          </p:cNvSpPr>
          <p:nvPr>
            <p:ph type="body" idx="1"/>
          </p:nvPr>
        </p:nvSpPr>
        <p:spPr>
          <a:xfrm>
            <a:off x="838200" y="1133934"/>
            <a:ext cx="10515600" cy="5231565"/>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marL="228600" marR="0" lvl="0" indent="-76200" algn="just"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Palatino Linotype"/>
              <a:ea typeface="Palatino Linotype"/>
              <a:cs typeface="Palatino Linotype"/>
              <a:sym typeface="Palatino Linotype"/>
            </a:endParaRPr>
          </a:p>
          <a:p>
            <a:pPr marL="685800" marR="0" lvl="1" indent="-228600" algn="just" rtl="0">
              <a:lnSpc>
                <a:spcPct val="100000"/>
              </a:lnSpc>
              <a:spcBef>
                <a:spcPts val="500"/>
              </a:spcBef>
              <a:spcAft>
                <a:spcPts val="0"/>
              </a:spcAft>
              <a:buClr>
                <a:schemeClr val="dk1"/>
              </a:buClr>
              <a:buSzPts val="2000"/>
              <a:buFont typeface="Arial"/>
              <a:buChar char="•"/>
            </a:pPr>
            <a:r>
              <a:rPr lang="en-US" sz="2000" b="0" i="0" u="none" strike="noStrike" cap="none">
                <a:solidFill>
                  <a:schemeClr val="dk1"/>
                </a:solidFill>
                <a:latin typeface="Palatino Linotype"/>
                <a:ea typeface="Palatino Linotype"/>
                <a:cs typeface="Palatino Linotype"/>
                <a:sym typeface="Palatino Linotype"/>
              </a:rPr>
              <a:t>ALU is the heart of any Central Processing Unit.</a:t>
            </a:r>
            <a:endParaRPr/>
          </a:p>
          <a:p>
            <a:pPr marL="685800" marR="0" lvl="1" indent="-228600" algn="just" rtl="0">
              <a:lnSpc>
                <a:spcPct val="100000"/>
              </a:lnSpc>
              <a:spcBef>
                <a:spcPts val="500"/>
              </a:spcBef>
              <a:spcAft>
                <a:spcPts val="0"/>
              </a:spcAft>
              <a:buClr>
                <a:schemeClr val="dk1"/>
              </a:buClr>
              <a:buSzPts val="2000"/>
              <a:buFont typeface="Arial"/>
              <a:buChar char="•"/>
            </a:pPr>
            <a:r>
              <a:rPr lang="en-US" sz="2000" b="0" i="0" u="none" strike="noStrike" cap="none">
                <a:solidFill>
                  <a:schemeClr val="dk1"/>
                </a:solidFill>
                <a:latin typeface="Palatino Linotype"/>
                <a:ea typeface="Palatino Linotype"/>
                <a:cs typeface="Palatino Linotype"/>
                <a:sym typeface="Palatino Linotype"/>
              </a:rPr>
              <a:t>A simple ALU is constructed with Combinational circuits.</a:t>
            </a:r>
            <a:endParaRPr/>
          </a:p>
          <a:p>
            <a:pPr marL="685800" marR="0" lvl="1" indent="-228600" algn="just" rtl="0">
              <a:lnSpc>
                <a:spcPct val="100000"/>
              </a:lnSpc>
              <a:spcBef>
                <a:spcPts val="500"/>
              </a:spcBef>
              <a:spcAft>
                <a:spcPts val="0"/>
              </a:spcAft>
              <a:buClr>
                <a:schemeClr val="dk1"/>
              </a:buClr>
              <a:buSzPts val="2000"/>
              <a:buFont typeface="Arial"/>
              <a:buChar char="•"/>
            </a:pPr>
            <a:r>
              <a:rPr lang="en-US" sz="2000" b="0" i="0" u="none" strike="noStrike" cap="none">
                <a:solidFill>
                  <a:schemeClr val="dk1"/>
                </a:solidFill>
                <a:latin typeface="Palatino Linotype"/>
                <a:ea typeface="Palatino Linotype"/>
                <a:cs typeface="Palatino Linotype"/>
                <a:sym typeface="Palatino Linotype"/>
              </a:rPr>
              <a:t>It is a digital circuit to do  arithmetic operations  like  addition, subtraction, multiplication and division.</a:t>
            </a:r>
            <a:endParaRPr/>
          </a:p>
          <a:p>
            <a:pPr marL="685800" marR="0" lvl="1" indent="-228600" algn="just" rtl="0">
              <a:lnSpc>
                <a:spcPct val="100000"/>
              </a:lnSpc>
              <a:spcBef>
                <a:spcPts val="500"/>
              </a:spcBef>
              <a:spcAft>
                <a:spcPts val="0"/>
              </a:spcAft>
              <a:buClr>
                <a:schemeClr val="dk1"/>
              </a:buClr>
              <a:buSzPts val="2000"/>
              <a:buFont typeface="Arial"/>
              <a:buChar char="•"/>
            </a:pPr>
            <a:r>
              <a:rPr lang="en-US" sz="2000" b="0" i="0" u="none" strike="noStrike" cap="none">
                <a:solidFill>
                  <a:schemeClr val="dk1"/>
                </a:solidFill>
                <a:latin typeface="Palatino Linotype"/>
                <a:ea typeface="Palatino Linotype"/>
                <a:cs typeface="Palatino Linotype"/>
                <a:sym typeface="Palatino Linotype"/>
              </a:rPr>
              <a:t>Logical operations such as OR, AND, NOR  etc.</a:t>
            </a:r>
            <a:endParaRPr/>
          </a:p>
          <a:p>
            <a:pPr marL="685800" marR="0" lvl="1" indent="-228600" algn="just" rtl="0">
              <a:lnSpc>
                <a:spcPct val="100000"/>
              </a:lnSpc>
              <a:spcBef>
                <a:spcPts val="500"/>
              </a:spcBef>
              <a:spcAft>
                <a:spcPts val="0"/>
              </a:spcAft>
              <a:buClr>
                <a:schemeClr val="dk1"/>
              </a:buClr>
              <a:buSzPts val="2000"/>
              <a:buFont typeface="Arial"/>
              <a:buChar char="•"/>
            </a:pPr>
            <a:r>
              <a:rPr lang="en-US" sz="2000" b="0" i="0" u="none" strike="noStrike" cap="none">
                <a:solidFill>
                  <a:schemeClr val="dk1"/>
                </a:solidFill>
                <a:latin typeface="Palatino Linotype"/>
                <a:ea typeface="Palatino Linotype"/>
                <a:cs typeface="Palatino Linotype"/>
                <a:sym typeface="Palatino Linotype"/>
              </a:rPr>
              <a:t>Data movement operations such as LOAD  and STORE.</a:t>
            </a:r>
            <a:endParaRPr/>
          </a:p>
          <a:p>
            <a:pPr marL="685800" marR="0" lvl="1" indent="-228600" algn="just" rtl="0">
              <a:lnSpc>
                <a:spcPct val="100000"/>
              </a:lnSpc>
              <a:spcBef>
                <a:spcPts val="500"/>
              </a:spcBef>
              <a:spcAft>
                <a:spcPts val="0"/>
              </a:spcAft>
              <a:buClr>
                <a:schemeClr val="dk1"/>
              </a:buClr>
              <a:buSzPts val="2000"/>
              <a:buFont typeface="Arial"/>
              <a:buChar char="•"/>
            </a:pPr>
            <a:r>
              <a:rPr lang="en-US" sz="2000" b="0" i="0" u="none" strike="noStrike" cap="none">
                <a:solidFill>
                  <a:schemeClr val="dk1"/>
                </a:solidFill>
                <a:latin typeface="Palatino Linotype"/>
                <a:ea typeface="Palatino Linotype"/>
                <a:cs typeface="Palatino Linotype"/>
                <a:sym typeface="Palatino Linotype"/>
              </a:rPr>
              <a:t>Complex ALUs are designed for executing Floating point, decimal operations and other complex numerical operations. These are called as Co-processor and work in tandem with the main processor.</a:t>
            </a:r>
            <a:endParaRPr/>
          </a:p>
          <a:p>
            <a:pPr marL="685800" marR="0" lvl="1" indent="-228600" algn="just" rtl="0">
              <a:lnSpc>
                <a:spcPct val="100000"/>
              </a:lnSpc>
              <a:spcBef>
                <a:spcPts val="500"/>
              </a:spcBef>
              <a:spcAft>
                <a:spcPts val="0"/>
              </a:spcAft>
              <a:buClr>
                <a:schemeClr val="dk1"/>
              </a:buClr>
              <a:buSzPts val="2000"/>
              <a:buFont typeface="Arial"/>
              <a:buChar char="•"/>
            </a:pPr>
            <a:r>
              <a:rPr lang="en-US" sz="2000" b="0" i="0" u="none" strike="noStrike" cap="none">
                <a:solidFill>
                  <a:schemeClr val="dk1"/>
                </a:solidFill>
                <a:latin typeface="Palatino Linotype"/>
                <a:ea typeface="Palatino Linotype"/>
                <a:cs typeface="Palatino Linotype"/>
                <a:sym typeface="Palatino Linotype"/>
              </a:rPr>
              <a:t>The design specifications of ALU are derived from the Instruction set Architecture.</a:t>
            </a:r>
            <a:endParaRPr/>
          </a:p>
          <a:p>
            <a:pPr marL="685800" marR="0" lvl="1" indent="-228600" algn="just" rtl="0">
              <a:lnSpc>
                <a:spcPct val="100000"/>
              </a:lnSpc>
              <a:spcBef>
                <a:spcPts val="500"/>
              </a:spcBef>
              <a:spcAft>
                <a:spcPts val="0"/>
              </a:spcAft>
              <a:buClr>
                <a:schemeClr val="dk1"/>
              </a:buClr>
              <a:buSzPts val="2000"/>
              <a:buFont typeface="Arial"/>
              <a:buChar char="•"/>
            </a:pPr>
            <a:r>
              <a:rPr lang="en-US" sz="2000" b="0" i="0" u="none" strike="noStrike" cap="none">
                <a:solidFill>
                  <a:schemeClr val="dk1"/>
                </a:solidFill>
                <a:latin typeface="Palatino Linotype"/>
                <a:ea typeface="Palatino Linotype"/>
                <a:cs typeface="Palatino Linotype"/>
                <a:sym typeface="Palatino Linotype"/>
              </a:rPr>
              <a:t>The ALU must have the capabilities to execute the instructions of ISA.</a:t>
            </a:r>
            <a:endParaRPr/>
          </a:p>
          <a:p>
            <a:pPr marL="685800" marR="0" lvl="1" indent="-228600" algn="just" rtl="0">
              <a:lnSpc>
                <a:spcPct val="100000"/>
              </a:lnSpc>
              <a:spcBef>
                <a:spcPts val="500"/>
              </a:spcBef>
              <a:spcAft>
                <a:spcPts val="0"/>
              </a:spcAft>
              <a:buClr>
                <a:schemeClr val="dk1"/>
              </a:buClr>
              <a:buSzPts val="2000"/>
              <a:buFont typeface="Arial"/>
              <a:buChar char="•"/>
            </a:pPr>
            <a:r>
              <a:rPr lang="en-US" sz="2000" b="0" i="0" u="none" strike="noStrike" cap="none">
                <a:solidFill>
                  <a:schemeClr val="dk1"/>
                </a:solidFill>
                <a:latin typeface="Palatino Linotype"/>
                <a:ea typeface="Palatino Linotype"/>
                <a:cs typeface="Palatino Linotype"/>
                <a:sym typeface="Palatino Linotype"/>
              </a:rPr>
              <a:t>Modern CPUs have multiple ALU to improve the efficiency.</a:t>
            </a:r>
            <a:endParaRPr/>
          </a:p>
          <a:p>
            <a:pPr marL="457200" marR="0" lvl="1" indent="0" algn="just" rtl="0">
              <a:lnSpc>
                <a:spcPct val="100000"/>
              </a:lnSpc>
              <a:spcBef>
                <a:spcPts val="500"/>
              </a:spcBef>
              <a:spcAft>
                <a:spcPts val="0"/>
              </a:spcAft>
              <a:buClr>
                <a:schemeClr val="dk1"/>
              </a:buClr>
              <a:buSzPts val="2000"/>
              <a:buFont typeface="Arial"/>
              <a:buNone/>
            </a:pPr>
            <a:r>
              <a:rPr lang="en-US" sz="2000" b="0" i="0" u="none" strike="noStrike" cap="none">
                <a:solidFill>
                  <a:schemeClr val="dk1"/>
                </a:solidFill>
                <a:latin typeface="Palatino Linotype"/>
                <a:ea typeface="Palatino Linotype"/>
                <a:cs typeface="Palatino Linotype"/>
                <a:sym typeface="Palatino Linotype"/>
              </a:rPr>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5"/>
          <p:cNvSpPr txBox="1">
            <a:spLocks noGrp="1"/>
          </p:cNvSpPr>
          <p:nvPr>
            <p:ph type="title"/>
          </p:nvPr>
        </p:nvSpPr>
        <p:spPr>
          <a:xfrm>
            <a:off x="838200" y="365125"/>
            <a:ext cx="10515600" cy="61560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C00000"/>
              </a:buClr>
              <a:buSzPct val="100000"/>
              <a:buFont typeface="Calibri"/>
              <a:buNone/>
            </a:pPr>
            <a:r>
              <a:rPr lang="en-US">
                <a:solidFill>
                  <a:srgbClr val="C00000"/>
                </a:solidFill>
              </a:rPr>
              <a:t>                               Arithmetic Logic Unit</a:t>
            </a:r>
            <a:endParaRPr>
              <a:solidFill>
                <a:srgbClr val="C00000"/>
              </a:solidFill>
            </a:endParaRPr>
          </a:p>
        </p:txBody>
      </p:sp>
      <p:sp>
        <p:nvSpPr>
          <p:cNvPr id="102" name="Google Shape;102;p15"/>
          <p:cNvSpPr txBox="1">
            <a:spLocks noGrp="1"/>
          </p:cNvSpPr>
          <p:nvPr>
            <p:ph type="body" idx="1"/>
          </p:nvPr>
        </p:nvSpPr>
        <p:spPr>
          <a:xfrm>
            <a:off x="838200" y="1628800"/>
            <a:ext cx="10515600" cy="4824536"/>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a:t>ALU includes the following Configurations :</a:t>
            </a:r>
            <a:endParaRPr/>
          </a:p>
          <a:p>
            <a:pPr marL="0" lvl="0" indent="0" algn="l" rtl="0">
              <a:lnSpc>
                <a:spcPct val="90000"/>
              </a:lnSpc>
              <a:spcBef>
                <a:spcPts val="1000"/>
              </a:spcBef>
              <a:spcAft>
                <a:spcPts val="0"/>
              </a:spcAft>
              <a:buClr>
                <a:schemeClr val="dk1"/>
              </a:buClr>
              <a:buSzPts val="2800"/>
              <a:buNone/>
            </a:pPr>
            <a:r>
              <a:rPr lang="en-US"/>
              <a:t>            -  Instruction Set Architecture</a:t>
            </a:r>
            <a:endParaRPr/>
          </a:p>
          <a:p>
            <a:pPr marL="0" lvl="0" indent="0" algn="l" rtl="0">
              <a:lnSpc>
                <a:spcPct val="90000"/>
              </a:lnSpc>
              <a:spcBef>
                <a:spcPts val="1000"/>
              </a:spcBef>
              <a:spcAft>
                <a:spcPts val="0"/>
              </a:spcAft>
              <a:buClr>
                <a:schemeClr val="dk1"/>
              </a:buClr>
              <a:buSzPts val="2800"/>
              <a:buNone/>
            </a:pPr>
            <a:r>
              <a:rPr lang="en-US"/>
              <a:t>            -  Accumulator</a:t>
            </a:r>
            <a:endParaRPr/>
          </a:p>
          <a:p>
            <a:pPr marL="0" lvl="0" indent="0" algn="l" rtl="0">
              <a:lnSpc>
                <a:spcPct val="90000"/>
              </a:lnSpc>
              <a:spcBef>
                <a:spcPts val="1000"/>
              </a:spcBef>
              <a:spcAft>
                <a:spcPts val="0"/>
              </a:spcAft>
              <a:buClr>
                <a:schemeClr val="dk1"/>
              </a:buClr>
              <a:buSzPts val="2800"/>
              <a:buNone/>
            </a:pPr>
            <a:r>
              <a:rPr lang="en-US"/>
              <a:t>            -  Stack</a:t>
            </a:r>
            <a:endParaRPr/>
          </a:p>
          <a:p>
            <a:pPr marL="0" lvl="0" indent="0" algn="l" rtl="0">
              <a:lnSpc>
                <a:spcPct val="90000"/>
              </a:lnSpc>
              <a:spcBef>
                <a:spcPts val="1000"/>
              </a:spcBef>
              <a:spcAft>
                <a:spcPts val="0"/>
              </a:spcAft>
              <a:buClr>
                <a:schemeClr val="dk1"/>
              </a:buClr>
              <a:buSzPts val="2800"/>
              <a:buNone/>
            </a:pPr>
            <a:r>
              <a:rPr lang="en-US"/>
              <a:t>            -  Register – Register architecture</a:t>
            </a:r>
            <a:endParaRPr/>
          </a:p>
          <a:p>
            <a:pPr marL="0" lvl="0" indent="0" algn="l" rtl="0">
              <a:lnSpc>
                <a:spcPct val="90000"/>
              </a:lnSpc>
              <a:spcBef>
                <a:spcPts val="1000"/>
              </a:spcBef>
              <a:spcAft>
                <a:spcPts val="0"/>
              </a:spcAft>
              <a:buClr>
                <a:schemeClr val="dk1"/>
              </a:buClr>
              <a:buSzPts val="2800"/>
              <a:buNone/>
            </a:pPr>
            <a:r>
              <a:rPr lang="en-US"/>
              <a:t>            -  Register – Stack architecture</a:t>
            </a:r>
            <a:endParaRPr/>
          </a:p>
          <a:p>
            <a:pPr marL="0" lvl="0" indent="0" algn="l" rtl="0">
              <a:lnSpc>
                <a:spcPct val="90000"/>
              </a:lnSpc>
              <a:spcBef>
                <a:spcPts val="1000"/>
              </a:spcBef>
              <a:spcAft>
                <a:spcPts val="0"/>
              </a:spcAft>
              <a:buClr>
                <a:schemeClr val="dk1"/>
              </a:buClr>
              <a:buSzPts val="2800"/>
              <a:buNone/>
            </a:pPr>
            <a:r>
              <a:rPr lang="en-US"/>
              <a:t>            -  Register – memory architecture</a:t>
            </a:r>
            <a:endParaRPr/>
          </a:p>
          <a:p>
            <a:pPr marL="228600" lvl="0" indent="-228600" algn="l" rtl="0">
              <a:lnSpc>
                <a:spcPct val="90000"/>
              </a:lnSpc>
              <a:spcBef>
                <a:spcPts val="1000"/>
              </a:spcBef>
              <a:spcAft>
                <a:spcPts val="0"/>
              </a:spcAft>
              <a:buClr>
                <a:schemeClr val="dk1"/>
              </a:buClr>
              <a:buSzPts val="2800"/>
              <a:buChar char="•"/>
            </a:pPr>
            <a:r>
              <a:rPr lang="en-US"/>
              <a:t> The size of input quantities of ALU is referred as word length of a computer</a:t>
            </a:r>
            <a:endParaRPr/>
          </a:p>
          <a:p>
            <a:pPr marL="0" lvl="0" indent="0" algn="l" rtl="0">
              <a:lnSpc>
                <a:spcPct val="90000"/>
              </a:lnSpc>
              <a:spcBef>
                <a:spcPts val="1000"/>
              </a:spcBef>
              <a:spcAft>
                <a:spcPts val="0"/>
              </a:spcAft>
              <a:buClr>
                <a:schemeClr val="dk1"/>
              </a:buClr>
              <a:buSzPts val="2800"/>
              <a:buNone/>
            </a:pPr>
            <a:r>
              <a:rPr lang="en-US"/>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                                 ALU Symbol</a:t>
            </a:r>
            <a:endParaRPr>
              <a:solidFill>
                <a:srgbClr val="C00000"/>
              </a:solidFill>
            </a:endParaRPr>
          </a:p>
        </p:txBody>
      </p:sp>
      <p:pic>
        <p:nvPicPr>
          <p:cNvPr id="108" name="Google Shape;108;p16" descr="ALU Symbol"/>
          <p:cNvPicPr preferRelativeResize="0">
            <a:picLocks noGrp="1"/>
          </p:cNvPicPr>
          <p:nvPr>
            <p:ph type="body" idx="1"/>
          </p:nvPr>
        </p:nvPicPr>
        <p:blipFill rotWithShape="1">
          <a:blip r:embed="rId3">
            <a:alphaModFix/>
          </a:blip>
          <a:srcRect/>
          <a:stretch/>
        </p:blipFill>
        <p:spPr>
          <a:xfrm>
            <a:off x="3648381" y="2220341"/>
            <a:ext cx="4895238" cy="356190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7"/>
          <p:cNvSpPr txBox="1">
            <a:spLocks noGrp="1"/>
          </p:cNvSpPr>
          <p:nvPr>
            <p:ph type="title"/>
          </p:nvPr>
        </p:nvSpPr>
        <p:spPr>
          <a:xfrm>
            <a:off x="838200" y="1"/>
            <a:ext cx="10515600" cy="12687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                                 ADDERS</a:t>
            </a:r>
            <a:endParaRPr>
              <a:solidFill>
                <a:srgbClr val="C00000"/>
              </a:solidFill>
            </a:endParaRPr>
          </a:p>
        </p:txBody>
      </p:sp>
      <p:sp>
        <p:nvSpPr>
          <p:cNvPr id="114" name="Google Shape;114;p17"/>
          <p:cNvSpPr txBox="1">
            <a:spLocks noGrp="1"/>
          </p:cNvSpPr>
          <p:nvPr>
            <p:ph type="body" idx="1"/>
          </p:nvPr>
        </p:nvSpPr>
        <p:spPr>
          <a:xfrm>
            <a:off x="838200" y="1052736"/>
            <a:ext cx="10515600" cy="5544616"/>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a:t>The basic building blocks of an ALU in digital computers are Adders.</a:t>
            </a:r>
            <a:endParaRPr/>
          </a:p>
          <a:p>
            <a:pPr marL="228600" lvl="0" indent="-228600" algn="l" rtl="0">
              <a:lnSpc>
                <a:spcPct val="90000"/>
              </a:lnSpc>
              <a:spcBef>
                <a:spcPts val="1000"/>
              </a:spcBef>
              <a:spcAft>
                <a:spcPts val="0"/>
              </a:spcAft>
              <a:buClr>
                <a:schemeClr val="dk1"/>
              </a:buClr>
              <a:buSzPts val="2800"/>
              <a:buChar char="•"/>
            </a:pPr>
            <a:r>
              <a:rPr lang="en-US"/>
              <a:t>Types of  Basic Adders are</a:t>
            </a:r>
            <a:endParaRPr/>
          </a:p>
          <a:p>
            <a:pPr marL="0" lvl="0" indent="0" algn="l" rtl="0">
              <a:lnSpc>
                <a:spcPct val="90000"/>
              </a:lnSpc>
              <a:spcBef>
                <a:spcPts val="1000"/>
              </a:spcBef>
              <a:spcAft>
                <a:spcPts val="0"/>
              </a:spcAft>
              <a:buClr>
                <a:schemeClr val="dk1"/>
              </a:buClr>
              <a:buSzPts val="2800"/>
              <a:buNone/>
            </a:pPr>
            <a:r>
              <a:rPr lang="en-US"/>
              <a:t>                  - Half Adder</a:t>
            </a:r>
            <a:endParaRPr/>
          </a:p>
          <a:p>
            <a:pPr marL="0" lvl="0" indent="0" algn="l" rtl="0">
              <a:lnSpc>
                <a:spcPct val="90000"/>
              </a:lnSpc>
              <a:spcBef>
                <a:spcPts val="1000"/>
              </a:spcBef>
              <a:spcAft>
                <a:spcPts val="0"/>
              </a:spcAft>
              <a:buClr>
                <a:schemeClr val="dk1"/>
              </a:buClr>
              <a:buSzPts val="2800"/>
              <a:buNone/>
            </a:pPr>
            <a:r>
              <a:rPr lang="en-US"/>
              <a:t>                  - Full Adder</a:t>
            </a:r>
            <a:endParaRPr/>
          </a:p>
          <a:p>
            <a:pPr marL="228600" lvl="0" indent="-228600" algn="l" rtl="0">
              <a:lnSpc>
                <a:spcPct val="90000"/>
              </a:lnSpc>
              <a:spcBef>
                <a:spcPts val="1000"/>
              </a:spcBef>
              <a:spcAft>
                <a:spcPts val="0"/>
              </a:spcAft>
              <a:buClr>
                <a:schemeClr val="dk1"/>
              </a:buClr>
              <a:buSzPts val="2800"/>
              <a:buChar char="•"/>
            </a:pPr>
            <a:r>
              <a:rPr lang="en-US"/>
              <a:t>Parallel adders are nothing but cascade of full adders. The number of full adders used will depend on the number of bits in the binary digit which require to be added.</a:t>
            </a:r>
            <a:endParaRPr/>
          </a:p>
          <a:p>
            <a:pPr marL="228600" lvl="0" indent="-228600" algn="l" rtl="0">
              <a:lnSpc>
                <a:spcPct val="90000"/>
              </a:lnSpc>
              <a:spcBef>
                <a:spcPts val="1000"/>
              </a:spcBef>
              <a:spcAft>
                <a:spcPts val="0"/>
              </a:spcAft>
              <a:buClr>
                <a:schemeClr val="dk1"/>
              </a:buClr>
              <a:buSzPts val="2800"/>
              <a:buChar char="•"/>
            </a:pPr>
            <a:r>
              <a:rPr lang="en-US"/>
              <a:t>Ripple carry adders are used when the input sequence is large. It is used to add  two n-bit binary numbers.</a:t>
            </a:r>
            <a:endParaRPr/>
          </a:p>
          <a:p>
            <a:pPr marL="228600" lvl="0" indent="-228600" algn="l" rtl="0">
              <a:lnSpc>
                <a:spcPct val="90000"/>
              </a:lnSpc>
              <a:spcBef>
                <a:spcPts val="1000"/>
              </a:spcBef>
              <a:spcAft>
                <a:spcPts val="0"/>
              </a:spcAft>
              <a:buClr>
                <a:schemeClr val="dk1"/>
              </a:buClr>
              <a:buSzPts val="2800"/>
              <a:buChar char="•"/>
            </a:pPr>
            <a:r>
              <a:rPr lang="en-US"/>
              <a:t>Carry look ahead adder is an improved version of Ripple carry adder.</a:t>
            </a:r>
            <a:endParaRPr/>
          </a:p>
          <a:p>
            <a:pPr marL="0" lvl="0" indent="0" algn="l" rtl="0">
              <a:lnSpc>
                <a:spcPct val="90000"/>
              </a:lnSpc>
              <a:spcBef>
                <a:spcPts val="1000"/>
              </a:spcBef>
              <a:spcAft>
                <a:spcPts val="0"/>
              </a:spcAft>
              <a:buClr>
                <a:schemeClr val="dk1"/>
              </a:buClr>
              <a:buSzPts val="2800"/>
              <a:buNone/>
            </a:pPr>
            <a:r>
              <a:rPr lang="en-US"/>
              <a:t>   </a:t>
            </a:r>
            <a:r>
              <a:rPr lang="en-US" b="0" i="0">
                <a:solidFill>
                  <a:srgbClr val="303030"/>
                </a:solidFill>
                <a:latin typeface="Arimo"/>
                <a:ea typeface="Arimo"/>
                <a:cs typeface="Arimo"/>
                <a:sym typeface="Arimo"/>
              </a:rPr>
              <a:t>It generates the carry-in of each full adder simultaneously without          causing any delay.</a:t>
            </a:r>
            <a:endParaRPr/>
          </a:p>
          <a:p>
            <a:pPr marL="0" lvl="0" indent="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8"/>
          <p:cNvSpPr txBox="1">
            <a:spLocks noGrp="1"/>
          </p:cNvSpPr>
          <p:nvPr>
            <p:ph type="title"/>
          </p:nvPr>
        </p:nvSpPr>
        <p:spPr>
          <a:xfrm>
            <a:off x="838200" y="260649"/>
            <a:ext cx="10515600" cy="7920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                                   Half  Adder</a:t>
            </a:r>
            <a:endParaRPr>
              <a:solidFill>
                <a:srgbClr val="C00000"/>
              </a:solidFill>
            </a:endParaRPr>
          </a:p>
        </p:txBody>
      </p:sp>
      <p:sp>
        <p:nvSpPr>
          <p:cNvPr id="120" name="Google Shape;120;p18"/>
          <p:cNvSpPr txBox="1">
            <a:spLocks noGrp="1"/>
          </p:cNvSpPr>
          <p:nvPr>
            <p:ph type="body" idx="1"/>
          </p:nvPr>
        </p:nvSpPr>
        <p:spPr>
          <a:xfrm>
            <a:off x="838200" y="1052737"/>
            <a:ext cx="10515600" cy="512422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sz="2800">
                <a:latin typeface="Times New Roman"/>
                <a:ea typeface="Times New Roman"/>
                <a:cs typeface="Times New Roman"/>
                <a:sym typeface="Times New Roman"/>
              </a:rPr>
              <a:t>Half adder is a combinational logic circuit with two input and two output. The half adder circuit is designed to add two single bit binary number A and B. It is the basic building block for addition of two single bit numbers. This circuit has two outputs, carry and sum.</a:t>
            </a:r>
            <a:endParaRPr/>
          </a:p>
          <a:p>
            <a:pPr marL="0" lvl="0" indent="0" algn="l" rtl="0">
              <a:lnSpc>
                <a:spcPct val="90000"/>
              </a:lnSpc>
              <a:spcBef>
                <a:spcPts val="1000"/>
              </a:spcBef>
              <a:spcAft>
                <a:spcPts val="0"/>
              </a:spcAft>
              <a:buClr>
                <a:schemeClr val="dk1"/>
              </a:buClr>
              <a:buSzPts val="2800"/>
              <a:buNone/>
            </a:pPr>
            <a:r>
              <a:rPr lang="en-US"/>
              <a:t>                            </a:t>
            </a:r>
            <a:endParaRPr/>
          </a:p>
          <a:p>
            <a:pPr marL="0" lvl="0" indent="0" algn="l" rtl="0">
              <a:lnSpc>
                <a:spcPct val="90000"/>
              </a:lnSpc>
              <a:spcBef>
                <a:spcPts val="1000"/>
              </a:spcBef>
              <a:spcAft>
                <a:spcPts val="0"/>
              </a:spcAft>
              <a:buClr>
                <a:schemeClr val="dk1"/>
              </a:buClr>
              <a:buSzPts val="2800"/>
              <a:buNone/>
            </a:pPr>
            <a:r>
              <a:rPr lang="en-US"/>
              <a:t>                                           </a:t>
            </a:r>
            <a:endParaRPr/>
          </a:p>
        </p:txBody>
      </p:sp>
      <p:pic>
        <p:nvPicPr>
          <p:cNvPr id="121" name="Google Shape;121;p18" descr="Block Diagram of Half Adder"/>
          <p:cNvPicPr preferRelativeResize="0"/>
          <p:nvPr/>
        </p:nvPicPr>
        <p:blipFill rotWithShape="1">
          <a:blip r:embed="rId3">
            <a:alphaModFix/>
          </a:blip>
          <a:srcRect/>
          <a:stretch/>
        </p:blipFill>
        <p:spPr>
          <a:xfrm>
            <a:off x="3505200" y="3429000"/>
            <a:ext cx="5181600" cy="165618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9"/>
          <p:cNvSpPr txBox="1">
            <a:spLocks noGrp="1"/>
          </p:cNvSpPr>
          <p:nvPr>
            <p:ph type="title"/>
          </p:nvPr>
        </p:nvSpPr>
        <p:spPr>
          <a:xfrm>
            <a:off x="838200" y="365125"/>
            <a:ext cx="10515600" cy="104765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C00000"/>
              </a:buClr>
              <a:buSzPct val="100000"/>
              <a:buFont typeface="Calibri"/>
              <a:buNone/>
            </a:pPr>
            <a:r>
              <a:rPr lang="en-US">
                <a:solidFill>
                  <a:srgbClr val="C00000"/>
                </a:solidFill>
              </a:rPr>
              <a:t>                Truth Table and Circuit Diagram</a:t>
            </a:r>
            <a:br>
              <a:rPr lang="en-US"/>
            </a:br>
            <a:endParaRPr/>
          </a:p>
        </p:txBody>
      </p:sp>
      <p:pic>
        <p:nvPicPr>
          <p:cNvPr id="127" name="Google Shape;127;p19"/>
          <p:cNvPicPr preferRelativeResize="0"/>
          <p:nvPr/>
        </p:nvPicPr>
        <p:blipFill rotWithShape="1">
          <a:blip r:embed="rId3">
            <a:alphaModFix/>
          </a:blip>
          <a:srcRect/>
          <a:stretch/>
        </p:blipFill>
        <p:spPr>
          <a:xfrm>
            <a:off x="2590800" y="4419601"/>
            <a:ext cx="6248400" cy="1552575"/>
          </a:xfrm>
          <a:prstGeom prst="rect">
            <a:avLst/>
          </a:prstGeom>
          <a:noFill/>
          <a:ln>
            <a:noFill/>
          </a:ln>
        </p:spPr>
      </p:pic>
      <p:pic>
        <p:nvPicPr>
          <p:cNvPr id="128" name="Google Shape;128;p19"/>
          <p:cNvPicPr preferRelativeResize="0"/>
          <p:nvPr/>
        </p:nvPicPr>
        <p:blipFill rotWithShape="1">
          <a:blip r:embed="rId4">
            <a:alphaModFix/>
          </a:blip>
          <a:srcRect/>
          <a:stretch/>
        </p:blipFill>
        <p:spPr>
          <a:xfrm>
            <a:off x="3352800" y="1524000"/>
            <a:ext cx="1676400" cy="1981200"/>
          </a:xfrm>
          <a:prstGeom prst="rect">
            <a:avLst/>
          </a:prstGeom>
          <a:noFill/>
          <a:ln>
            <a:noFill/>
          </a:ln>
        </p:spPr>
      </p:pic>
      <p:sp>
        <p:nvSpPr>
          <p:cNvPr id="129" name="Google Shape;129;p19"/>
          <p:cNvSpPr txBox="1"/>
          <p:nvPr/>
        </p:nvSpPr>
        <p:spPr>
          <a:xfrm>
            <a:off x="6400800" y="2971800"/>
            <a:ext cx="200907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2"/>
                </a:solidFill>
                <a:latin typeface="Calibri"/>
                <a:ea typeface="Calibri"/>
                <a:cs typeface="Calibri"/>
                <a:sym typeface="Calibri"/>
              </a:rPr>
              <a:t>Boolean Expression</a:t>
            </a:r>
            <a:endParaRPr/>
          </a:p>
        </p:txBody>
      </p:sp>
      <p:sp>
        <p:nvSpPr>
          <p:cNvPr id="130" name="Google Shape;130;p19"/>
          <p:cNvSpPr txBox="1">
            <a:spLocks noGrp="1"/>
          </p:cNvSpPr>
          <p:nvPr>
            <p:ph type="body" idx="1"/>
          </p:nvPr>
        </p:nvSpPr>
        <p:spPr>
          <a:xfrm>
            <a:off x="1981200" y="990601"/>
            <a:ext cx="8229600" cy="51355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pPr>
            <a:endParaRPr/>
          </a:p>
        </p:txBody>
      </p:sp>
      <p:pic>
        <p:nvPicPr>
          <p:cNvPr id="131" name="Google Shape;131;p19"/>
          <p:cNvPicPr preferRelativeResize="0"/>
          <p:nvPr/>
        </p:nvPicPr>
        <p:blipFill rotWithShape="1">
          <a:blip r:embed="rId5">
            <a:alphaModFix/>
          </a:blip>
          <a:srcRect/>
          <a:stretch/>
        </p:blipFill>
        <p:spPr>
          <a:xfrm>
            <a:off x="6477000" y="1981200"/>
            <a:ext cx="1752600" cy="762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000"/>
              <a:buFont typeface="Calibri"/>
              <a:buNone/>
            </a:pPr>
            <a:r>
              <a:rPr lang="en-US" sz="4000">
                <a:solidFill>
                  <a:srgbClr val="C00000"/>
                </a:solidFill>
              </a:rPr>
              <a:t>                                   Full Adder</a:t>
            </a:r>
            <a:endParaRPr/>
          </a:p>
        </p:txBody>
      </p:sp>
      <p:sp>
        <p:nvSpPr>
          <p:cNvPr id="137" name="Google Shape;137;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3000"/>
              <a:buChar char="•"/>
            </a:pPr>
            <a:r>
              <a:rPr lang="en-US" sz="3000">
                <a:latin typeface="Times New Roman"/>
                <a:ea typeface="Times New Roman"/>
                <a:cs typeface="Times New Roman"/>
                <a:sym typeface="Times New Roman"/>
              </a:rPr>
              <a:t>Full adder is developed to overcome the drawback of Half Adder circuit. It can add two one-bit numbers A and B, and carry c. The full adder is a three input and two output combinational circuit.</a:t>
            </a:r>
            <a:endParaRPr/>
          </a:p>
        </p:txBody>
      </p:sp>
      <p:pic>
        <p:nvPicPr>
          <p:cNvPr id="138" name="Google Shape;138;p20" descr="Block Diagram of Full Adder"/>
          <p:cNvPicPr preferRelativeResize="0"/>
          <p:nvPr/>
        </p:nvPicPr>
        <p:blipFill rotWithShape="1">
          <a:blip r:embed="rId3">
            <a:alphaModFix/>
          </a:blip>
          <a:srcRect/>
          <a:stretch/>
        </p:blipFill>
        <p:spPr>
          <a:xfrm>
            <a:off x="3200400" y="3962400"/>
            <a:ext cx="5797550" cy="2438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         Truth Table and Circuit Diagram</a:t>
            </a:r>
            <a:br>
              <a:rPr lang="en-US"/>
            </a:br>
            <a:endParaRPr/>
          </a:p>
        </p:txBody>
      </p:sp>
      <p:pic>
        <p:nvPicPr>
          <p:cNvPr id="144" name="Google Shape;144;p21"/>
          <p:cNvPicPr preferRelativeResize="0"/>
          <p:nvPr/>
        </p:nvPicPr>
        <p:blipFill rotWithShape="1">
          <a:blip r:embed="rId3">
            <a:alphaModFix/>
          </a:blip>
          <a:srcRect/>
          <a:stretch/>
        </p:blipFill>
        <p:spPr>
          <a:xfrm>
            <a:off x="5867400" y="3733801"/>
            <a:ext cx="3733800" cy="2898775"/>
          </a:xfrm>
          <a:prstGeom prst="rect">
            <a:avLst/>
          </a:prstGeom>
          <a:noFill/>
          <a:ln>
            <a:noFill/>
          </a:ln>
        </p:spPr>
      </p:pic>
      <p:pic>
        <p:nvPicPr>
          <p:cNvPr id="145" name="Google Shape;145;p21" descr="Full Adder Truth Table"/>
          <p:cNvPicPr preferRelativeResize="0"/>
          <p:nvPr/>
        </p:nvPicPr>
        <p:blipFill rotWithShape="1">
          <a:blip r:embed="rId4">
            <a:alphaModFix/>
          </a:blip>
          <a:srcRect/>
          <a:stretch/>
        </p:blipFill>
        <p:spPr>
          <a:xfrm>
            <a:off x="2895601" y="3657600"/>
            <a:ext cx="1933575" cy="2647950"/>
          </a:xfrm>
          <a:prstGeom prst="rect">
            <a:avLst/>
          </a:prstGeom>
          <a:noFill/>
          <a:ln>
            <a:noFill/>
          </a:ln>
        </p:spPr>
      </p:pic>
      <p:pic>
        <p:nvPicPr>
          <p:cNvPr id="146" name="Google Shape;146;p21"/>
          <p:cNvPicPr preferRelativeResize="0"/>
          <p:nvPr/>
        </p:nvPicPr>
        <p:blipFill rotWithShape="1">
          <a:blip r:embed="rId5">
            <a:alphaModFix/>
          </a:blip>
          <a:srcRect/>
          <a:stretch/>
        </p:blipFill>
        <p:spPr>
          <a:xfrm>
            <a:off x="2819401" y="1371601"/>
            <a:ext cx="3457575" cy="1304925"/>
          </a:xfrm>
          <a:prstGeom prst="rect">
            <a:avLst/>
          </a:prstGeom>
          <a:noFill/>
          <a:ln>
            <a:noFill/>
          </a:ln>
        </p:spPr>
      </p:pic>
      <p:pic>
        <p:nvPicPr>
          <p:cNvPr id="147" name="Google Shape;147;p21"/>
          <p:cNvPicPr preferRelativeResize="0"/>
          <p:nvPr/>
        </p:nvPicPr>
        <p:blipFill rotWithShape="1">
          <a:blip r:embed="rId6">
            <a:alphaModFix/>
          </a:blip>
          <a:srcRect/>
          <a:stretch/>
        </p:blipFill>
        <p:spPr>
          <a:xfrm>
            <a:off x="6477001" y="1600201"/>
            <a:ext cx="3076575" cy="904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2"/>
          <p:cNvSpPr txBox="1">
            <a:spLocks noGrp="1"/>
          </p:cNvSpPr>
          <p:nvPr>
            <p:ph type="title"/>
          </p:nvPr>
        </p:nvSpPr>
        <p:spPr>
          <a:xfrm>
            <a:off x="838200" y="764704"/>
            <a:ext cx="10515600" cy="14401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                                   </a:t>
            </a:r>
            <a:r>
              <a:rPr lang="en-US">
                <a:solidFill>
                  <a:srgbClr val="C00000"/>
                </a:solidFill>
              </a:rPr>
              <a:t>Design of ALU</a:t>
            </a:r>
            <a:br>
              <a:rPr lang="en-US"/>
            </a:br>
            <a:endParaRPr/>
          </a:p>
        </p:txBody>
      </p:sp>
      <p:sp>
        <p:nvSpPr>
          <p:cNvPr id="153" name="Google Shape;153;p22"/>
          <p:cNvSpPr txBox="1">
            <a:spLocks noGrp="1"/>
          </p:cNvSpPr>
          <p:nvPr>
            <p:ph type="body" idx="1"/>
          </p:nvPr>
        </p:nvSpPr>
        <p:spPr>
          <a:xfrm>
            <a:off x="838200" y="2060848"/>
            <a:ext cx="10515600" cy="411611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666666"/>
              </a:buClr>
              <a:buSzPts val="2400"/>
              <a:buChar char="•"/>
            </a:pPr>
            <a:r>
              <a:rPr lang="en-US" sz="2400">
                <a:solidFill>
                  <a:srgbClr val="666666"/>
                </a:solidFill>
                <a:latin typeface="Times New Roman"/>
                <a:ea typeface="Times New Roman"/>
                <a:cs typeface="Times New Roman"/>
                <a:sym typeface="Times New Roman"/>
              </a:rPr>
              <a:t>A</a:t>
            </a:r>
            <a:r>
              <a:rPr lang="en-US" sz="2400" b="0" i="0">
                <a:solidFill>
                  <a:srgbClr val="666666"/>
                </a:solidFill>
                <a:latin typeface="Times New Roman"/>
                <a:ea typeface="Times New Roman"/>
                <a:cs typeface="Times New Roman"/>
                <a:sym typeface="Times New Roman"/>
              </a:rPr>
              <a:t>LU or Arithmetic Logical Unit is a digital circuit to do arithmetic operations like addition, subtraction, division, multiplication and logical operations like AND, OR, XOR, NAND, NOR etc.</a:t>
            </a:r>
            <a:endParaRPr/>
          </a:p>
          <a:p>
            <a:pPr marL="0" lvl="0" indent="0" algn="l" rtl="0">
              <a:lnSpc>
                <a:spcPct val="90000"/>
              </a:lnSpc>
              <a:spcBef>
                <a:spcPts val="1000"/>
              </a:spcBef>
              <a:spcAft>
                <a:spcPts val="0"/>
              </a:spcAft>
              <a:buClr>
                <a:schemeClr val="dk1"/>
              </a:buClr>
              <a:buSzPts val="2400"/>
              <a:buNone/>
            </a:pPr>
            <a:endParaRPr sz="2400" b="0" i="0">
              <a:solidFill>
                <a:srgbClr val="666666"/>
              </a:solidFill>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rgbClr val="666666"/>
              </a:buClr>
              <a:buSzPts val="2400"/>
              <a:buChar char="•"/>
            </a:pPr>
            <a:r>
              <a:rPr lang="en-US" sz="2400" b="0" i="0">
                <a:solidFill>
                  <a:srgbClr val="666666"/>
                </a:solidFill>
                <a:latin typeface="Times New Roman"/>
                <a:ea typeface="Times New Roman"/>
                <a:cs typeface="Times New Roman"/>
                <a:sym typeface="Times New Roman"/>
              </a:rPr>
              <a:t> A simple block diagram of a 4 bit ALU for operations </a:t>
            </a:r>
            <a:r>
              <a:rPr lang="en-US" sz="2400">
                <a:solidFill>
                  <a:srgbClr val="666666"/>
                </a:solidFill>
                <a:latin typeface="Times New Roman"/>
                <a:ea typeface="Times New Roman"/>
                <a:cs typeface="Times New Roman"/>
                <a:sym typeface="Times New Roman"/>
              </a:rPr>
              <a:t>AND, OR,XOR</a:t>
            </a:r>
            <a:r>
              <a:rPr lang="en-US" sz="2400" b="0" i="0">
                <a:solidFill>
                  <a:srgbClr val="666666"/>
                </a:solidFill>
                <a:latin typeface="Times New Roman"/>
                <a:ea typeface="Times New Roman"/>
                <a:cs typeface="Times New Roman"/>
                <a:sym typeface="Times New Roman"/>
              </a:rPr>
              <a:t> and ADD is shown here :</a:t>
            </a:r>
            <a:endParaRPr sz="24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838200" y="365125"/>
            <a:ext cx="10515600" cy="68761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6666"/>
              </a:buClr>
              <a:buSzPts val="2400"/>
              <a:buFont typeface="Times New Roman"/>
              <a:buNone/>
            </a:pPr>
            <a:r>
              <a:rPr lang="en-US" sz="2400">
                <a:solidFill>
                  <a:srgbClr val="666666"/>
                </a:solidFill>
                <a:latin typeface="Times New Roman"/>
                <a:ea typeface="Times New Roman"/>
                <a:cs typeface="Times New Roman"/>
                <a:sym typeface="Times New Roman"/>
              </a:rPr>
              <a:t>		</a:t>
            </a:r>
            <a:r>
              <a:rPr lang="en-US" sz="2400">
                <a:solidFill>
                  <a:srgbClr val="C00000"/>
                </a:solidFill>
                <a:latin typeface="Times New Roman"/>
                <a:ea typeface="Times New Roman"/>
                <a:cs typeface="Times New Roman"/>
                <a:sym typeface="Times New Roman"/>
              </a:rPr>
              <a:t>T</a:t>
            </a:r>
            <a:r>
              <a:rPr lang="en-US" sz="2400" b="0" i="0">
                <a:solidFill>
                  <a:srgbClr val="C00000"/>
                </a:solidFill>
                <a:latin typeface="Times New Roman"/>
                <a:ea typeface="Times New Roman"/>
                <a:cs typeface="Times New Roman"/>
                <a:sym typeface="Times New Roman"/>
              </a:rPr>
              <a:t>he 4-bit ALU block is combined using 4 1-bit ALU block</a:t>
            </a:r>
            <a:endParaRPr sz="2400">
              <a:solidFill>
                <a:srgbClr val="C00000"/>
              </a:solidFill>
              <a:latin typeface="Times New Roman"/>
              <a:ea typeface="Times New Roman"/>
              <a:cs typeface="Times New Roman"/>
              <a:sym typeface="Times New Roman"/>
            </a:endParaRPr>
          </a:p>
        </p:txBody>
      </p:sp>
      <p:pic>
        <p:nvPicPr>
          <p:cNvPr id="159" name="Google Shape;159;p23"/>
          <p:cNvPicPr preferRelativeResize="0">
            <a:picLocks noGrp="1"/>
          </p:cNvPicPr>
          <p:nvPr>
            <p:ph type="body" idx="1"/>
          </p:nvPr>
        </p:nvPicPr>
        <p:blipFill rotWithShape="1">
          <a:blip r:embed="rId3">
            <a:alphaModFix/>
          </a:blip>
          <a:srcRect/>
          <a:stretch/>
        </p:blipFill>
        <p:spPr>
          <a:xfrm>
            <a:off x="2639617" y="1825625"/>
            <a:ext cx="6349262" cy="43513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33333"/>
              </a:buClr>
              <a:buSzPts val="4400"/>
              <a:buFont typeface="Georgia"/>
              <a:buNone/>
            </a:pPr>
            <a:r>
              <a:rPr lang="en-US" i="0">
                <a:solidFill>
                  <a:srgbClr val="333333"/>
                </a:solidFill>
                <a:latin typeface="Georgia"/>
                <a:ea typeface="Georgia"/>
                <a:cs typeface="Georgia"/>
                <a:sym typeface="Georgia"/>
              </a:rPr>
              <a:t>				</a:t>
            </a:r>
            <a:r>
              <a:rPr lang="en-US" i="0">
                <a:solidFill>
                  <a:srgbClr val="C00000"/>
                </a:solidFill>
                <a:latin typeface="Georgia"/>
                <a:ea typeface="Georgia"/>
                <a:cs typeface="Georgia"/>
                <a:sym typeface="Georgia"/>
              </a:rPr>
              <a:t>Design Issues </a:t>
            </a:r>
            <a:br>
              <a:rPr lang="en-US" b="0" i="0">
                <a:solidFill>
                  <a:srgbClr val="C00000"/>
                </a:solidFill>
                <a:latin typeface="Georgia"/>
                <a:ea typeface="Georgia"/>
                <a:cs typeface="Georgia"/>
                <a:sym typeface="Georgia"/>
              </a:rPr>
            </a:br>
            <a:endParaRPr>
              <a:solidFill>
                <a:srgbClr val="C00000"/>
              </a:solidFill>
            </a:endParaRPr>
          </a:p>
        </p:txBody>
      </p:sp>
      <p:sp>
        <p:nvSpPr>
          <p:cNvPr id="165" name="Google Shape;165;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b="0" i="0">
              <a:solidFill>
                <a:srgbClr val="333333"/>
              </a:solidFill>
              <a:latin typeface="Georgia"/>
              <a:ea typeface="Georgia"/>
              <a:cs typeface="Georgia"/>
              <a:sym typeface="Georgia"/>
            </a:endParaRPr>
          </a:p>
          <a:p>
            <a:pPr marL="0" lvl="0" indent="0" algn="l" rtl="0">
              <a:lnSpc>
                <a:spcPct val="90000"/>
              </a:lnSpc>
              <a:spcBef>
                <a:spcPts val="1000"/>
              </a:spcBef>
              <a:spcAft>
                <a:spcPts val="0"/>
              </a:spcAft>
              <a:buClr>
                <a:srgbClr val="666666"/>
              </a:buClr>
              <a:buSzPts val="2800"/>
              <a:buNone/>
            </a:pPr>
            <a:r>
              <a:rPr lang="en-US" b="0" i="0">
                <a:solidFill>
                  <a:srgbClr val="666666"/>
                </a:solidFill>
                <a:latin typeface="Tahoma"/>
                <a:ea typeface="Tahoma"/>
                <a:cs typeface="Tahoma"/>
                <a:sym typeface="Tahoma"/>
              </a:rPr>
              <a:t>The circuit functionality of a 1 bit ALU is shown here, depending upon the control signal S</a:t>
            </a:r>
            <a:r>
              <a:rPr lang="en-US" b="0" i="0" baseline="-25000">
                <a:solidFill>
                  <a:srgbClr val="666666"/>
                </a:solidFill>
                <a:latin typeface="Tahoma"/>
                <a:ea typeface="Tahoma"/>
                <a:cs typeface="Tahoma"/>
                <a:sym typeface="Tahoma"/>
              </a:rPr>
              <a:t>1</a:t>
            </a:r>
            <a:r>
              <a:rPr lang="en-US" b="0" i="0">
                <a:solidFill>
                  <a:srgbClr val="666666"/>
                </a:solidFill>
                <a:latin typeface="Tahoma"/>
                <a:ea typeface="Tahoma"/>
                <a:cs typeface="Tahoma"/>
                <a:sym typeface="Tahoma"/>
              </a:rPr>
              <a:t> and S</a:t>
            </a:r>
            <a:r>
              <a:rPr lang="en-US" b="0" i="0" baseline="-25000">
                <a:solidFill>
                  <a:srgbClr val="666666"/>
                </a:solidFill>
                <a:latin typeface="Tahoma"/>
                <a:ea typeface="Tahoma"/>
                <a:cs typeface="Tahoma"/>
                <a:sym typeface="Tahoma"/>
              </a:rPr>
              <a:t>0</a:t>
            </a:r>
            <a:r>
              <a:rPr lang="en-US" b="0" i="0">
                <a:solidFill>
                  <a:srgbClr val="666666"/>
                </a:solidFill>
                <a:latin typeface="Tahoma"/>
                <a:ea typeface="Tahoma"/>
                <a:cs typeface="Tahoma"/>
                <a:sym typeface="Tahoma"/>
              </a:rPr>
              <a:t> the circuit operates as follows:</a:t>
            </a:r>
            <a:endParaRPr/>
          </a:p>
          <a:p>
            <a:pPr marL="0" lvl="0" indent="0" algn="l" rtl="0">
              <a:lnSpc>
                <a:spcPct val="90000"/>
              </a:lnSpc>
              <a:spcBef>
                <a:spcPts val="1000"/>
              </a:spcBef>
              <a:spcAft>
                <a:spcPts val="0"/>
              </a:spcAft>
              <a:buClr>
                <a:schemeClr val="dk1"/>
              </a:buClr>
              <a:buSzPts val="2800"/>
              <a:buNone/>
            </a:pPr>
            <a:endParaRPr b="0" i="0">
              <a:solidFill>
                <a:srgbClr val="666666"/>
              </a:solidFill>
              <a:latin typeface="Tahoma"/>
              <a:ea typeface="Tahoma"/>
              <a:cs typeface="Tahoma"/>
              <a:sym typeface="Tahoma"/>
            </a:endParaRPr>
          </a:p>
          <a:p>
            <a:pPr marL="0" lvl="0" indent="0" algn="l" rtl="0">
              <a:lnSpc>
                <a:spcPct val="90000"/>
              </a:lnSpc>
              <a:spcBef>
                <a:spcPts val="1000"/>
              </a:spcBef>
              <a:spcAft>
                <a:spcPts val="0"/>
              </a:spcAft>
              <a:buClr>
                <a:srgbClr val="666666"/>
              </a:buClr>
              <a:buSzPts val="2800"/>
              <a:buNone/>
            </a:pPr>
            <a:r>
              <a:rPr lang="en-US" b="0" i="0">
                <a:solidFill>
                  <a:srgbClr val="666666"/>
                </a:solidFill>
                <a:latin typeface="Tahoma"/>
                <a:ea typeface="Tahoma"/>
                <a:cs typeface="Tahoma"/>
                <a:sym typeface="Tahoma"/>
              </a:rPr>
              <a:t>for Control signal </a:t>
            </a:r>
            <a:r>
              <a:rPr lang="en-US" b="1" i="0">
                <a:solidFill>
                  <a:srgbClr val="666666"/>
                </a:solidFill>
                <a:latin typeface="Tahoma"/>
                <a:ea typeface="Tahoma"/>
                <a:cs typeface="Tahoma"/>
                <a:sym typeface="Tahoma"/>
              </a:rPr>
              <a:t>S</a:t>
            </a:r>
            <a:r>
              <a:rPr lang="en-US" b="1" i="0" baseline="-25000">
                <a:solidFill>
                  <a:srgbClr val="666666"/>
                </a:solidFill>
                <a:latin typeface="Tahoma"/>
                <a:ea typeface="Tahoma"/>
                <a:cs typeface="Tahoma"/>
                <a:sym typeface="Tahoma"/>
              </a:rPr>
              <a:t>1</a:t>
            </a:r>
            <a:r>
              <a:rPr lang="en-US" b="1" i="0">
                <a:solidFill>
                  <a:srgbClr val="666666"/>
                </a:solidFill>
                <a:latin typeface="Tahoma"/>
                <a:ea typeface="Tahoma"/>
                <a:cs typeface="Tahoma"/>
                <a:sym typeface="Tahoma"/>
              </a:rPr>
              <a:t> = 0</a:t>
            </a:r>
            <a:r>
              <a:rPr lang="en-US" b="0" i="0">
                <a:solidFill>
                  <a:srgbClr val="666666"/>
                </a:solidFill>
                <a:latin typeface="Tahoma"/>
                <a:ea typeface="Tahoma"/>
                <a:cs typeface="Tahoma"/>
                <a:sym typeface="Tahoma"/>
              </a:rPr>
              <a:t> , S</a:t>
            </a:r>
            <a:r>
              <a:rPr lang="en-US" b="0" i="0" baseline="-25000">
                <a:solidFill>
                  <a:srgbClr val="666666"/>
                </a:solidFill>
                <a:latin typeface="Tahoma"/>
                <a:ea typeface="Tahoma"/>
                <a:cs typeface="Tahoma"/>
                <a:sym typeface="Tahoma"/>
              </a:rPr>
              <a:t>0</a:t>
            </a:r>
            <a:r>
              <a:rPr lang="en-US" b="0" i="0">
                <a:solidFill>
                  <a:srgbClr val="666666"/>
                </a:solidFill>
                <a:latin typeface="Tahoma"/>
                <a:ea typeface="Tahoma"/>
                <a:cs typeface="Tahoma"/>
                <a:sym typeface="Tahoma"/>
              </a:rPr>
              <a:t> = 0, the output is </a:t>
            </a:r>
            <a:r>
              <a:rPr lang="en-US" b="1" i="0">
                <a:solidFill>
                  <a:srgbClr val="666666"/>
                </a:solidFill>
                <a:latin typeface="Tahoma"/>
                <a:ea typeface="Tahoma"/>
                <a:cs typeface="Tahoma"/>
                <a:sym typeface="Tahoma"/>
              </a:rPr>
              <a:t>A And B</a:t>
            </a:r>
            <a:r>
              <a:rPr lang="en-US" b="0" i="0">
                <a:solidFill>
                  <a:srgbClr val="666666"/>
                </a:solidFill>
                <a:latin typeface="Tahoma"/>
                <a:ea typeface="Tahoma"/>
                <a:cs typeface="Tahoma"/>
                <a:sym typeface="Tahoma"/>
              </a:rPr>
              <a:t>,</a:t>
            </a:r>
            <a:endParaRPr/>
          </a:p>
          <a:p>
            <a:pPr marL="0" lvl="0" indent="0" algn="l" rtl="0">
              <a:lnSpc>
                <a:spcPct val="90000"/>
              </a:lnSpc>
              <a:spcBef>
                <a:spcPts val="1000"/>
              </a:spcBef>
              <a:spcAft>
                <a:spcPts val="0"/>
              </a:spcAft>
              <a:buClr>
                <a:srgbClr val="666666"/>
              </a:buClr>
              <a:buSzPts val="2800"/>
              <a:buNone/>
            </a:pPr>
            <a:r>
              <a:rPr lang="en-US" b="0" i="0">
                <a:solidFill>
                  <a:srgbClr val="666666"/>
                </a:solidFill>
                <a:latin typeface="Tahoma"/>
                <a:ea typeface="Tahoma"/>
                <a:cs typeface="Tahoma"/>
                <a:sym typeface="Tahoma"/>
              </a:rPr>
              <a:t>for Control signal </a:t>
            </a:r>
            <a:r>
              <a:rPr lang="en-US" b="1" i="0">
                <a:solidFill>
                  <a:srgbClr val="666666"/>
                </a:solidFill>
                <a:latin typeface="Tahoma"/>
                <a:ea typeface="Tahoma"/>
                <a:cs typeface="Tahoma"/>
                <a:sym typeface="Tahoma"/>
              </a:rPr>
              <a:t>S</a:t>
            </a:r>
            <a:r>
              <a:rPr lang="en-US" b="1" i="0" baseline="-25000">
                <a:solidFill>
                  <a:srgbClr val="666666"/>
                </a:solidFill>
                <a:latin typeface="Tahoma"/>
                <a:ea typeface="Tahoma"/>
                <a:cs typeface="Tahoma"/>
                <a:sym typeface="Tahoma"/>
              </a:rPr>
              <a:t>1</a:t>
            </a:r>
            <a:r>
              <a:rPr lang="en-US" b="1" i="0">
                <a:solidFill>
                  <a:srgbClr val="666666"/>
                </a:solidFill>
                <a:latin typeface="Tahoma"/>
                <a:ea typeface="Tahoma"/>
                <a:cs typeface="Tahoma"/>
                <a:sym typeface="Tahoma"/>
              </a:rPr>
              <a:t> = 0</a:t>
            </a:r>
            <a:r>
              <a:rPr lang="en-US" b="0" i="0">
                <a:solidFill>
                  <a:srgbClr val="666666"/>
                </a:solidFill>
                <a:latin typeface="Tahoma"/>
                <a:ea typeface="Tahoma"/>
                <a:cs typeface="Tahoma"/>
                <a:sym typeface="Tahoma"/>
              </a:rPr>
              <a:t> , S</a:t>
            </a:r>
            <a:r>
              <a:rPr lang="en-US" b="0" i="0" baseline="-25000">
                <a:solidFill>
                  <a:srgbClr val="666666"/>
                </a:solidFill>
                <a:latin typeface="Tahoma"/>
                <a:ea typeface="Tahoma"/>
                <a:cs typeface="Tahoma"/>
                <a:sym typeface="Tahoma"/>
              </a:rPr>
              <a:t>0</a:t>
            </a:r>
            <a:r>
              <a:rPr lang="en-US" b="0" i="0">
                <a:solidFill>
                  <a:srgbClr val="666666"/>
                </a:solidFill>
                <a:latin typeface="Tahoma"/>
                <a:ea typeface="Tahoma"/>
                <a:cs typeface="Tahoma"/>
                <a:sym typeface="Tahoma"/>
              </a:rPr>
              <a:t> = 1, the output is </a:t>
            </a:r>
            <a:r>
              <a:rPr lang="en-US" b="1" i="0">
                <a:solidFill>
                  <a:srgbClr val="666666"/>
                </a:solidFill>
                <a:latin typeface="Tahoma"/>
                <a:ea typeface="Tahoma"/>
                <a:cs typeface="Tahoma"/>
                <a:sym typeface="Tahoma"/>
              </a:rPr>
              <a:t>A Or B</a:t>
            </a:r>
            <a:r>
              <a:rPr lang="en-US" b="0" i="0">
                <a:solidFill>
                  <a:srgbClr val="666666"/>
                </a:solidFill>
                <a:latin typeface="Tahoma"/>
                <a:ea typeface="Tahoma"/>
                <a:cs typeface="Tahoma"/>
                <a:sym typeface="Tahoma"/>
              </a:rPr>
              <a:t>,</a:t>
            </a:r>
            <a:endParaRPr/>
          </a:p>
          <a:p>
            <a:pPr marL="0" lvl="0" indent="0" algn="l" rtl="0">
              <a:lnSpc>
                <a:spcPct val="90000"/>
              </a:lnSpc>
              <a:spcBef>
                <a:spcPts val="1000"/>
              </a:spcBef>
              <a:spcAft>
                <a:spcPts val="0"/>
              </a:spcAft>
              <a:buClr>
                <a:srgbClr val="666666"/>
              </a:buClr>
              <a:buSzPts val="2800"/>
              <a:buNone/>
            </a:pPr>
            <a:r>
              <a:rPr lang="en-US" b="0" i="0">
                <a:solidFill>
                  <a:srgbClr val="666666"/>
                </a:solidFill>
                <a:latin typeface="Tahoma"/>
                <a:ea typeface="Tahoma"/>
                <a:cs typeface="Tahoma"/>
                <a:sym typeface="Tahoma"/>
              </a:rPr>
              <a:t>for Control signal </a:t>
            </a:r>
            <a:r>
              <a:rPr lang="en-US" b="1" i="0">
                <a:solidFill>
                  <a:srgbClr val="666666"/>
                </a:solidFill>
                <a:latin typeface="Tahoma"/>
                <a:ea typeface="Tahoma"/>
                <a:cs typeface="Tahoma"/>
                <a:sym typeface="Tahoma"/>
              </a:rPr>
              <a:t>S</a:t>
            </a:r>
            <a:r>
              <a:rPr lang="en-US" b="1" i="0" baseline="-25000">
                <a:solidFill>
                  <a:srgbClr val="666666"/>
                </a:solidFill>
                <a:latin typeface="Tahoma"/>
                <a:ea typeface="Tahoma"/>
                <a:cs typeface="Tahoma"/>
                <a:sym typeface="Tahoma"/>
              </a:rPr>
              <a:t>1</a:t>
            </a:r>
            <a:r>
              <a:rPr lang="en-US" b="1" i="0">
                <a:solidFill>
                  <a:srgbClr val="666666"/>
                </a:solidFill>
                <a:latin typeface="Tahoma"/>
                <a:ea typeface="Tahoma"/>
                <a:cs typeface="Tahoma"/>
                <a:sym typeface="Tahoma"/>
              </a:rPr>
              <a:t> = 1</a:t>
            </a:r>
            <a:r>
              <a:rPr lang="en-US" b="0" i="0">
                <a:solidFill>
                  <a:srgbClr val="666666"/>
                </a:solidFill>
                <a:latin typeface="Tahoma"/>
                <a:ea typeface="Tahoma"/>
                <a:cs typeface="Tahoma"/>
                <a:sym typeface="Tahoma"/>
              </a:rPr>
              <a:t> , S</a:t>
            </a:r>
            <a:r>
              <a:rPr lang="en-US" b="0" i="0" baseline="-25000">
                <a:solidFill>
                  <a:srgbClr val="666666"/>
                </a:solidFill>
                <a:latin typeface="Tahoma"/>
                <a:ea typeface="Tahoma"/>
                <a:cs typeface="Tahoma"/>
                <a:sym typeface="Tahoma"/>
              </a:rPr>
              <a:t>0</a:t>
            </a:r>
            <a:r>
              <a:rPr lang="en-US" b="0" i="0">
                <a:solidFill>
                  <a:srgbClr val="666666"/>
                </a:solidFill>
                <a:latin typeface="Tahoma"/>
                <a:ea typeface="Tahoma"/>
                <a:cs typeface="Tahoma"/>
                <a:sym typeface="Tahoma"/>
              </a:rPr>
              <a:t> = 0, the output is </a:t>
            </a:r>
            <a:r>
              <a:rPr lang="en-US" b="1" i="0">
                <a:solidFill>
                  <a:srgbClr val="666666"/>
                </a:solidFill>
                <a:latin typeface="Tahoma"/>
                <a:ea typeface="Tahoma"/>
                <a:cs typeface="Tahoma"/>
                <a:sym typeface="Tahoma"/>
              </a:rPr>
              <a:t>A Xor B</a:t>
            </a:r>
            <a:r>
              <a:rPr lang="en-US" b="0" i="0">
                <a:solidFill>
                  <a:srgbClr val="666666"/>
                </a:solidFill>
                <a:latin typeface="Tahoma"/>
                <a:ea typeface="Tahoma"/>
                <a:cs typeface="Tahoma"/>
                <a:sym typeface="Tahoma"/>
              </a:rPr>
              <a:t>,</a:t>
            </a:r>
            <a:endParaRPr/>
          </a:p>
          <a:p>
            <a:pPr marL="0" lvl="0" indent="0" algn="l" rtl="0">
              <a:lnSpc>
                <a:spcPct val="90000"/>
              </a:lnSpc>
              <a:spcBef>
                <a:spcPts val="1000"/>
              </a:spcBef>
              <a:spcAft>
                <a:spcPts val="0"/>
              </a:spcAft>
              <a:buClr>
                <a:srgbClr val="666666"/>
              </a:buClr>
              <a:buSzPts val="2800"/>
              <a:buNone/>
            </a:pPr>
            <a:r>
              <a:rPr lang="en-US" b="0" i="0">
                <a:solidFill>
                  <a:srgbClr val="666666"/>
                </a:solidFill>
                <a:latin typeface="Tahoma"/>
                <a:ea typeface="Tahoma"/>
                <a:cs typeface="Tahoma"/>
                <a:sym typeface="Tahoma"/>
              </a:rPr>
              <a:t>for Control signal </a:t>
            </a:r>
            <a:r>
              <a:rPr lang="en-US" b="1" i="0">
                <a:solidFill>
                  <a:srgbClr val="666666"/>
                </a:solidFill>
                <a:latin typeface="Tahoma"/>
                <a:ea typeface="Tahoma"/>
                <a:cs typeface="Tahoma"/>
                <a:sym typeface="Tahoma"/>
              </a:rPr>
              <a:t>S</a:t>
            </a:r>
            <a:r>
              <a:rPr lang="en-US" b="1" i="0" baseline="-25000">
                <a:solidFill>
                  <a:srgbClr val="666666"/>
                </a:solidFill>
                <a:latin typeface="Tahoma"/>
                <a:ea typeface="Tahoma"/>
                <a:cs typeface="Tahoma"/>
                <a:sym typeface="Tahoma"/>
              </a:rPr>
              <a:t>1</a:t>
            </a:r>
            <a:r>
              <a:rPr lang="en-US" b="1" i="0">
                <a:solidFill>
                  <a:srgbClr val="666666"/>
                </a:solidFill>
                <a:latin typeface="Tahoma"/>
                <a:ea typeface="Tahoma"/>
                <a:cs typeface="Tahoma"/>
                <a:sym typeface="Tahoma"/>
              </a:rPr>
              <a:t> = 1</a:t>
            </a:r>
            <a:r>
              <a:rPr lang="en-US" b="0" i="0">
                <a:solidFill>
                  <a:srgbClr val="666666"/>
                </a:solidFill>
                <a:latin typeface="Tahoma"/>
                <a:ea typeface="Tahoma"/>
                <a:cs typeface="Tahoma"/>
                <a:sym typeface="Tahoma"/>
              </a:rPr>
              <a:t> , S</a:t>
            </a:r>
            <a:r>
              <a:rPr lang="en-US" b="0" i="0" baseline="-25000">
                <a:solidFill>
                  <a:srgbClr val="666666"/>
                </a:solidFill>
                <a:latin typeface="Tahoma"/>
                <a:ea typeface="Tahoma"/>
                <a:cs typeface="Tahoma"/>
                <a:sym typeface="Tahoma"/>
              </a:rPr>
              <a:t>0</a:t>
            </a:r>
            <a:r>
              <a:rPr lang="en-US" b="0" i="0">
                <a:solidFill>
                  <a:srgbClr val="666666"/>
                </a:solidFill>
                <a:latin typeface="Tahoma"/>
                <a:ea typeface="Tahoma"/>
                <a:cs typeface="Tahoma"/>
                <a:sym typeface="Tahoma"/>
              </a:rPr>
              <a:t> = 1, the output is </a:t>
            </a:r>
            <a:r>
              <a:rPr lang="en-US" b="1" i="0">
                <a:solidFill>
                  <a:srgbClr val="666666"/>
                </a:solidFill>
                <a:latin typeface="Tahoma"/>
                <a:ea typeface="Tahoma"/>
                <a:cs typeface="Tahoma"/>
                <a:sym typeface="Tahoma"/>
              </a:rPr>
              <a:t>A Add B</a:t>
            </a:r>
            <a:r>
              <a:rPr lang="en-US" b="0" i="0">
                <a:solidFill>
                  <a:srgbClr val="666666"/>
                </a:solidFill>
                <a:latin typeface="Tahoma"/>
                <a:ea typeface="Tahoma"/>
                <a:cs typeface="Tahoma"/>
                <a:sym typeface="Tahoma"/>
              </a:rPr>
              <a:t>.</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5"/>
          <p:cNvSpPr txBox="1">
            <a:spLocks noGrp="1"/>
          </p:cNvSpPr>
          <p:nvPr>
            <p:ph type="title"/>
          </p:nvPr>
        </p:nvSpPr>
        <p:spPr>
          <a:xfrm>
            <a:off x="838200" y="365125"/>
            <a:ext cx="10515600" cy="47158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                   </a:t>
            </a:r>
            <a:r>
              <a:rPr lang="en-US">
                <a:solidFill>
                  <a:srgbClr val="C00000"/>
                </a:solidFill>
              </a:rPr>
              <a:t>16 bit ALU Design</a:t>
            </a:r>
            <a:endParaRPr>
              <a:solidFill>
                <a:srgbClr val="C00000"/>
              </a:solidFill>
            </a:endParaRPr>
          </a:p>
        </p:txBody>
      </p:sp>
      <p:pic>
        <p:nvPicPr>
          <p:cNvPr id="171" name="Google Shape;171;p25" descr="student submitted image, transcription available below"/>
          <p:cNvPicPr preferRelativeResize="0">
            <a:picLocks noGrp="1"/>
          </p:cNvPicPr>
          <p:nvPr>
            <p:ph type="body" idx="1"/>
          </p:nvPr>
        </p:nvPicPr>
        <p:blipFill rotWithShape="1">
          <a:blip r:embed="rId3">
            <a:alphaModFix/>
          </a:blip>
          <a:srcRect/>
          <a:stretch/>
        </p:blipFill>
        <p:spPr>
          <a:xfrm>
            <a:off x="2567608" y="836712"/>
            <a:ext cx="7200800" cy="599273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6"/>
          <p:cNvSpPr txBox="1">
            <a:spLocks noGrp="1"/>
          </p:cNvSpPr>
          <p:nvPr>
            <p:ph type="title"/>
          </p:nvPr>
        </p:nvSpPr>
        <p:spPr>
          <a:xfrm>
            <a:off x="838200" y="365125"/>
            <a:ext cx="10515600" cy="68761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                            </a:t>
            </a:r>
            <a:r>
              <a:rPr lang="en-US">
                <a:solidFill>
                  <a:srgbClr val="C00000"/>
                </a:solidFill>
              </a:rPr>
              <a:t>De Morgan’s Theorem</a:t>
            </a:r>
            <a:endParaRPr>
              <a:solidFill>
                <a:srgbClr val="C00000"/>
              </a:solidFill>
            </a:endParaRPr>
          </a:p>
        </p:txBody>
      </p:sp>
      <p:sp>
        <p:nvSpPr>
          <p:cNvPr id="177" name="Google Shape;177;p26"/>
          <p:cNvSpPr txBox="1">
            <a:spLocks noGrp="1"/>
          </p:cNvSpPr>
          <p:nvPr>
            <p:ph type="body" idx="1"/>
          </p:nvPr>
        </p:nvSpPr>
        <p:spPr>
          <a:xfrm>
            <a:off x="838200" y="1556792"/>
            <a:ext cx="10515600" cy="462017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It is a very powerful tool used in digital design</a:t>
            </a:r>
            <a:endParaRPr/>
          </a:p>
          <a:p>
            <a:pPr marL="228600" lvl="0" indent="-228600" algn="l" rtl="0">
              <a:lnSpc>
                <a:spcPct val="90000"/>
              </a:lnSpc>
              <a:spcBef>
                <a:spcPts val="1000"/>
              </a:spcBef>
              <a:spcAft>
                <a:spcPts val="0"/>
              </a:spcAft>
              <a:buClr>
                <a:schemeClr val="dk1"/>
              </a:buClr>
              <a:buSzPts val="2800"/>
              <a:buChar char="•"/>
            </a:pPr>
            <a:r>
              <a:rPr lang="en-US"/>
              <a:t>De Morgan’s theorem are used to solve the expressions of Boolean </a:t>
            </a:r>
            <a:endParaRPr/>
          </a:p>
          <a:p>
            <a:pPr marL="0" lvl="0" indent="0" algn="l" rtl="0">
              <a:lnSpc>
                <a:spcPct val="90000"/>
              </a:lnSpc>
              <a:spcBef>
                <a:spcPts val="1000"/>
              </a:spcBef>
              <a:spcAft>
                <a:spcPts val="0"/>
              </a:spcAft>
              <a:buClr>
                <a:schemeClr val="dk1"/>
              </a:buClr>
              <a:buSzPts val="2800"/>
              <a:buNone/>
            </a:pPr>
            <a:r>
              <a:rPr lang="en-US"/>
              <a:t>   Algebra.</a:t>
            </a:r>
            <a:endParaRPr/>
          </a:p>
          <a:p>
            <a:pPr marL="228600" lvl="0" indent="-228600" algn="l" rtl="0">
              <a:lnSpc>
                <a:spcPct val="90000"/>
              </a:lnSpc>
              <a:spcBef>
                <a:spcPts val="1000"/>
              </a:spcBef>
              <a:spcAft>
                <a:spcPts val="0"/>
              </a:spcAft>
              <a:buClr>
                <a:schemeClr val="dk1"/>
              </a:buClr>
              <a:buSzPts val="2800"/>
              <a:buChar char="•"/>
            </a:pPr>
            <a:r>
              <a:rPr lang="en-US"/>
              <a:t>The theorem explains that the complement of the product of all the </a:t>
            </a:r>
            <a:endParaRPr/>
          </a:p>
          <a:p>
            <a:pPr marL="0" lvl="0" indent="0" algn="l" rtl="0">
              <a:lnSpc>
                <a:spcPct val="90000"/>
              </a:lnSpc>
              <a:spcBef>
                <a:spcPts val="1000"/>
              </a:spcBef>
              <a:spcAft>
                <a:spcPts val="0"/>
              </a:spcAft>
              <a:buClr>
                <a:schemeClr val="dk1"/>
              </a:buClr>
              <a:buSzPts val="2800"/>
              <a:buNone/>
            </a:pPr>
            <a:r>
              <a:rPr lang="en-US"/>
              <a:t>   terms is equal to the sum of the complement of each term. Likewise, </a:t>
            </a:r>
            <a:endParaRPr/>
          </a:p>
          <a:p>
            <a:pPr marL="0" lvl="0" indent="0" algn="l" rtl="0">
              <a:lnSpc>
                <a:spcPct val="90000"/>
              </a:lnSpc>
              <a:spcBef>
                <a:spcPts val="1000"/>
              </a:spcBef>
              <a:spcAft>
                <a:spcPts val="0"/>
              </a:spcAft>
              <a:buClr>
                <a:schemeClr val="dk1"/>
              </a:buClr>
              <a:buSzPts val="2800"/>
              <a:buNone/>
            </a:pPr>
            <a:r>
              <a:rPr lang="en-US"/>
              <a:t>    the complement of the sum of all the terms is equal to the product</a:t>
            </a:r>
            <a:endParaRPr/>
          </a:p>
          <a:p>
            <a:pPr marL="0" lvl="0" indent="0" algn="l" rtl="0">
              <a:lnSpc>
                <a:spcPct val="90000"/>
              </a:lnSpc>
              <a:spcBef>
                <a:spcPts val="1000"/>
              </a:spcBef>
              <a:spcAft>
                <a:spcPts val="0"/>
              </a:spcAft>
              <a:buClr>
                <a:schemeClr val="dk1"/>
              </a:buClr>
              <a:buSzPts val="2800"/>
              <a:buNone/>
            </a:pPr>
            <a:r>
              <a:rPr lang="en-US"/>
              <a:t>    of the complement of each term.</a:t>
            </a:r>
            <a:endParaRPr/>
          </a:p>
          <a:p>
            <a:pPr marL="228600" lvl="0" indent="-50800" algn="l" rtl="0">
              <a:lnSpc>
                <a:spcPct val="90000"/>
              </a:lnSpc>
              <a:spcBef>
                <a:spcPts val="1000"/>
              </a:spcBef>
              <a:spcAft>
                <a:spcPts val="0"/>
              </a:spcAft>
              <a:buClr>
                <a:schemeClr val="dk1"/>
              </a:buClr>
              <a:buSzPts val="2800"/>
              <a:buNone/>
            </a:pPr>
            <a:endParaRPr b="0" i="0">
              <a:solidFill>
                <a:srgbClr val="E8EAED"/>
              </a:solidFill>
              <a:latin typeface="Arial"/>
              <a:ea typeface="Arial"/>
              <a:cs typeface="Arial"/>
              <a:sym typeface="Arial"/>
            </a:endParaRPr>
          </a:p>
          <a:p>
            <a:pPr marL="0" lvl="0" indent="0" algn="l" rtl="0">
              <a:lnSpc>
                <a:spcPct val="90000"/>
              </a:lnSpc>
              <a:spcBef>
                <a:spcPts val="1000"/>
              </a:spcBef>
              <a:spcAft>
                <a:spcPts val="0"/>
              </a:spcAft>
              <a:buClr>
                <a:srgbClr val="E8EAED"/>
              </a:buClr>
              <a:buSzPts val="2800"/>
              <a:buNone/>
            </a:pPr>
            <a:r>
              <a:rPr lang="en-US" b="0" i="0">
                <a:solidFill>
                  <a:srgbClr val="E8EAED"/>
                </a:solidFill>
                <a:latin typeface="Arial"/>
                <a:ea typeface="Arial"/>
                <a:cs typeface="Arial"/>
                <a:sym typeface="Arial"/>
              </a:rPr>
              <a:t>.</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7"/>
          <p:cNvSpPr txBox="1">
            <a:spLocks noGrp="1"/>
          </p:cNvSpPr>
          <p:nvPr>
            <p:ph type="title"/>
          </p:nvPr>
        </p:nvSpPr>
        <p:spPr>
          <a:xfrm>
            <a:off x="838200" y="260649"/>
            <a:ext cx="10515600" cy="64807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                         </a:t>
            </a:r>
            <a:r>
              <a:rPr lang="en-US">
                <a:solidFill>
                  <a:srgbClr val="C00000"/>
                </a:solidFill>
              </a:rPr>
              <a:t>Two Theorems</a:t>
            </a:r>
            <a:endParaRPr>
              <a:solidFill>
                <a:srgbClr val="C00000"/>
              </a:solidFill>
            </a:endParaRPr>
          </a:p>
        </p:txBody>
      </p:sp>
      <p:sp>
        <p:nvSpPr>
          <p:cNvPr id="183" name="Google Shape;183;p27"/>
          <p:cNvSpPr txBox="1">
            <a:spLocks noGrp="1"/>
          </p:cNvSpPr>
          <p:nvPr>
            <p:ph type="body" idx="1"/>
          </p:nvPr>
        </p:nvSpPr>
        <p:spPr>
          <a:xfrm>
            <a:off x="851917" y="1212627"/>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 Theorem1</a:t>
            </a:r>
            <a:endParaRPr/>
          </a:p>
          <a:p>
            <a:pPr marL="0" lvl="0" indent="0" algn="l" rtl="0">
              <a:lnSpc>
                <a:spcPct val="90000"/>
              </a:lnSpc>
              <a:spcBef>
                <a:spcPts val="1000"/>
              </a:spcBef>
              <a:spcAft>
                <a:spcPts val="0"/>
              </a:spcAft>
              <a:buClr>
                <a:schemeClr val="dk1"/>
              </a:buClr>
              <a:buSzPts val="2800"/>
              <a:buNone/>
            </a:pPr>
            <a:r>
              <a:rPr lang="en-US"/>
              <a:t>                               </a:t>
            </a:r>
            <a:endParaRPr/>
          </a:p>
          <a:p>
            <a:pPr marL="0" lvl="0" indent="0" algn="l" rtl="0">
              <a:lnSpc>
                <a:spcPct val="90000"/>
              </a:lnSpc>
              <a:spcBef>
                <a:spcPts val="1000"/>
              </a:spcBef>
              <a:spcAft>
                <a:spcPts val="0"/>
              </a:spcAft>
              <a:buClr>
                <a:schemeClr val="dk1"/>
              </a:buClr>
              <a:buSzPts val="2800"/>
              <a:buNone/>
            </a:pPr>
            <a:r>
              <a:rPr lang="en-US"/>
              <a:t>                          </a:t>
            </a:r>
            <a:endParaRPr/>
          </a:p>
          <a:p>
            <a:pPr marL="228600" lvl="0" indent="-228600" algn="just" rtl="0">
              <a:lnSpc>
                <a:spcPct val="90000"/>
              </a:lnSpc>
              <a:spcBef>
                <a:spcPts val="1000"/>
              </a:spcBef>
              <a:spcAft>
                <a:spcPts val="0"/>
              </a:spcAft>
              <a:buClr>
                <a:schemeClr val="dk1"/>
              </a:buClr>
              <a:buSzPts val="2800"/>
              <a:buChar char="•"/>
            </a:pPr>
            <a:r>
              <a:rPr lang="en-US"/>
              <a:t> </a:t>
            </a:r>
            <a:r>
              <a:rPr lang="en-US" sz="2400" b="0" i="0">
                <a:solidFill>
                  <a:srgbClr val="000000"/>
                </a:solidFill>
                <a:latin typeface="Times New Roman"/>
                <a:ea typeface="Times New Roman"/>
                <a:cs typeface="Times New Roman"/>
                <a:sym typeface="Times New Roman"/>
              </a:rPr>
              <a:t>The left hand side (LHS) of this theorem represents a NAND gate with inputs A and B, whereas the right hand side (RHS) of the theorem represents an OR gate with inverted inputs.</a:t>
            </a:r>
            <a:endParaRPr/>
          </a:p>
          <a:p>
            <a:pPr marL="228600" lvl="0" indent="-228600" algn="just" rtl="0">
              <a:lnSpc>
                <a:spcPct val="90000"/>
              </a:lnSpc>
              <a:spcBef>
                <a:spcPts val="1000"/>
              </a:spcBef>
              <a:spcAft>
                <a:spcPts val="0"/>
              </a:spcAft>
              <a:buClr>
                <a:srgbClr val="000000"/>
              </a:buClr>
              <a:buSzPts val="2400"/>
              <a:buChar char="•"/>
            </a:pPr>
            <a:r>
              <a:rPr lang="en-US" sz="2400" b="0" i="0">
                <a:solidFill>
                  <a:srgbClr val="000000"/>
                </a:solidFill>
                <a:latin typeface="Times New Roman"/>
                <a:ea typeface="Times New Roman"/>
                <a:cs typeface="Times New Roman"/>
                <a:sym typeface="Times New Roman"/>
              </a:rPr>
              <a:t>This OR gate is called as </a:t>
            </a:r>
            <a:r>
              <a:rPr lang="en-US" sz="2400" b="1" i="0">
                <a:solidFill>
                  <a:srgbClr val="000000"/>
                </a:solidFill>
                <a:latin typeface="Times New Roman"/>
                <a:ea typeface="Times New Roman"/>
                <a:cs typeface="Times New Roman"/>
                <a:sym typeface="Times New Roman"/>
              </a:rPr>
              <a:t>Bubbled OR</a:t>
            </a:r>
            <a:r>
              <a:rPr lang="en-US" sz="2400" b="0" i="0">
                <a:solidFill>
                  <a:srgbClr val="000000"/>
                </a:solidFill>
                <a:latin typeface="Times New Roman"/>
                <a:ea typeface="Times New Roman"/>
                <a:cs typeface="Times New Roman"/>
                <a:sym typeface="Times New Roman"/>
              </a:rPr>
              <a:t>.</a:t>
            </a:r>
            <a:endParaRPr/>
          </a:p>
          <a:p>
            <a:pPr marL="0" lvl="0" indent="0" algn="l" rtl="0">
              <a:lnSpc>
                <a:spcPct val="90000"/>
              </a:lnSpc>
              <a:spcBef>
                <a:spcPts val="1000"/>
              </a:spcBef>
              <a:spcAft>
                <a:spcPts val="0"/>
              </a:spcAft>
              <a:buClr>
                <a:schemeClr val="dk1"/>
              </a:buClr>
              <a:buSzPts val="2400"/>
              <a:buNone/>
            </a:pPr>
            <a:r>
              <a:rPr lang="en-US" sz="2400"/>
              <a:t>                </a:t>
            </a:r>
            <a:endParaRPr/>
          </a:p>
          <a:p>
            <a:pPr marL="0" lvl="0" indent="0" algn="l" rtl="0">
              <a:lnSpc>
                <a:spcPct val="90000"/>
              </a:lnSpc>
              <a:spcBef>
                <a:spcPts val="1000"/>
              </a:spcBef>
              <a:spcAft>
                <a:spcPts val="0"/>
              </a:spcAft>
              <a:buClr>
                <a:schemeClr val="dk1"/>
              </a:buClr>
              <a:buSzPts val="2800"/>
              <a:buNone/>
            </a:pPr>
            <a:r>
              <a:rPr lang="en-US"/>
              <a:t>                  </a:t>
            </a:r>
            <a:endParaRPr/>
          </a:p>
        </p:txBody>
      </p:sp>
      <p:pic>
        <p:nvPicPr>
          <p:cNvPr id="184" name="Google Shape;184;p27" descr="De Morgan Theorem 1"/>
          <p:cNvPicPr preferRelativeResize="0"/>
          <p:nvPr/>
        </p:nvPicPr>
        <p:blipFill rotWithShape="1">
          <a:blip r:embed="rId3">
            <a:alphaModFix/>
          </a:blip>
          <a:srcRect/>
          <a:stretch/>
        </p:blipFill>
        <p:spPr>
          <a:xfrm>
            <a:off x="1631504" y="1844824"/>
            <a:ext cx="2160240" cy="93610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8"/>
          <p:cNvSpPr txBox="1">
            <a:spLocks noGrp="1"/>
          </p:cNvSpPr>
          <p:nvPr>
            <p:ph type="title"/>
          </p:nvPr>
        </p:nvSpPr>
        <p:spPr>
          <a:xfrm>
            <a:off x="838200" y="365125"/>
            <a:ext cx="10515600" cy="83162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                    </a:t>
            </a:r>
            <a:r>
              <a:rPr lang="en-US">
                <a:solidFill>
                  <a:srgbClr val="C00000"/>
                </a:solidFill>
              </a:rPr>
              <a:t>Theorem1 – Logic diagram</a:t>
            </a:r>
            <a:endParaRPr>
              <a:solidFill>
                <a:srgbClr val="C00000"/>
              </a:solidFill>
            </a:endParaRPr>
          </a:p>
        </p:txBody>
      </p:sp>
      <p:pic>
        <p:nvPicPr>
          <p:cNvPr id="190" name="Google Shape;190;p28" descr="De Morgan Theorem 1 Diagram"/>
          <p:cNvPicPr preferRelativeResize="0">
            <a:picLocks noGrp="1"/>
          </p:cNvPicPr>
          <p:nvPr>
            <p:ph type="body" idx="1"/>
          </p:nvPr>
        </p:nvPicPr>
        <p:blipFill rotWithShape="1">
          <a:blip r:embed="rId3">
            <a:alphaModFix/>
          </a:blip>
          <a:srcRect/>
          <a:stretch/>
        </p:blipFill>
        <p:spPr>
          <a:xfrm>
            <a:off x="2639616" y="1484784"/>
            <a:ext cx="6408711" cy="403244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2000"/>
              <a:buFont typeface="Times New Roman"/>
              <a:buNone/>
            </a:pPr>
            <a:r>
              <a:rPr lang="en-US" sz="2000" b="0" i="0">
                <a:solidFill>
                  <a:srgbClr val="000000"/>
                </a:solidFill>
                <a:latin typeface="Times New Roman"/>
                <a:ea typeface="Times New Roman"/>
                <a:cs typeface="Times New Roman"/>
                <a:sym typeface="Times New Roman"/>
              </a:rPr>
              <a:t>                      Table showing verification of the De Morgan's first theorem </a:t>
            </a:r>
            <a:endParaRPr/>
          </a:p>
        </p:txBody>
      </p:sp>
      <p:pic>
        <p:nvPicPr>
          <p:cNvPr id="196" name="Google Shape;196;p29" descr="De Morgan Theorem 1 Verification Table"/>
          <p:cNvPicPr preferRelativeResize="0">
            <a:picLocks noGrp="1"/>
          </p:cNvPicPr>
          <p:nvPr>
            <p:ph type="body" idx="1"/>
          </p:nvPr>
        </p:nvPicPr>
        <p:blipFill rotWithShape="1">
          <a:blip r:embed="rId3">
            <a:alphaModFix/>
          </a:blip>
          <a:srcRect/>
          <a:stretch/>
        </p:blipFill>
        <p:spPr>
          <a:xfrm>
            <a:off x="1847528" y="1916832"/>
            <a:ext cx="6984776" cy="432048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0"/>
          <p:cNvSpPr txBox="1">
            <a:spLocks noGrp="1"/>
          </p:cNvSpPr>
          <p:nvPr>
            <p:ph type="title"/>
          </p:nvPr>
        </p:nvSpPr>
        <p:spPr>
          <a:xfrm>
            <a:off x="838200" y="365125"/>
            <a:ext cx="10515600" cy="7596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                       </a:t>
            </a:r>
            <a:r>
              <a:rPr lang="en-US">
                <a:solidFill>
                  <a:srgbClr val="C00000"/>
                </a:solidFill>
              </a:rPr>
              <a:t>Theorem 2</a:t>
            </a:r>
            <a:endParaRPr>
              <a:solidFill>
                <a:srgbClr val="C00000"/>
              </a:solidFill>
            </a:endParaRPr>
          </a:p>
        </p:txBody>
      </p:sp>
      <p:pic>
        <p:nvPicPr>
          <p:cNvPr id="202" name="Google Shape;202;p30" descr="De Morgan Theorem 2"/>
          <p:cNvPicPr preferRelativeResize="0">
            <a:picLocks noGrp="1"/>
          </p:cNvPicPr>
          <p:nvPr>
            <p:ph type="body" idx="1"/>
          </p:nvPr>
        </p:nvPicPr>
        <p:blipFill rotWithShape="1">
          <a:blip r:embed="rId3">
            <a:alphaModFix/>
          </a:blip>
          <a:srcRect/>
          <a:stretch/>
        </p:blipFill>
        <p:spPr>
          <a:xfrm>
            <a:off x="1775521" y="1340768"/>
            <a:ext cx="2664295" cy="1152127"/>
          </a:xfrm>
          <a:prstGeom prst="rect">
            <a:avLst/>
          </a:prstGeom>
          <a:noFill/>
          <a:ln>
            <a:noFill/>
          </a:ln>
        </p:spPr>
      </p:pic>
      <p:sp>
        <p:nvSpPr>
          <p:cNvPr id="203" name="Google Shape;203;p30"/>
          <p:cNvSpPr txBox="1"/>
          <p:nvPr/>
        </p:nvSpPr>
        <p:spPr>
          <a:xfrm>
            <a:off x="911424" y="2551837"/>
            <a:ext cx="8232576" cy="2123658"/>
          </a:xfrm>
          <a:prstGeom prst="rect">
            <a:avLst/>
          </a:prstGeom>
          <a:noFill/>
          <a:ln>
            <a:noFill/>
          </a:ln>
        </p:spPr>
        <p:txBody>
          <a:bodyPr spcFirstLastPara="1" wrap="square" lIns="91425" tIns="45700" rIns="91425" bIns="45700" anchor="t" anchorCtr="0">
            <a:spAutoFit/>
          </a:bodyPr>
          <a:lstStyle/>
          <a:p>
            <a:pPr marL="0" marR="0" lvl="0" indent="-152400" algn="just" rtl="0">
              <a:spcBef>
                <a:spcPts val="0"/>
              </a:spcBef>
              <a:spcAft>
                <a:spcPts val="0"/>
              </a:spcAft>
              <a:buClr>
                <a:srgbClr val="000000"/>
              </a:buClr>
              <a:buSzPts val="2400"/>
              <a:buFont typeface="Arial"/>
              <a:buChar char="•"/>
            </a:pPr>
            <a:r>
              <a:rPr lang="en-US" sz="2400" b="0" i="0">
                <a:solidFill>
                  <a:srgbClr val="000000"/>
                </a:solidFill>
                <a:latin typeface="Times New Roman"/>
                <a:ea typeface="Times New Roman"/>
                <a:cs typeface="Times New Roman"/>
                <a:sym typeface="Times New Roman"/>
              </a:rPr>
              <a:t> The LHS of this theorem represents a NOR gate with inputs A and B, whereas the RHS represents an AND gate with inverted inputs.</a:t>
            </a:r>
            <a:endParaRPr/>
          </a:p>
          <a:p>
            <a:pPr marL="0" marR="0" lvl="0" indent="-152400" algn="just" rtl="0">
              <a:spcBef>
                <a:spcPts val="0"/>
              </a:spcBef>
              <a:spcAft>
                <a:spcPts val="0"/>
              </a:spcAft>
              <a:buClr>
                <a:srgbClr val="000000"/>
              </a:buClr>
              <a:buSzPts val="2400"/>
              <a:buFont typeface="Arial"/>
              <a:buChar char="•"/>
            </a:pPr>
            <a:r>
              <a:rPr lang="en-US" sz="2400" b="0" i="0">
                <a:solidFill>
                  <a:srgbClr val="000000"/>
                </a:solidFill>
                <a:latin typeface="Times New Roman"/>
                <a:ea typeface="Times New Roman"/>
                <a:cs typeface="Times New Roman"/>
                <a:sym typeface="Times New Roman"/>
              </a:rPr>
              <a:t> This AND gate is called as </a:t>
            </a:r>
            <a:r>
              <a:rPr lang="en-US" sz="2400" b="1" i="0">
                <a:solidFill>
                  <a:srgbClr val="000000"/>
                </a:solidFill>
                <a:latin typeface="Times New Roman"/>
                <a:ea typeface="Times New Roman"/>
                <a:cs typeface="Times New Roman"/>
                <a:sym typeface="Times New Roman"/>
              </a:rPr>
              <a:t>Bubbled AND</a:t>
            </a:r>
            <a:r>
              <a:rPr lang="en-US" sz="1800" b="0" i="0">
                <a:solidFill>
                  <a:srgbClr val="000000"/>
                </a:solidFill>
                <a:latin typeface="Nunito"/>
                <a:ea typeface="Nunito"/>
                <a:cs typeface="Nunito"/>
                <a:sym typeface="Nunito"/>
              </a:rPr>
              <a:t>.</a:t>
            </a:r>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1"/>
          <p:cNvSpPr txBox="1">
            <a:spLocks noGrp="1"/>
          </p:cNvSpPr>
          <p:nvPr>
            <p:ph type="title"/>
          </p:nvPr>
        </p:nvSpPr>
        <p:spPr>
          <a:xfrm>
            <a:off x="838200" y="365125"/>
            <a:ext cx="10515600" cy="903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                     </a:t>
            </a:r>
            <a:r>
              <a:rPr lang="en-US">
                <a:solidFill>
                  <a:srgbClr val="C00000"/>
                </a:solidFill>
              </a:rPr>
              <a:t>Theorem 2- Logic diagram</a:t>
            </a:r>
            <a:endParaRPr>
              <a:solidFill>
                <a:srgbClr val="C00000"/>
              </a:solidFill>
            </a:endParaRPr>
          </a:p>
        </p:txBody>
      </p:sp>
      <p:pic>
        <p:nvPicPr>
          <p:cNvPr id="209" name="Google Shape;209;p31" descr="De Morgan Theorem 2 Diagram"/>
          <p:cNvPicPr preferRelativeResize="0">
            <a:picLocks noGrp="1"/>
          </p:cNvPicPr>
          <p:nvPr>
            <p:ph type="body" idx="1"/>
          </p:nvPr>
        </p:nvPicPr>
        <p:blipFill rotWithShape="1">
          <a:blip r:embed="rId3">
            <a:alphaModFix/>
          </a:blip>
          <a:srcRect/>
          <a:stretch/>
        </p:blipFill>
        <p:spPr>
          <a:xfrm>
            <a:off x="2855641" y="1916832"/>
            <a:ext cx="5245372" cy="410445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0000"/>
              </a:buClr>
              <a:buSzPct val="100000"/>
              <a:buFont typeface="Times New Roman"/>
              <a:buNone/>
            </a:pPr>
            <a:br>
              <a:rPr lang="en-US" sz="2800" b="0" i="0">
                <a:solidFill>
                  <a:srgbClr val="000000"/>
                </a:solidFill>
                <a:latin typeface="Times New Roman"/>
                <a:ea typeface="Times New Roman"/>
                <a:cs typeface="Times New Roman"/>
                <a:sym typeface="Times New Roman"/>
              </a:rPr>
            </a:br>
            <a:br>
              <a:rPr lang="en-US" sz="2800" b="0" i="0">
                <a:solidFill>
                  <a:srgbClr val="000000"/>
                </a:solidFill>
                <a:latin typeface="Times New Roman"/>
                <a:ea typeface="Times New Roman"/>
                <a:cs typeface="Times New Roman"/>
                <a:sym typeface="Times New Roman"/>
              </a:rPr>
            </a:br>
            <a:br>
              <a:rPr lang="en-US" sz="2800" b="0" i="0">
                <a:solidFill>
                  <a:srgbClr val="000000"/>
                </a:solidFill>
                <a:latin typeface="Times New Roman"/>
                <a:ea typeface="Times New Roman"/>
                <a:cs typeface="Times New Roman"/>
                <a:sym typeface="Times New Roman"/>
              </a:rPr>
            </a:br>
            <a:br>
              <a:rPr lang="en-US" sz="2800" b="0" i="0">
                <a:solidFill>
                  <a:srgbClr val="000000"/>
                </a:solidFill>
                <a:latin typeface="Times New Roman"/>
                <a:ea typeface="Times New Roman"/>
                <a:cs typeface="Times New Roman"/>
                <a:sym typeface="Times New Roman"/>
              </a:rPr>
            </a:br>
            <a:r>
              <a:rPr lang="en-US" sz="2800" b="0" i="0">
                <a:solidFill>
                  <a:srgbClr val="000000"/>
                </a:solidFill>
                <a:latin typeface="Times New Roman"/>
                <a:ea typeface="Times New Roman"/>
                <a:cs typeface="Times New Roman"/>
                <a:sym typeface="Times New Roman"/>
              </a:rPr>
              <a:t>Table showing verification of the De Morgan's second theorem </a:t>
            </a:r>
            <a:br>
              <a:rPr lang="en-US" sz="2800" b="0" i="0">
                <a:solidFill>
                  <a:srgbClr val="000000"/>
                </a:solidFill>
                <a:latin typeface="Times New Roman"/>
                <a:ea typeface="Times New Roman"/>
                <a:cs typeface="Times New Roman"/>
                <a:sym typeface="Times New Roman"/>
              </a:rPr>
            </a:br>
            <a:br>
              <a:rPr lang="en-US" sz="2800">
                <a:latin typeface="Times New Roman"/>
                <a:ea typeface="Times New Roman"/>
                <a:cs typeface="Times New Roman"/>
                <a:sym typeface="Times New Roman"/>
              </a:rPr>
            </a:br>
            <a:endParaRPr sz="2800">
              <a:latin typeface="Times New Roman"/>
              <a:ea typeface="Times New Roman"/>
              <a:cs typeface="Times New Roman"/>
              <a:sym typeface="Times New Roman"/>
            </a:endParaRPr>
          </a:p>
        </p:txBody>
      </p:sp>
      <p:pic>
        <p:nvPicPr>
          <p:cNvPr id="215" name="Google Shape;215;p32" descr="De Morgan Theorem 2 Verification Table"/>
          <p:cNvPicPr preferRelativeResize="0">
            <a:picLocks noGrp="1"/>
          </p:cNvPicPr>
          <p:nvPr>
            <p:ph type="body" idx="1"/>
          </p:nvPr>
        </p:nvPicPr>
        <p:blipFill rotWithShape="1">
          <a:blip r:embed="rId3">
            <a:alphaModFix/>
          </a:blip>
          <a:srcRect/>
          <a:stretch/>
        </p:blipFill>
        <p:spPr>
          <a:xfrm>
            <a:off x="2207568" y="2204864"/>
            <a:ext cx="5240982" cy="309634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n-US" sz="4000"/>
              <a:t>                    Applications of De Morgan’s Theorem</a:t>
            </a:r>
            <a:endParaRPr sz="4000"/>
          </a:p>
        </p:txBody>
      </p:sp>
      <p:sp>
        <p:nvSpPr>
          <p:cNvPr id="221" name="Google Shape;221;p3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22222"/>
              </a:buClr>
              <a:buSzPts val="2400"/>
              <a:buFont typeface="Arial"/>
              <a:buChar char="•"/>
            </a:pPr>
            <a:r>
              <a:rPr lang="en-US" sz="2400" b="0" i="0">
                <a:solidFill>
                  <a:srgbClr val="222222"/>
                </a:solidFill>
                <a:latin typeface="Times New Roman"/>
                <a:ea typeface="Times New Roman"/>
                <a:cs typeface="Times New Roman"/>
                <a:sym typeface="Times New Roman"/>
              </a:rPr>
              <a:t>In the domain of engineering, using De Morgan’s laws, Boolean expressions can be built easily only through one gate which is usually NAND or NOR gates. This results in hardware design at a cheaper cost.</a:t>
            </a:r>
            <a:endParaRPr/>
          </a:p>
          <a:p>
            <a:pPr marL="228600" lvl="0" indent="-228600" algn="l" rtl="0">
              <a:lnSpc>
                <a:spcPct val="90000"/>
              </a:lnSpc>
              <a:spcBef>
                <a:spcPts val="1000"/>
              </a:spcBef>
              <a:spcAft>
                <a:spcPts val="0"/>
              </a:spcAft>
              <a:buClr>
                <a:srgbClr val="222222"/>
              </a:buClr>
              <a:buSzPts val="2400"/>
              <a:buFont typeface="Arial"/>
              <a:buChar char="•"/>
            </a:pPr>
            <a:r>
              <a:rPr lang="en-US" sz="2400" b="0" i="0">
                <a:solidFill>
                  <a:srgbClr val="222222"/>
                </a:solidFill>
                <a:latin typeface="Times New Roman"/>
                <a:ea typeface="Times New Roman"/>
                <a:cs typeface="Times New Roman"/>
                <a:sym typeface="Times New Roman"/>
              </a:rPr>
              <a:t>Used in the verification of SAS code.</a:t>
            </a:r>
            <a:endParaRPr/>
          </a:p>
          <a:p>
            <a:pPr marL="228600" lvl="0" indent="-228600" algn="l" rtl="0">
              <a:lnSpc>
                <a:spcPct val="90000"/>
              </a:lnSpc>
              <a:spcBef>
                <a:spcPts val="1000"/>
              </a:spcBef>
              <a:spcAft>
                <a:spcPts val="0"/>
              </a:spcAft>
              <a:buClr>
                <a:srgbClr val="222222"/>
              </a:buClr>
              <a:buSzPts val="2400"/>
              <a:buFont typeface="Arial"/>
              <a:buChar char="•"/>
            </a:pPr>
            <a:r>
              <a:rPr lang="en-US" sz="2400" b="0" i="0">
                <a:solidFill>
                  <a:srgbClr val="222222"/>
                </a:solidFill>
                <a:latin typeface="Times New Roman"/>
                <a:ea typeface="Times New Roman"/>
                <a:cs typeface="Times New Roman"/>
                <a:sym typeface="Times New Roman"/>
              </a:rPr>
              <a:t>Implemented in computer and  elec</a:t>
            </a:r>
            <a:r>
              <a:rPr lang="en-US" sz="2400" b="0" i="0" u="sng">
                <a:solidFill>
                  <a:schemeClr val="hlink"/>
                </a:solidFill>
                <a:latin typeface="Times New Roman"/>
                <a:ea typeface="Times New Roman"/>
                <a:cs typeface="Times New Roman"/>
                <a:sym typeface="Times New Roman"/>
                <a:hlinkClick r:id="rId3"/>
              </a:rPr>
              <a:t>t</a:t>
            </a:r>
            <a:r>
              <a:rPr lang="en-US" sz="2400" b="0" i="0">
                <a:solidFill>
                  <a:srgbClr val="222222"/>
                </a:solidFill>
                <a:latin typeface="Times New Roman"/>
                <a:ea typeface="Times New Roman"/>
                <a:cs typeface="Times New Roman"/>
                <a:sym typeface="Times New Roman"/>
              </a:rPr>
              <a:t>rical engineering domain.</a:t>
            </a:r>
            <a:endParaRPr sz="2400" b="0" i="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rgbClr val="222222"/>
              </a:buClr>
              <a:buSzPts val="2400"/>
              <a:buFont typeface="Arial"/>
              <a:buChar char="•"/>
            </a:pPr>
            <a:r>
              <a:rPr lang="en-US" sz="2400" b="0" i="0">
                <a:solidFill>
                  <a:srgbClr val="222222"/>
                </a:solidFill>
                <a:latin typeface="Times New Roman"/>
                <a:ea typeface="Times New Roman"/>
                <a:cs typeface="Times New Roman"/>
                <a:sym typeface="Times New Roman"/>
              </a:rPr>
              <a:t>De Morgan’s laws are also employed in Java programming</a:t>
            </a:r>
            <a:r>
              <a:rPr lang="en-US" b="0" i="0">
                <a:solidFill>
                  <a:srgbClr val="222222"/>
                </a:solidFill>
                <a:latin typeface="Roboto"/>
                <a:ea typeface="Roboto"/>
                <a:cs typeface="Roboto"/>
                <a:sym typeface="Roboto"/>
              </a:rPr>
              <a:t>.</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Ripple  Carry Adder</a:t>
            </a:r>
            <a:br>
              <a:rPr lang="en-US"/>
            </a:br>
            <a:endParaRPr/>
          </a:p>
        </p:txBody>
      </p:sp>
      <p:sp>
        <p:nvSpPr>
          <p:cNvPr id="227" name="Google Shape;227;p34"/>
          <p:cNvSpPr txBox="1">
            <a:spLocks noGrp="1"/>
          </p:cNvSpPr>
          <p:nvPr>
            <p:ph type="body" idx="1"/>
          </p:nvPr>
        </p:nvSpPr>
        <p:spPr>
          <a:xfrm>
            <a:off x="2057400" y="1143001"/>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90000"/>
              </a:lnSpc>
              <a:spcBef>
                <a:spcPts val="0"/>
              </a:spcBef>
              <a:spcAft>
                <a:spcPts val="0"/>
              </a:spcAft>
              <a:buClr>
                <a:schemeClr val="dk1"/>
              </a:buClr>
              <a:buSzPct val="100000"/>
              <a:buNone/>
            </a:pPr>
            <a:r>
              <a:rPr lang="en-US" sz="3000">
                <a:latin typeface="Times New Roman"/>
                <a:ea typeface="Times New Roman"/>
                <a:cs typeface="Times New Roman"/>
                <a:sym typeface="Times New Roman"/>
              </a:rPr>
              <a:t>Typical Ripple Carry Addition is a Serial Process:</a:t>
            </a:r>
            <a:endParaRPr/>
          </a:p>
          <a:p>
            <a:pPr marL="228600" lvl="0" indent="-228600" algn="just" rtl="0">
              <a:lnSpc>
                <a:spcPct val="90000"/>
              </a:lnSpc>
              <a:spcBef>
                <a:spcPts val="1000"/>
              </a:spcBef>
              <a:spcAft>
                <a:spcPts val="0"/>
              </a:spcAft>
              <a:buClr>
                <a:schemeClr val="dk1"/>
              </a:buClr>
              <a:buSzPct val="100000"/>
              <a:buNone/>
            </a:pPr>
            <a:r>
              <a:rPr lang="en-US" sz="3000">
                <a:latin typeface="Times New Roman"/>
                <a:ea typeface="Times New Roman"/>
                <a:cs typeface="Times New Roman"/>
                <a:sym typeface="Times New Roman"/>
              </a:rPr>
              <a:t>• Addition starts by adding LSBs of the augend and addend.</a:t>
            </a:r>
            <a:endParaRPr/>
          </a:p>
          <a:p>
            <a:pPr marL="228600" lvl="0" indent="-228600" algn="just" rtl="0">
              <a:lnSpc>
                <a:spcPct val="90000"/>
              </a:lnSpc>
              <a:spcBef>
                <a:spcPts val="1000"/>
              </a:spcBef>
              <a:spcAft>
                <a:spcPts val="0"/>
              </a:spcAft>
              <a:buClr>
                <a:schemeClr val="dk1"/>
              </a:buClr>
              <a:buSzPct val="100000"/>
              <a:buChar char="•"/>
            </a:pPr>
            <a:r>
              <a:rPr lang="en-US" sz="3000">
                <a:latin typeface="Times New Roman"/>
                <a:ea typeface="Times New Roman"/>
                <a:cs typeface="Times New Roman"/>
                <a:sym typeface="Times New Roman"/>
              </a:rPr>
              <a:t>Then next position bits of augend and addend are added along with the carry (if any) from the preceding bit.</a:t>
            </a:r>
            <a:endParaRPr/>
          </a:p>
          <a:p>
            <a:pPr marL="228600" lvl="0" indent="-228600" algn="just" rtl="0">
              <a:lnSpc>
                <a:spcPct val="90000"/>
              </a:lnSpc>
              <a:spcBef>
                <a:spcPts val="1000"/>
              </a:spcBef>
              <a:spcAft>
                <a:spcPts val="0"/>
              </a:spcAft>
              <a:buClr>
                <a:schemeClr val="dk1"/>
              </a:buClr>
              <a:buSzPct val="100000"/>
              <a:buChar char="•"/>
            </a:pPr>
            <a:r>
              <a:rPr lang="en-US" sz="3000">
                <a:latin typeface="Times New Roman"/>
                <a:ea typeface="Times New Roman"/>
                <a:cs typeface="Times New Roman"/>
                <a:sym typeface="Times New Roman"/>
              </a:rPr>
              <a:t>This process is repeated until the addition of MSBs is completed.</a:t>
            </a:r>
            <a:endParaRPr/>
          </a:p>
          <a:p>
            <a:pPr marL="228600" lvl="0" indent="-228600" algn="l" rtl="0">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Speed of a ripple adder is limited due to carry propagation or carry ripple.</a:t>
            </a:r>
            <a:endParaRPr/>
          </a:p>
          <a:p>
            <a:pPr marL="228600" lvl="0" indent="-228600" algn="l" rtl="0">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Sum of MSB depends on the carry generated by LSB.</a:t>
            </a:r>
            <a:endParaRPr/>
          </a:p>
          <a:p>
            <a:pPr marL="228600" lvl="0" indent="-52387" algn="just" rtl="0">
              <a:lnSpc>
                <a:spcPct val="90000"/>
              </a:lnSpc>
              <a:spcBef>
                <a:spcPts val="1000"/>
              </a:spcBef>
              <a:spcAft>
                <a:spcPts val="0"/>
              </a:spcAft>
              <a:buClr>
                <a:schemeClr val="dk1"/>
              </a:buClr>
              <a:buSzPct val="100000"/>
              <a:buNone/>
            </a:pPr>
            <a:endParaRPr sz="3000">
              <a:latin typeface="Times New Roman"/>
              <a:ea typeface="Times New Roman"/>
              <a:cs typeface="Times New Roman"/>
              <a:sym typeface="Times New Roman"/>
            </a:endParaRPr>
          </a:p>
          <a:p>
            <a:pPr marL="228600" lvl="0" indent="-64135" algn="l" rtl="0">
              <a:lnSpc>
                <a:spcPct val="90000"/>
              </a:lnSpc>
              <a:spcBef>
                <a:spcPts val="1000"/>
              </a:spcBef>
              <a:spcAft>
                <a:spcPts val="0"/>
              </a:spcAft>
              <a:buClr>
                <a:schemeClr val="dk1"/>
              </a:buClr>
              <a:buSzPct val="100000"/>
              <a:buNone/>
            </a:pPr>
            <a:endParaRPr/>
          </a:p>
        </p:txBody>
      </p:sp>
      <p:pic>
        <p:nvPicPr>
          <p:cNvPr id="228" name="Google Shape;228;p34"/>
          <p:cNvPicPr preferRelativeResize="0"/>
          <p:nvPr/>
        </p:nvPicPr>
        <p:blipFill rotWithShape="1">
          <a:blip r:embed="rId3">
            <a:alphaModFix/>
          </a:blip>
          <a:srcRect/>
          <a:stretch/>
        </p:blipFill>
        <p:spPr>
          <a:xfrm>
            <a:off x="9296400" y="228600"/>
            <a:ext cx="1066800" cy="99822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Ripple  Carry Adder</a:t>
            </a:r>
            <a:br>
              <a:rPr lang="en-US"/>
            </a:br>
            <a:endParaRPr/>
          </a:p>
        </p:txBody>
      </p:sp>
      <p:sp>
        <p:nvSpPr>
          <p:cNvPr id="234" name="Google Shape;234;p35"/>
          <p:cNvSpPr txBox="1">
            <a:spLocks noGrp="1"/>
          </p:cNvSpPr>
          <p:nvPr>
            <p:ph type="body" idx="1"/>
          </p:nvPr>
        </p:nvSpPr>
        <p:spPr>
          <a:xfrm>
            <a:off x="2057400" y="1143001"/>
            <a:ext cx="8229600" cy="4525963"/>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3000"/>
              <a:buNone/>
            </a:pPr>
            <a:r>
              <a:rPr lang="en-US" sz="3000">
                <a:latin typeface="Times New Roman"/>
                <a:ea typeface="Times New Roman"/>
                <a:cs typeface="Times New Roman"/>
                <a:sym typeface="Times New Roman"/>
              </a:rPr>
              <a:t>Example: </a:t>
            </a:r>
            <a:r>
              <a:rPr lang="en-US">
                <a:latin typeface="Times New Roman"/>
                <a:ea typeface="Times New Roman"/>
                <a:cs typeface="Times New Roman"/>
                <a:sym typeface="Times New Roman"/>
              </a:rPr>
              <a:t>4-bit Carry Ripple Adder</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Assume to add two operands A and B where </a:t>
            </a:r>
            <a:endParaRPr/>
          </a:p>
          <a:p>
            <a:pPr marL="228600" lvl="0" indent="-22860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A = A3 A2 A1 A0 </a:t>
            </a:r>
            <a:endParaRPr/>
          </a:p>
          <a:p>
            <a:pPr marL="228600" lvl="0" indent="-22860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B = B3 B2 B1 B0</a:t>
            </a:r>
            <a:endParaRPr/>
          </a:p>
          <a:p>
            <a:pPr marL="228600" lvl="0" indent="-22860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A=   1    0    1    1 + </a:t>
            </a:r>
            <a:endParaRPr/>
          </a:p>
          <a:p>
            <a:pPr marL="228600" lvl="0" indent="-22860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B =  1    1     0   1</a:t>
            </a:r>
            <a:endParaRPr/>
          </a:p>
          <a:p>
            <a:pPr marL="228600" lvl="0" indent="-22860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a:t>
            </a:r>
            <a:endParaRPr/>
          </a:p>
          <a:p>
            <a:pPr marL="228600" lvl="0" indent="-22860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A+B=1 1    0     0    0  </a:t>
            </a:r>
            <a:endParaRPr/>
          </a:p>
          <a:p>
            <a:pPr marL="228600" lvl="0" indent="-22860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Cout   S3  S2   S1  S0</a:t>
            </a:r>
            <a:endParaRPr/>
          </a:p>
          <a:p>
            <a:pPr marL="228600" lvl="0" indent="-228600" algn="just" rtl="0">
              <a:lnSpc>
                <a:spcPct val="90000"/>
              </a:lnSpc>
              <a:spcBef>
                <a:spcPts val="1000"/>
              </a:spcBef>
              <a:spcAft>
                <a:spcPts val="0"/>
              </a:spcAft>
              <a:buClr>
                <a:schemeClr val="dk1"/>
              </a:buClr>
              <a:buSzPts val="3000"/>
              <a:buNone/>
            </a:pPr>
            <a:endParaRPr sz="3000">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a:p>
        </p:txBody>
      </p:sp>
      <p:pic>
        <p:nvPicPr>
          <p:cNvPr id="235" name="Google Shape;235;p35"/>
          <p:cNvPicPr preferRelativeResize="0"/>
          <p:nvPr/>
        </p:nvPicPr>
        <p:blipFill rotWithShape="1">
          <a:blip r:embed="rId3">
            <a:alphaModFix/>
          </a:blip>
          <a:srcRect/>
          <a:stretch/>
        </p:blipFill>
        <p:spPr>
          <a:xfrm>
            <a:off x="9296400" y="228600"/>
            <a:ext cx="1066800" cy="99822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Ripple  Carry Adder</a:t>
            </a:r>
            <a:br>
              <a:rPr lang="en-US"/>
            </a:br>
            <a:endParaRPr/>
          </a:p>
        </p:txBody>
      </p:sp>
      <p:sp>
        <p:nvSpPr>
          <p:cNvPr id="241" name="Google Shape;241;p36"/>
          <p:cNvSpPr txBox="1">
            <a:spLocks noGrp="1"/>
          </p:cNvSpPr>
          <p:nvPr>
            <p:ph type="body" idx="1"/>
          </p:nvPr>
        </p:nvSpPr>
        <p:spPr>
          <a:xfrm>
            <a:off x="2057400" y="1143001"/>
            <a:ext cx="8229600" cy="45259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pPr>
            <a:r>
              <a:rPr lang="en-US" b="1"/>
              <a:t>Carry Propagation</a:t>
            </a:r>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	From the above example it can be seen that we are adding 3 bits at a time sequentially until all bits are added. </a:t>
            </a:r>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	A full adder is a combinational circuit that performs the  arithmetic sum of three input bits: augends Ai, addend Bi and carry in  Cin from the  previous adder. </a:t>
            </a:r>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	Its result contain the sum Si and the carry out, Cout to the next stage. </a:t>
            </a:r>
            <a:endParaRPr/>
          </a:p>
          <a:p>
            <a:pPr marL="228600" lvl="0" indent="-228600" algn="l" rtl="0">
              <a:lnSpc>
                <a:spcPct val="90000"/>
              </a:lnSpc>
              <a:spcBef>
                <a:spcPts val="1000"/>
              </a:spcBef>
              <a:spcAft>
                <a:spcPts val="0"/>
              </a:spcAft>
              <a:buClr>
                <a:schemeClr val="dk1"/>
              </a:buClr>
              <a:buSzPts val="2800"/>
              <a:buNone/>
            </a:pPr>
            <a:endParaRPr/>
          </a:p>
        </p:txBody>
      </p:sp>
      <p:pic>
        <p:nvPicPr>
          <p:cNvPr id="242" name="Google Shape;242;p36"/>
          <p:cNvPicPr preferRelativeResize="0"/>
          <p:nvPr/>
        </p:nvPicPr>
        <p:blipFill rotWithShape="1">
          <a:blip r:embed="rId3">
            <a:alphaModFix/>
          </a:blip>
          <a:srcRect/>
          <a:stretch/>
        </p:blipFill>
        <p:spPr>
          <a:xfrm>
            <a:off x="9296400" y="228600"/>
            <a:ext cx="1066800" cy="99822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248" name="Google Shape;248;p37"/>
          <p:cNvPicPr preferRelativeResize="0">
            <a:picLocks noGrp="1"/>
          </p:cNvPicPr>
          <p:nvPr>
            <p:ph type="body" idx="1"/>
          </p:nvPr>
        </p:nvPicPr>
        <p:blipFill rotWithShape="1">
          <a:blip r:embed="rId3">
            <a:alphaModFix/>
          </a:blip>
          <a:srcRect/>
          <a:stretch/>
        </p:blipFill>
        <p:spPr>
          <a:xfrm>
            <a:off x="2362200" y="1676400"/>
            <a:ext cx="7315200" cy="3733800"/>
          </a:xfrm>
          <a:prstGeom prst="rect">
            <a:avLst/>
          </a:prstGeom>
          <a:noFill/>
          <a:ln>
            <a:noFill/>
          </a:ln>
        </p:spPr>
      </p:pic>
      <p:pic>
        <p:nvPicPr>
          <p:cNvPr id="249" name="Google Shape;249;p37"/>
          <p:cNvPicPr preferRelativeResize="0"/>
          <p:nvPr/>
        </p:nvPicPr>
        <p:blipFill rotWithShape="1">
          <a:blip r:embed="rId4">
            <a:alphaModFix/>
          </a:blip>
          <a:srcRect/>
          <a:stretch/>
        </p:blipFill>
        <p:spPr>
          <a:xfrm>
            <a:off x="9296400" y="228600"/>
            <a:ext cx="1066800" cy="99822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example</a:t>
            </a:r>
            <a:endParaRPr/>
          </a:p>
        </p:txBody>
      </p:sp>
      <p:pic>
        <p:nvPicPr>
          <p:cNvPr id="255" name="Google Shape;255;p38" descr="CamScanner 07-27-2020 19.54.32_8.jpg"/>
          <p:cNvPicPr preferRelativeResize="0">
            <a:picLocks noGrp="1"/>
          </p:cNvPicPr>
          <p:nvPr>
            <p:ph type="body" idx="1"/>
          </p:nvPr>
        </p:nvPicPr>
        <p:blipFill rotWithShape="1">
          <a:blip r:embed="rId3">
            <a:alphaModFix/>
          </a:blip>
          <a:srcRect/>
          <a:stretch/>
        </p:blipFill>
        <p:spPr>
          <a:xfrm>
            <a:off x="2209801" y="1219200"/>
            <a:ext cx="7924799" cy="5257800"/>
          </a:xfrm>
          <a:prstGeom prst="rect">
            <a:avLst/>
          </a:prstGeom>
          <a:noFill/>
          <a:ln>
            <a:noFill/>
          </a:ln>
        </p:spPr>
      </p:pic>
      <p:pic>
        <p:nvPicPr>
          <p:cNvPr id="256" name="Google Shape;256;p38"/>
          <p:cNvPicPr preferRelativeResize="0"/>
          <p:nvPr/>
        </p:nvPicPr>
        <p:blipFill rotWithShape="1">
          <a:blip r:embed="rId4">
            <a:alphaModFix/>
          </a:blip>
          <a:srcRect/>
          <a:stretch/>
        </p:blipFill>
        <p:spPr>
          <a:xfrm>
            <a:off x="9296400" y="228600"/>
            <a:ext cx="1066800" cy="99822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Ripple  Carry Adder</a:t>
            </a:r>
            <a:br>
              <a:rPr lang="en-US"/>
            </a:br>
            <a:endParaRPr/>
          </a:p>
        </p:txBody>
      </p:sp>
      <p:sp>
        <p:nvSpPr>
          <p:cNvPr id="262" name="Google Shape;262;p39"/>
          <p:cNvSpPr txBox="1">
            <a:spLocks noGrp="1"/>
          </p:cNvSpPr>
          <p:nvPr>
            <p:ph type="body" idx="1"/>
          </p:nvPr>
        </p:nvSpPr>
        <p:spPr>
          <a:xfrm>
            <a:off x="2057400" y="1143001"/>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None/>
            </a:pPr>
            <a:r>
              <a:rPr lang="en-US" b="1"/>
              <a:t>4-bit Adder</a:t>
            </a:r>
            <a:endParaRPr/>
          </a:p>
          <a:p>
            <a:pPr marL="228600" lvl="0" indent="-228600" algn="just" rtl="0">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	A 4-bit adder circuit can be designed by first designing the 1-bit full adder and then connecting the four 1-bit full adders to get the 4-bit adder as shown in the diagram above.  </a:t>
            </a:r>
            <a:endParaRPr/>
          </a:p>
          <a:p>
            <a:pPr marL="228600" lvl="0" indent="-228600" algn="just" rtl="0">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	For the 1-bit full adder, the design begins by drawing the Truth Table for the three input  and the corresponding output SUM and CARRY. </a:t>
            </a:r>
            <a:endParaRPr/>
          </a:p>
          <a:p>
            <a:pPr marL="228600" lvl="0" indent="-228600" algn="just" rtl="0">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	The Boolean Expression describing the  binary adder circuit is then deduced. </a:t>
            </a:r>
            <a:endParaRPr/>
          </a:p>
          <a:p>
            <a:pPr marL="228600" lvl="0" indent="-228600" algn="just" rtl="0">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	The binary full adder is a three input combinational circuit which satisfies the truth table given below.</a:t>
            </a:r>
            <a:endParaRPr/>
          </a:p>
          <a:p>
            <a:pPr marL="228600" lvl="0" indent="-228600" algn="l" rtl="0">
              <a:lnSpc>
                <a:spcPct val="90000"/>
              </a:lnSpc>
              <a:spcBef>
                <a:spcPts val="1000"/>
              </a:spcBef>
              <a:spcAft>
                <a:spcPts val="0"/>
              </a:spcAft>
              <a:buClr>
                <a:schemeClr val="dk1"/>
              </a:buClr>
              <a:buSzPct val="100000"/>
              <a:buNone/>
            </a:pPr>
            <a:endParaRPr/>
          </a:p>
        </p:txBody>
      </p:sp>
      <p:pic>
        <p:nvPicPr>
          <p:cNvPr id="263" name="Google Shape;263;p39"/>
          <p:cNvPicPr preferRelativeResize="0"/>
          <p:nvPr/>
        </p:nvPicPr>
        <p:blipFill rotWithShape="1">
          <a:blip r:embed="rId3">
            <a:alphaModFix/>
          </a:blip>
          <a:srcRect/>
          <a:stretch/>
        </p:blipFill>
        <p:spPr>
          <a:xfrm>
            <a:off x="9296400" y="228600"/>
            <a:ext cx="1066800" cy="99822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Ripple  Carry Adder</a:t>
            </a:r>
            <a:br>
              <a:rPr lang="en-US"/>
            </a:br>
            <a:endParaRPr/>
          </a:p>
        </p:txBody>
      </p:sp>
      <p:sp>
        <p:nvSpPr>
          <p:cNvPr id="269" name="Google Shape;269;p40"/>
          <p:cNvSpPr txBox="1">
            <a:spLocks noGrp="1"/>
          </p:cNvSpPr>
          <p:nvPr>
            <p:ph type="body" idx="1"/>
          </p:nvPr>
        </p:nvSpPr>
        <p:spPr>
          <a:xfrm>
            <a:off x="2057400" y="1143001"/>
            <a:ext cx="8229600" cy="5334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pPr>
            <a:r>
              <a:rPr lang="en-US" b="1"/>
              <a:t>Full Adder</a:t>
            </a:r>
            <a:endParaRPr/>
          </a:p>
          <a:p>
            <a:pPr marL="228600" lvl="0" indent="-228600" algn="just" rtl="0">
              <a:lnSpc>
                <a:spcPct val="90000"/>
              </a:lnSpc>
              <a:spcBef>
                <a:spcPts val="1000"/>
              </a:spcBef>
              <a:spcAft>
                <a:spcPts val="0"/>
              </a:spcAft>
              <a:buClr>
                <a:schemeClr val="dk1"/>
              </a:buClr>
              <a:buSzPts val="2800"/>
              <a:buNone/>
            </a:pPr>
            <a:endParaRPr/>
          </a:p>
        </p:txBody>
      </p:sp>
      <p:pic>
        <p:nvPicPr>
          <p:cNvPr id="270" name="Google Shape;270;p40"/>
          <p:cNvPicPr preferRelativeResize="0"/>
          <p:nvPr/>
        </p:nvPicPr>
        <p:blipFill rotWithShape="1">
          <a:blip r:embed="rId3">
            <a:alphaModFix/>
          </a:blip>
          <a:srcRect/>
          <a:stretch/>
        </p:blipFill>
        <p:spPr>
          <a:xfrm>
            <a:off x="9296400" y="228600"/>
            <a:ext cx="1066800" cy="998220"/>
          </a:xfrm>
          <a:prstGeom prst="rect">
            <a:avLst/>
          </a:prstGeom>
          <a:noFill/>
          <a:ln>
            <a:noFill/>
          </a:ln>
        </p:spPr>
      </p:pic>
      <p:pic>
        <p:nvPicPr>
          <p:cNvPr id="271" name="Google Shape;271;p40"/>
          <p:cNvPicPr preferRelativeResize="0"/>
          <p:nvPr/>
        </p:nvPicPr>
        <p:blipFill rotWithShape="1">
          <a:blip r:embed="rId4">
            <a:alphaModFix/>
          </a:blip>
          <a:srcRect/>
          <a:stretch/>
        </p:blipFill>
        <p:spPr>
          <a:xfrm>
            <a:off x="2514600" y="1752600"/>
            <a:ext cx="7162800" cy="47244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Ripple  Carry Adder</a:t>
            </a:r>
            <a:br>
              <a:rPr lang="en-US"/>
            </a:br>
            <a:endParaRPr/>
          </a:p>
        </p:txBody>
      </p:sp>
      <p:sp>
        <p:nvSpPr>
          <p:cNvPr id="277" name="Google Shape;277;p41"/>
          <p:cNvSpPr txBox="1">
            <a:spLocks noGrp="1"/>
          </p:cNvSpPr>
          <p:nvPr>
            <p:ph type="body" idx="1"/>
          </p:nvPr>
        </p:nvSpPr>
        <p:spPr>
          <a:xfrm>
            <a:off x="2057400" y="1143001"/>
            <a:ext cx="8229600" cy="5334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pPr>
            <a:r>
              <a:rPr lang="en-US" b="1"/>
              <a:t>4-bit Adder</a:t>
            </a:r>
            <a:endParaRPr/>
          </a:p>
          <a:p>
            <a:pPr marL="228600" lvl="0" indent="-228600" algn="just" rtl="0">
              <a:lnSpc>
                <a:spcPct val="90000"/>
              </a:lnSpc>
              <a:spcBef>
                <a:spcPts val="1000"/>
              </a:spcBef>
              <a:spcAft>
                <a:spcPts val="0"/>
              </a:spcAft>
              <a:buClr>
                <a:schemeClr val="dk1"/>
              </a:buClr>
              <a:buSzPts val="2800"/>
              <a:buNone/>
            </a:pPr>
            <a:endParaRPr/>
          </a:p>
        </p:txBody>
      </p:sp>
      <p:pic>
        <p:nvPicPr>
          <p:cNvPr id="278" name="Google Shape;278;p41"/>
          <p:cNvPicPr preferRelativeResize="0"/>
          <p:nvPr/>
        </p:nvPicPr>
        <p:blipFill rotWithShape="1">
          <a:blip r:embed="rId3">
            <a:alphaModFix/>
          </a:blip>
          <a:srcRect/>
          <a:stretch/>
        </p:blipFill>
        <p:spPr>
          <a:xfrm>
            <a:off x="9296400" y="228600"/>
            <a:ext cx="1066800" cy="998220"/>
          </a:xfrm>
          <a:prstGeom prst="rect">
            <a:avLst/>
          </a:prstGeom>
          <a:noFill/>
          <a:ln>
            <a:noFill/>
          </a:ln>
        </p:spPr>
      </p:pic>
      <p:pic>
        <p:nvPicPr>
          <p:cNvPr id="279" name="Google Shape;279;p41"/>
          <p:cNvPicPr preferRelativeResize="0"/>
          <p:nvPr/>
        </p:nvPicPr>
        <p:blipFill rotWithShape="1">
          <a:blip r:embed="rId4">
            <a:alphaModFix/>
          </a:blip>
          <a:srcRect/>
          <a:stretch/>
        </p:blipFill>
        <p:spPr>
          <a:xfrm>
            <a:off x="2438400" y="1752601"/>
            <a:ext cx="7315200" cy="48005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283"/>
        <p:cNvGrpSpPr/>
        <p:nvPr/>
      </p:nvGrpSpPr>
      <p:grpSpPr>
        <a:xfrm>
          <a:off x="0" y="0"/>
          <a:ext cx="0" cy="0"/>
          <a:chOff x="0" y="0"/>
          <a:chExt cx="0" cy="0"/>
        </a:xfrm>
      </p:grpSpPr>
      <p:pic>
        <p:nvPicPr>
          <p:cNvPr id="284" name="Google Shape;284;p42" descr="CamScanner 07-27-2020 19.54.32_9.jpg"/>
          <p:cNvPicPr preferRelativeResize="0">
            <a:picLocks noGrp="1"/>
          </p:cNvPicPr>
          <p:nvPr>
            <p:ph type="body" idx="1"/>
          </p:nvPr>
        </p:nvPicPr>
        <p:blipFill rotWithShape="1">
          <a:blip r:embed="rId3">
            <a:alphaModFix/>
          </a:blip>
          <a:srcRect/>
          <a:stretch/>
        </p:blipFill>
        <p:spPr>
          <a:xfrm>
            <a:off x="2590801" y="533401"/>
            <a:ext cx="6781799" cy="5592763"/>
          </a:xfrm>
          <a:prstGeom prst="rect">
            <a:avLst/>
          </a:prstGeom>
          <a:noFill/>
          <a:ln>
            <a:noFill/>
          </a:ln>
        </p:spPr>
      </p:pic>
      <p:pic>
        <p:nvPicPr>
          <p:cNvPr id="285" name="Google Shape;285;p42"/>
          <p:cNvPicPr preferRelativeResize="0"/>
          <p:nvPr/>
        </p:nvPicPr>
        <p:blipFill rotWithShape="1">
          <a:blip r:embed="rId4">
            <a:alphaModFix/>
          </a:blip>
          <a:srcRect/>
          <a:stretch/>
        </p:blipFill>
        <p:spPr>
          <a:xfrm>
            <a:off x="9601200" y="152400"/>
            <a:ext cx="1066800" cy="99822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524000" y="0"/>
            <a:ext cx="8077200" cy="11430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C00000"/>
              </a:buClr>
              <a:buSzPct val="100000"/>
              <a:buFont typeface="Calibri"/>
              <a:buNone/>
            </a:pPr>
            <a:r>
              <a:rPr lang="en-US">
                <a:solidFill>
                  <a:srgbClr val="C00000"/>
                </a:solidFill>
              </a:rPr>
              <a:t>Design of Fast adder: </a:t>
            </a:r>
            <a:br>
              <a:rPr lang="en-US">
                <a:solidFill>
                  <a:srgbClr val="C00000"/>
                </a:solidFill>
              </a:rPr>
            </a:br>
            <a:r>
              <a:rPr lang="en-US">
                <a:solidFill>
                  <a:srgbClr val="C00000"/>
                </a:solidFill>
              </a:rPr>
              <a:t>Carry Look-ahead Adder</a:t>
            </a:r>
            <a:endParaRPr/>
          </a:p>
        </p:txBody>
      </p:sp>
      <p:sp>
        <p:nvSpPr>
          <p:cNvPr id="291" name="Google Shape;291;p43"/>
          <p:cNvSpPr txBox="1">
            <a:spLocks noGrp="1"/>
          </p:cNvSpPr>
          <p:nvPr>
            <p:ph type="body" idx="1"/>
          </p:nvPr>
        </p:nvSpPr>
        <p:spPr>
          <a:xfrm>
            <a:off x="1752600" y="1295400"/>
            <a:ext cx="8229600" cy="518160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3000"/>
              <a:buChar char="•"/>
            </a:pPr>
            <a:r>
              <a:rPr lang="en-US" sz="3000">
                <a:latin typeface="Times New Roman"/>
                <a:ea typeface="Times New Roman"/>
                <a:cs typeface="Times New Roman"/>
                <a:sym typeface="Times New Roman"/>
              </a:rPr>
              <a:t>A carry-look ahead adders (CLA) is a type of adder used in digital logic. A carry-look ahead adder improves speed by reducing the amount of time required to determine carry bits. </a:t>
            </a:r>
            <a:endParaRPr/>
          </a:p>
          <a:p>
            <a:pPr marL="228600" lvl="0" indent="-228600" algn="just" rtl="0">
              <a:lnSpc>
                <a:spcPct val="90000"/>
              </a:lnSpc>
              <a:spcBef>
                <a:spcPts val="1000"/>
              </a:spcBef>
              <a:spcAft>
                <a:spcPts val="0"/>
              </a:spcAft>
              <a:buClr>
                <a:schemeClr val="dk1"/>
              </a:buClr>
              <a:buSzPts val="3000"/>
              <a:buChar char="•"/>
            </a:pPr>
            <a:r>
              <a:rPr lang="en-US" sz="3000">
                <a:latin typeface="Times New Roman"/>
                <a:ea typeface="Times New Roman"/>
                <a:cs typeface="Times New Roman"/>
                <a:sym typeface="Times New Roman"/>
              </a:rPr>
              <a:t>It can be contrasted with the simpler, but usually slower, ripple carry adder for which the carry bit is calculated alongside the sum bit, and each bit must wait until the previous carry has been calculated to begin calculating its own result and carry bits (see adder for detail on ripple carry adders)</a:t>
            </a:r>
            <a:endParaRPr/>
          </a:p>
        </p:txBody>
      </p:sp>
      <p:pic>
        <p:nvPicPr>
          <p:cNvPr id="292" name="Google Shape;292;p43"/>
          <p:cNvPicPr preferRelativeResize="0"/>
          <p:nvPr/>
        </p:nvPicPr>
        <p:blipFill rotWithShape="1">
          <a:blip r:embed="rId3">
            <a:alphaModFix/>
          </a:blip>
          <a:srcRect/>
          <a:stretch/>
        </p:blipFill>
        <p:spPr>
          <a:xfrm>
            <a:off x="9601200" y="152400"/>
            <a:ext cx="1066800" cy="99822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4"/>
          <p:cNvSpPr txBox="1">
            <a:spLocks noGrp="1"/>
          </p:cNvSpPr>
          <p:nvPr>
            <p:ph type="body" idx="1"/>
          </p:nvPr>
        </p:nvSpPr>
        <p:spPr>
          <a:xfrm>
            <a:off x="2057400" y="1143000"/>
            <a:ext cx="8229600" cy="5486400"/>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3000"/>
              <a:buChar char="•"/>
            </a:pPr>
            <a:r>
              <a:rPr lang="en-US" sz="3000">
                <a:latin typeface="Times New Roman"/>
                <a:ea typeface="Times New Roman"/>
                <a:cs typeface="Times New Roman"/>
                <a:sym typeface="Times New Roman"/>
              </a:rPr>
              <a:t>The carry-look ahead adder calculates one or more carry bits before the sum, which reduces the wait time to calculate the result of the larger value bits.</a:t>
            </a:r>
            <a:endParaRPr/>
          </a:p>
          <a:p>
            <a:pPr marL="228600" lvl="0" indent="-228600" algn="just" rtl="0">
              <a:lnSpc>
                <a:spcPct val="90000"/>
              </a:lnSpc>
              <a:spcBef>
                <a:spcPts val="1000"/>
              </a:spcBef>
              <a:spcAft>
                <a:spcPts val="0"/>
              </a:spcAft>
              <a:buClr>
                <a:schemeClr val="dk1"/>
              </a:buClr>
              <a:buSzPts val="3000"/>
              <a:buChar char="•"/>
            </a:pPr>
            <a:r>
              <a:rPr lang="en-US" sz="3000">
                <a:latin typeface="Times New Roman"/>
                <a:ea typeface="Times New Roman"/>
                <a:cs typeface="Times New Roman"/>
                <a:sym typeface="Times New Roman"/>
              </a:rPr>
              <a:t>In a ripple adder the delay of each adder is 10 ns , then for 4 adders the delay will be 40 ns.</a:t>
            </a:r>
            <a:endParaRPr/>
          </a:p>
          <a:p>
            <a:pPr marL="228600" lvl="0" indent="-228600" algn="just" rtl="0">
              <a:lnSpc>
                <a:spcPct val="90000"/>
              </a:lnSpc>
              <a:spcBef>
                <a:spcPts val="1000"/>
              </a:spcBef>
              <a:spcAft>
                <a:spcPts val="0"/>
              </a:spcAft>
              <a:buClr>
                <a:schemeClr val="dk1"/>
              </a:buClr>
              <a:buSzPts val="3000"/>
              <a:buChar char="•"/>
            </a:pPr>
            <a:r>
              <a:rPr lang="en-US" sz="3000">
                <a:latin typeface="Times New Roman"/>
                <a:ea typeface="Times New Roman"/>
                <a:cs typeface="Times New Roman"/>
                <a:sym typeface="Times New Roman"/>
              </a:rPr>
              <a:t>To overcome this delay Carry Look-ahead Adder is used.</a:t>
            </a:r>
            <a:endParaRPr/>
          </a:p>
          <a:p>
            <a:pPr marL="228600" lvl="0" indent="-50800" algn="l" rtl="0">
              <a:lnSpc>
                <a:spcPct val="90000"/>
              </a:lnSpc>
              <a:spcBef>
                <a:spcPts val="1000"/>
              </a:spcBef>
              <a:spcAft>
                <a:spcPts val="0"/>
              </a:spcAft>
              <a:buClr>
                <a:schemeClr val="dk1"/>
              </a:buClr>
              <a:buSzPts val="2800"/>
              <a:buNone/>
            </a:pPr>
            <a:endParaRPr/>
          </a:p>
        </p:txBody>
      </p:sp>
      <p:pic>
        <p:nvPicPr>
          <p:cNvPr id="298" name="Google Shape;298;p44"/>
          <p:cNvPicPr preferRelativeResize="0"/>
          <p:nvPr/>
        </p:nvPicPr>
        <p:blipFill rotWithShape="1">
          <a:blip r:embed="rId3">
            <a:alphaModFix/>
          </a:blip>
          <a:srcRect/>
          <a:stretch/>
        </p:blipFill>
        <p:spPr>
          <a:xfrm>
            <a:off x="9601200" y="152400"/>
            <a:ext cx="1066800" cy="99822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5"/>
          <p:cNvSpPr txBox="1">
            <a:spLocks noGrp="1"/>
          </p:cNvSpPr>
          <p:nvPr>
            <p:ph type="body" idx="1"/>
          </p:nvPr>
        </p:nvSpPr>
        <p:spPr>
          <a:xfrm>
            <a:off x="1981200" y="1143000"/>
            <a:ext cx="8305800" cy="5486400"/>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Different logic design approaches have been employed to overcome the carry propagation delay problem of adders. </a:t>
            </a:r>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One widely used approach employs the principle of carry look-ahead solves this problem  by calculating the carry signals in advance, based on the input signals. </a:t>
            </a:r>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This type of adder circuit is called as carry look-ahead adder (CLA adder). A carry signal will be generated in two cases: </a:t>
            </a:r>
            <a:endParaRPr/>
          </a:p>
          <a:p>
            <a:pPr marL="228600" lvl="0" indent="-228600" algn="just"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(1) when both bits Ai and Bi are 1, or </a:t>
            </a:r>
            <a:endParaRPr/>
          </a:p>
          <a:p>
            <a:pPr marL="228600" lvl="0" indent="-228600" algn="just"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(2) when one of the two bits is 1 and the carry-in (carry of the previous stage) is 1.</a:t>
            </a:r>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800"/>
              <a:buNone/>
            </a:pPr>
            <a:endParaRPr/>
          </a:p>
        </p:txBody>
      </p:sp>
      <p:pic>
        <p:nvPicPr>
          <p:cNvPr id="304" name="Google Shape;304;p45"/>
          <p:cNvPicPr preferRelativeResize="0"/>
          <p:nvPr/>
        </p:nvPicPr>
        <p:blipFill rotWithShape="1">
          <a:blip r:embed="rId3">
            <a:alphaModFix/>
          </a:blip>
          <a:srcRect/>
          <a:stretch/>
        </p:blipFill>
        <p:spPr>
          <a:xfrm>
            <a:off x="9601200" y="152400"/>
            <a:ext cx="1066800" cy="998220"/>
          </a:xfrm>
          <a:prstGeom prst="rect">
            <a:avLst/>
          </a:prstGeom>
          <a:noFill/>
          <a:ln>
            <a:noFill/>
          </a:ln>
        </p:spPr>
      </p:pic>
      <p:sp>
        <p:nvSpPr>
          <p:cNvPr id="305" name="Google Shape;305;p45"/>
          <p:cNvSpPr txBox="1">
            <a:spLocks noGrp="1"/>
          </p:cNvSpPr>
          <p:nvPr>
            <p:ph type="title"/>
          </p:nvPr>
        </p:nvSpPr>
        <p:spPr>
          <a:xfrm>
            <a:off x="1524000" y="0"/>
            <a:ext cx="80772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Carry Look-ahead Adder</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6"/>
          <p:cNvSpPr txBox="1">
            <a:spLocks noGrp="1"/>
          </p:cNvSpPr>
          <p:nvPr>
            <p:ph type="body" idx="1"/>
          </p:nvPr>
        </p:nvSpPr>
        <p:spPr>
          <a:xfrm>
            <a:off x="1981200" y="1143000"/>
            <a:ext cx="8305800" cy="21336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pPr>
            <a:r>
              <a:rPr lang="en-US">
                <a:latin typeface="Times New Roman"/>
                <a:ea typeface="Times New Roman"/>
                <a:cs typeface="Times New Roman"/>
                <a:sym typeface="Times New Roman"/>
              </a:rPr>
              <a:t>	The Figure shows the full adder circuit used to add the operand bits in the I</a:t>
            </a:r>
            <a:r>
              <a:rPr lang="en-US" baseline="30000">
                <a:latin typeface="Times New Roman"/>
                <a:ea typeface="Times New Roman"/>
                <a:cs typeface="Times New Roman"/>
                <a:sym typeface="Times New Roman"/>
              </a:rPr>
              <a:t>th</a:t>
            </a:r>
            <a:r>
              <a:rPr lang="en-US">
                <a:latin typeface="Times New Roman"/>
                <a:ea typeface="Times New Roman"/>
                <a:cs typeface="Times New Roman"/>
                <a:sym typeface="Times New Roman"/>
              </a:rPr>
              <a:t> column;  namely Ai &amp; Bi and the carry bit coming from the previous column (Ci ).</a:t>
            </a:r>
            <a:endParaRPr/>
          </a:p>
          <a:p>
            <a:pPr marL="228600" lvl="0" indent="-228600" algn="l" rtl="0">
              <a:lnSpc>
                <a:spcPct val="90000"/>
              </a:lnSpc>
              <a:spcBef>
                <a:spcPts val="1000"/>
              </a:spcBef>
              <a:spcAft>
                <a:spcPts val="0"/>
              </a:spcAft>
              <a:buClr>
                <a:schemeClr val="dk1"/>
              </a:buClr>
              <a:buSzPts val="2800"/>
              <a:buNone/>
            </a:pPr>
            <a:endParaRPr/>
          </a:p>
        </p:txBody>
      </p:sp>
      <p:pic>
        <p:nvPicPr>
          <p:cNvPr id="311" name="Google Shape;311;p46"/>
          <p:cNvPicPr preferRelativeResize="0"/>
          <p:nvPr/>
        </p:nvPicPr>
        <p:blipFill rotWithShape="1">
          <a:blip r:embed="rId3">
            <a:alphaModFix/>
          </a:blip>
          <a:srcRect/>
          <a:stretch/>
        </p:blipFill>
        <p:spPr>
          <a:xfrm>
            <a:off x="9601200" y="152400"/>
            <a:ext cx="1066800" cy="998220"/>
          </a:xfrm>
          <a:prstGeom prst="rect">
            <a:avLst/>
          </a:prstGeom>
          <a:noFill/>
          <a:ln>
            <a:noFill/>
          </a:ln>
        </p:spPr>
      </p:pic>
      <p:sp>
        <p:nvSpPr>
          <p:cNvPr id="312" name="Google Shape;312;p46"/>
          <p:cNvSpPr txBox="1">
            <a:spLocks noGrp="1"/>
          </p:cNvSpPr>
          <p:nvPr>
            <p:ph type="title"/>
          </p:nvPr>
        </p:nvSpPr>
        <p:spPr>
          <a:xfrm>
            <a:off x="1524000" y="0"/>
            <a:ext cx="80772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Carry Look-ahead Adder</a:t>
            </a:r>
            <a:endParaRPr/>
          </a:p>
        </p:txBody>
      </p:sp>
      <p:pic>
        <p:nvPicPr>
          <p:cNvPr id="313" name="Google Shape;313;p46"/>
          <p:cNvPicPr preferRelativeResize="0"/>
          <p:nvPr/>
        </p:nvPicPr>
        <p:blipFill rotWithShape="1">
          <a:blip r:embed="rId4">
            <a:alphaModFix/>
          </a:blip>
          <a:srcRect/>
          <a:stretch/>
        </p:blipFill>
        <p:spPr>
          <a:xfrm>
            <a:off x="2895600" y="3429000"/>
            <a:ext cx="6400800" cy="3124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7"/>
          <p:cNvSpPr txBox="1">
            <a:spLocks noGrp="1"/>
          </p:cNvSpPr>
          <p:nvPr>
            <p:ph type="body" idx="1"/>
          </p:nvPr>
        </p:nvSpPr>
        <p:spPr>
          <a:xfrm>
            <a:off x="1981200" y="1143000"/>
            <a:ext cx="8305800" cy="51816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pPr>
            <a:r>
              <a:rPr lang="en-US">
                <a:latin typeface="Times New Roman"/>
                <a:ea typeface="Times New Roman"/>
                <a:cs typeface="Times New Roman"/>
                <a:sym typeface="Times New Roman"/>
              </a:rPr>
              <a:t>	</a:t>
            </a:r>
            <a:r>
              <a:rPr lang="en-US" b="1"/>
              <a:t>In this circuit, the 2 internal signals Pi and Gi are given by: </a:t>
            </a:r>
            <a:endParaRPr/>
          </a:p>
          <a:p>
            <a:pPr marL="228600" lvl="0" indent="-228600" algn="l" rtl="0">
              <a:lnSpc>
                <a:spcPct val="90000"/>
              </a:lnSpc>
              <a:spcBef>
                <a:spcPts val="1000"/>
              </a:spcBef>
              <a:spcAft>
                <a:spcPts val="0"/>
              </a:spcAft>
              <a:buClr>
                <a:schemeClr val="dk1"/>
              </a:buClr>
              <a:buSzPts val="2800"/>
              <a:buNone/>
            </a:pPr>
            <a:endParaRPr b="1"/>
          </a:p>
          <a:p>
            <a:pPr marL="228600" lvl="0" indent="-228600" algn="l" rtl="0">
              <a:lnSpc>
                <a:spcPct val="90000"/>
              </a:lnSpc>
              <a:spcBef>
                <a:spcPts val="1000"/>
              </a:spcBef>
              <a:spcAft>
                <a:spcPts val="0"/>
              </a:spcAft>
              <a:buClr>
                <a:schemeClr val="dk1"/>
              </a:buClr>
              <a:buSzPts val="2800"/>
              <a:buNone/>
            </a:pPr>
            <a:endParaRPr b="1"/>
          </a:p>
          <a:p>
            <a:pPr marL="228600" lvl="0" indent="-228600" algn="l" rtl="0">
              <a:lnSpc>
                <a:spcPct val="90000"/>
              </a:lnSpc>
              <a:spcBef>
                <a:spcPts val="1000"/>
              </a:spcBef>
              <a:spcAft>
                <a:spcPts val="0"/>
              </a:spcAft>
              <a:buClr>
                <a:schemeClr val="dk1"/>
              </a:buClr>
              <a:buSzPts val="2800"/>
              <a:buNone/>
            </a:pPr>
            <a:endParaRPr b="1"/>
          </a:p>
          <a:p>
            <a:pPr marL="228600" lvl="0" indent="-228600" algn="l" rtl="0">
              <a:lnSpc>
                <a:spcPct val="90000"/>
              </a:lnSpc>
              <a:spcBef>
                <a:spcPts val="1000"/>
              </a:spcBef>
              <a:spcAft>
                <a:spcPts val="0"/>
              </a:spcAft>
              <a:buClr>
                <a:schemeClr val="dk1"/>
              </a:buClr>
              <a:buSzPts val="2800"/>
              <a:buNone/>
            </a:pPr>
            <a:r>
              <a:rPr lang="en-US" b="1"/>
              <a:t>	The output sum and carry can be defined as </a:t>
            </a:r>
            <a:endParaRPr/>
          </a:p>
          <a:p>
            <a:pPr marL="228600" lvl="0" indent="-2286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800"/>
              <a:buNone/>
            </a:pPr>
            <a:endParaRPr/>
          </a:p>
        </p:txBody>
      </p:sp>
      <p:pic>
        <p:nvPicPr>
          <p:cNvPr id="319" name="Google Shape;319;p47"/>
          <p:cNvPicPr preferRelativeResize="0"/>
          <p:nvPr/>
        </p:nvPicPr>
        <p:blipFill rotWithShape="1">
          <a:blip r:embed="rId3">
            <a:alphaModFix/>
          </a:blip>
          <a:srcRect/>
          <a:stretch/>
        </p:blipFill>
        <p:spPr>
          <a:xfrm>
            <a:off x="9601200" y="152400"/>
            <a:ext cx="1066800" cy="998220"/>
          </a:xfrm>
          <a:prstGeom prst="rect">
            <a:avLst/>
          </a:prstGeom>
          <a:noFill/>
          <a:ln>
            <a:noFill/>
          </a:ln>
        </p:spPr>
      </p:pic>
      <p:sp>
        <p:nvSpPr>
          <p:cNvPr id="320" name="Google Shape;320;p47"/>
          <p:cNvSpPr txBox="1">
            <a:spLocks noGrp="1"/>
          </p:cNvSpPr>
          <p:nvPr>
            <p:ph type="title"/>
          </p:nvPr>
        </p:nvSpPr>
        <p:spPr>
          <a:xfrm>
            <a:off x="1524000" y="0"/>
            <a:ext cx="80772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Carry Look-ahead Adder</a:t>
            </a:r>
            <a:endParaRPr/>
          </a:p>
        </p:txBody>
      </p:sp>
      <p:pic>
        <p:nvPicPr>
          <p:cNvPr id="321" name="Google Shape;321;p47"/>
          <p:cNvPicPr preferRelativeResize="0"/>
          <p:nvPr/>
        </p:nvPicPr>
        <p:blipFill rotWithShape="1">
          <a:blip r:embed="rId4">
            <a:alphaModFix/>
          </a:blip>
          <a:srcRect/>
          <a:stretch/>
        </p:blipFill>
        <p:spPr>
          <a:xfrm>
            <a:off x="3276600" y="2286000"/>
            <a:ext cx="5486400" cy="1524000"/>
          </a:xfrm>
          <a:prstGeom prst="rect">
            <a:avLst/>
          </a:prstGeom>
          <a:noFill/>
          <a:ln>
            <a:noFill/>
          </a:ln>
        </p:spPr>
      </p:pic>
      <p:pic>
        <p:nvPicPr>
          <p:cNvPr id="322" name="Google Shape;322;p47"/>
          <p:cNvPicPr preferRelativeResize="0"/>
          <p:nvPr/>
        </p:nvPicPr>
        <p:blipFill rotWithShape="1">
          <a:blip r:embed="rId5">
            <a:alphaModFix/>
          </a:blip>
          <a:srcRect/>
          <a:stretch/>
        </p:blipFill>
        <p:spPr>
          <a:xfrm>
            <a:off x="3429000" y="4876800"/>
            <a:ext cx="5257800" cy="1524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8"/>
          <p:cNvSpPr txBox="1">
            <a:spLocks noGrp="1"/>
          </p:cNvSpPr>
          <p:nvPr>
            <p:ph type="body" idx="1"/>
          </p:nvPr>
        </p:nvSpPr>
        <p:spPr>
          <a:xfrm>
            <a:off x="1981200" y="1143000"/>
            <a:ext cx="8305800" cy="5181600"/>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Gi is known as the carry Generate signal since a carry (Ci+1) is generated whenever Gi =1, regardless of the input carry (Ci). </a:t>
            </a:r>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Pi is known as the carry propagate signal since whenever Pi =1, the input carry is propagated to the output carry, i.e., Ci+1. = Ci (note that whenever Pi =1, Gi =0). </a:t>
            </a:r>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Computing the values of Pi and Gi only depend on the input operand bits (Ai &amp; Bi) as clear from the Figure and equations.</a:t>
            </a:r>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Thus, these signals settle to their steady-state value after the propagation through their  respective gates. </a:t>
            </a:r>
            <a:endParaRPr/>
          </a:p>
          <a:p>
            <a:pPr marL="228600" lvl="0" indent="-508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800"/>
              <a:buNone/>
            </a:pPr>
            <a:endParaRPr/>
          </a:p>
        </p:txBody>
      </p:sp>
      <p:pic>
        <p:nvPicPr>
          <p:cNvPr id="328" name="Google Shape;328;p48"/>
          <p:cNvPicPr preferRelativeResize="0"/>
          <p:nvPr/>
        </p:nvPicPr>
        <p:blipFill rotWithShape="1">
          <a:blip r:embed="rId3">
            <a:alphaModFix/>
          </a:blip>
          <a:srcRect/>
          <a:stretch/>
        </p:blipFill>
        <p:spPr>
          <a:xfrm>
            <a:off x="9601200" y="152400"/>
            <a:ext cx="1066800" cy="998220"/>
          </a:xfrm>
          <a:prstGeom prst="rect">
            <a:avLst/>
          </a:prstGeom>
          <a:noFill/>
          <a:ln>
            <a:noFill/>
          </a:ln>
        </p:spPr>
      </p:pic>
      <p:sp>
        <p:nvSpPr>
          <p:cNvPr id="329" name="Google Shape;329;p48"/>
          <p:cNvSpPr txBox="1">
            <a:spLocks noGrp="1"/>
          </p:cNvSpPr>
          <p:nvPr>
            <p:ph type="title"/>
          </p:nvPr>
        </p:nvSpPr>
        <p:spPr>
          <a:xfrm>
            <a:off x="1524000" y="0"/>
            <a:ext cx="80772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Carry Look-ahead Adder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9"/>
          <p:cNvSpPr txBox="1">
            <a:spLocks noGrp="1"/>
          </p:cNvSpPr>
          <p:nvPr>
            <p:ph type="body" idx="1"/>
          </p:nvPr>
        </p:nvSpPr>
        <p:spPr>
          <a:xfrm>
            <a:off x="1981200" y="1143000"/>
            <a:ext cx="8305800" cy="2590800"/>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Computed values of all the Pi’s are valid one XOR-gate delay after the operands A and B  are made valid. </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Computed values of all the Gi’s are valid one AND-gate delay after the operands A and B  are made valid. </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The Boolean expression of the carry outputs of various stages can be written as follows:</a:t>
            </a:r>
            <a:endParaRPr/>
          </a:p>
          <a:p>
            <a:pPr marL="228600" lvl="0" indent="-2286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800"/>
              <a:buNone/>
            </a:pPr>
            <a:endParaRPr/>
          </a:p>
        </p:txBody>
      </p:sp>
      <p:pic>
        <p:nvPicPr>
          <p:cNvPr id="335" name="Google Shape;335;p49"/>
          <p:cNvPicPr preferRelativeResize="0"/>
          <p:nvPr/>
        </p:nvPicPr>
        <p:blipFill rotWithShape="1">
          <a:blip r:embed="rId3">
            <a:alphaModFix/>
          </a:blip>
          <a:srcRect/>
          <a:stretch/>
        </p:blipFill>
        <p:spPr>
          <a:xfrm>
            <a:off x="9601200" y="152400"/>
            <a:ext cx="1066800" cy="998220"/>
          </a:xfrm>
          <a:prstGeom prst="rect">
            <a:avLst/>
          </a:prstGeom>
          <a:noFill/>
          <a:ln>
            <a:noFill/>
          </a:ln>
        </p:spPr>
      </p:pic>
      <p:sp>
        <p:nvSpPr>
          <p:cNvPr id="336" name="Google Shape;336;p49"/>
          <p:cNvSpPr txBox="1">
            <a:spLocks noGrp="1"/>
          </p:cNvSpPr>
          <p:nvPr>
            <p:ph type="title"/>
          </p:nvPr>
        </p:nvSpPr>
        <p:spPr>
          <a:xfrm>
            <a:off x="1524000" y="0"/>
            <a:ext cx="80772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Carry Look-ahead Adder</a:t>
            </a:r>
            <a:endParaRPr/>
          </a:p>
        </p:txBody>
      </p:sp>
      <p:pic>
        <p:nvPicPr>
          <p:cNvPr id="337" name="Google Shape;337;p49"/>
          <p:cNvPicPr preferRelativeResize="0"/>
          <p:nvPr/>
        </p:nvPicPr>
        <p:blipFill rotWithShape="1">
          <a:blip r:embed="rId4">
            <a:alphaModFix/>
          </a:blip>
          <a:srcRect/>
          <a:stretch/>
        </p:blipFill>
        <p:spPr>
          <a:xfrm>
            <a:off x="3124200" y="3552826"/>
            <a:ext cx="5486400" cy="28479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pic>
        <p:nvPicPr>
          <p:cNvPr id="342" name="Google Shape;342;p50"/>
          <p:cNvPicPr preferRelativeResize="0"/>
          <p:nvPr/>
        </p:nvPicPr>
        <p:blipFill rotWithShape="1">
          <a:blip r:embed="rId3">
            <a:alphaModFix/>
          </a:blip>
          <a:srcRect/>
          <a:stretch/>
        </p:blipFill>
        <p:spPr>
          <a:xfrm>
            <a:off x="9601200" y="152400"/>
            <a:ext cx="1066800" cy="998220"/>
          </a:xfrm>
          <a:prstGeom prst="rect">
            <a:avLst/>
          </a:prstGeom>
          <a:noFill/>
          <a:ln>
            <a:noFill/>
          </a:ln>
        </p:spPr>
      </p:pic>
      <p:sp>
        <p:nvSpPr>
          <p:cNvPr id="343" name="Google Shape;343;p50"/>
          <p:cNvSpPr txBox="1">
            <a:spLocks noGrp="1"/>
          </p:cNvSpPr>
          <p:nvPr>
            <p:ph type="title"/>
          </p:nvPr>
        </p:nvSpPr>
        <p:spPr>
          <a:xfrm>
            <a:off x="1524000" y="0"/>
            <a:ext cx="80772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Carry Look-ahead Adder</a:t>
            </a:r>
            <a:endParaRPr/>
          </a:p>
        </p:txBody>
      </p:sp>
      <p:pic>
        <p:nvPicPr>
          <p:cNvPr id="344" name="Google Shape;344;p50"/>
          <p:cNvPicPr preferRelativeResize="0"/>
          <p:nvPr/>
        </p:nvPicPr>
        <p:blipFill rotWithShape="1">
          <a:blip r:embed="rId4">
            <a:alphaModFix/>
          </a:blip>
          <a:srcRect/>
          <a:stretch/>
        </p:blipFill>
        <p:spPr>
          <a:xfrm>
            <a:off x="1828800" y="1219200"/>
            <a:ext cx="4495800" cy="5257800"/>
          </a:xfrm>
          <a:prstGeom prst="rect">
            <a:avLst/>
          </a:prstGeom>
          <a:solidFill>
            <a:srgbClr val="C0C0C0"/>
          </a:solidFill>
          <a:ln w="9525" cap="flat" cmpd="sng">
            <a:solidFill>
              <a:schemeClr val="lt1"/>
            </a:solidFill>
            <a:prstDash val="solid"/>
            <a:miter lim="800000"/>
            <a:headEnd type="none" w="sm" len="sm"/>
            <a:tailEnd type="none" w="sm" len="sm"/>
          </a:ln>
        </p:spPr>
      </p:pic>
      <p:sp>
        <p:nvSpPr>
          <p:cNvPr id="345" name="Google Shape;345;p50"/>
          <p:cNvSpPr txBox="1"/>
          <p:nvPr/>
        </p:nvSpPr>
        <p:spPr>
          <a:xfrm>
            <a:off x="6553200" y="1219201"/>
            <a:ext cx="3886200" cy="2246769"/>
          </a:xfrm>
          <a:prstGeom prst="rect">
            <a:avLst/>
          </a:prstGeom>
          <a:noFill/>
          <a:ln>
            <a:noFill/>
          </a:ln>
        </p:spPr>
        <p:txBody>
          <a:bodyPr spcFirstLastPara="1" wrap="square" lIns="91425" tIns="45700" rIns="91425" bIns="45700" anchor="t" anchorCtr="0">
            <a:spAutoFit/>
          </a:bodyPr>
          <a:lstStyle/>
          <a:p>
            <a:pPr marL="457200" marR="0" lvl="0" indent="-457200" algn="just" rtl="0">
              <a:spcBef>
                <a:spcPts val="0"/>
              </a:spcBef>
              <a:spcAft>
                <a:spcPts val="0"/>
              </a:spcAft>
              <a:buNone/>
            </a:pPr>
            <a:r>
              <a:rPr lang="en-US" sz="2800">
                <a:solidFill>
                  <a:schemeClr val="dk1"/>
                </a:solidFill>
                <a:latin typeface="Calibri"/>
                <a:ea typeface="Calibri"/>
                <a:cs typeface="Calibri"/>
                <a:sym typeface="Calibri"/>
              </a:rPr>
              <a:t>Implementing these expressions (for a 4-bit adder), results in the logic diagram</a:t>
            </a:r>
            <a:r>
              <a:rPr lang="en-US" sz="2800">
                <a:solidFill>
                  <a:schemeClr val="dk1"/>
                </a:solidFill>
                <a:latin typeface="Times New Roman"/>
                <a:ea typeface="Times New Roman"/>
                <a:cs typeface="Times New Roman"/>
                <a:sym typeface="Times New Roman"/>
              </a:rPr>
              <a:t>. (</a:t>
            </a:r>
            <a:r>
              <a:rPr lang="en-US" sz="2800">
                <a:solidFill>
                  <a:srgbClr val="FF0000"/>
                </a:solidFill>
                <a:latin typeface="Times New Roman"/>
                <a:ea typeface="Times New Roman"/>
                <a:cs typeface="Times New Roman"/>
                <a:sym typeface="Times New Roman"/>
              </a:rPr>
              <a:t>IC- 74182</a:t>
            </a:r>
            <a:r>
              <a:rPr lang="en-US" sz="2800">
                <a:solidFill>
                  <a:schemeClr val="dk1"/>
                </a:solidFill>
                <a:latin typeface="Times New Roman"/>
                <a:ea typeface="Times New Roman"/>
                <a:cs typeface="Times New Roman"/>
                <a:sym typeface="Times New Roman"/>
              </a:rPr>
              <a:t>)</a:t>
            </a:r>
            <a:endParaRPr/>
          </a:p>
        </p:txBody>
      </p:sp>
      <p:pic>
        <p:nvPicPr>
          <p:cNvPr id="346" name="Google Shape;346;p50" descr="Picture 001"/>
          <p:cNvPicPr preferRelativeResize="0"/>
          <p:nvPr/>
        </p:nvPicPr>
        <p:blipFill rotWithShape="1">
          <a:blip r:embed="rId5">
            <a:alphaModFix/>
          </a:blip>
          <a:srcRect/>
          <a:stretch/>
        </p:blipFill>
        <p:spPr>
          <a:xfrm>
            <a:off x="6553200" y="3886200"/>
            <a:ext cx="3886200" cy="21336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352" name="Google Shape;352;p51"/>
          <p:cNvPicPr preferRelativeResize="0">
            <a:picLocks noGrp="1"/>
          </p:cNvPicPr>
          <p:nvPr>
            <p:ph type="body" idx="1"/>
          </p:nvPr>
        </p:nvPicPr>
        <p:blipFill rotWithShape="1">
          <a:blip r:embed="rId3">
            <a:alphaModFix/>
          </a:blip>
          <a:srcRect/>
          <a:stretch/>
        </p:blipFill>
        <p:spPr>
          <a:xfrm>
            <a:off x="2133600" y="762001"/>
            <a:ext cx="8534400" cy="527764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52"/>
          <p:cNvSpPr txBox="1">
            <a:spLocks noGrp="1"/>
          </p:cNvSpPr>
          <p:nvPr>
            <p:ph type="title"/>
          </p:nvPr>
        </p:nvSpPr>
        <p:spPr>
          <a:xfrm>
            <a:off x="1828800" y="274638"/>
            <a:ext cx="7772400" cy="7921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4-bit Carry Look-ahead Adder</a:t>
            </a:r>
            <a:endParaRPr/>
          </a:p>
        </p:txBody>
      </p:sp>
      <p:pic>
        <p:nvPicPr>
          <p:cNvPr id="358" name="Google Shape;358;p52"/>
          <p:cNvPicPr preferRelativeResize="0"/>
          <p:nvPr/>
        </p:nvPicPr>
        <p:blipFill rotWithShape="1">
          <a:blip r:embed="rId3">
            <a:alphaModFix/>
          </a:blip>
          <a:srcRect/>
          <a:stretch/>
        </p:blipFill>
        <p:spPr>
          <a:xfrm>
            <a:off x="9601200" y="152400"/>
            <a:ext cx="1066800" cy="998220"/>
          </a:xfrm>
          <a:prstGeom prst="rect">
            <a:avLst/>
          </a:prstGeom>
          <a:noFill/>
          <a:ln>
            <a:noFill/>
          </a:ln>
        </p:spPr>
      </p:pic>
      <p:pic>
        <p:nvPicPr>
          <p:cNvPr id="359" name="Google Shape;359;p52"/>
          <p:cNvPicPr preferRelativeResize="0"/>
          <p:nvPr/>
        </p:nvPicPr>
        <p:blipFill rotWithShape="1">
          <a:blip r:embed="rId4">
            <a:alphaModFix/>
          </a:blip>
          <a:srcRect/>
          <a:stretch/>
        </p:blipFill>
        <p:spPr>
          <a:xfrm>
            <a:off x="2514600" y="1447800"/>
            <a:ext cx="6477000" cy="48768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53"/>
          <p:cNvSpPr txBox="1">
            <a:spLocks noGrp="1"/>
          </p:cNvSpPr>
          <p:nvPr>
            <p:ph type="body" idx="1"/>
          </p:nvPr>
        </p:nvSpPr>
        <p:spPr>
          <a:xfrm>
            <a:off x="1981200" y="1143000"/>
            <a:ext cx="8305800" cy="51816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3600"/>
              <a:buFont typeface="Times New Roman"/>
              <a:buChar char="•"/>
            </a:pPr>
            <a:r>
              <a:rPr lang="en-US" sz="3600">
                <a:latin typeface="Times New Roman"/>
                <a:ea typeface="Times New Roman"/>
                <a:cs typeface="Times New Roman"/>
                <a:sym typeface="Times New Roman"/>
              </a:rPr>
              <a:t> </a:t>
            </a:r>
            <a:r>
              <a:rPr lang="en-US"/>
              <a:t>independent of n, </a:t>
            </a:r>
            <a:endParaRPr/>
          </a:p>
          <a:p>
            <a:pPr marL="228600" lvl="0" indent="-228600" algn="l" rtl="0">
              <a:lnSpc>
                <a:spcPct val="90000"/>
              </a:lnSpc>
              <a:spcBef>
                <a:spcPts val="1000"/>
              </a:spcBef>
              <a:spcAft>
                <a:spcPts val="0"/>
              </a:spcAft>
              <a:buClr>
                <a:schemeClr val="dk1"/>
              </a:buClr>
              <a:buSzPts val="2800"/>
              <a:buChar char="•"/>
            </a:pPr>
            <a:r>
              <a:rPr lang="en-US"/>
              <a:t>the n-bit addition process requires only four gate delays (against 2n)</a:t>
            </a:r>
            <a:endParaRPr/>
          </a:p>
          <a:p>
            <a:pPr marL="457200" lvl="0" indent="-457200" algn="l" rtl="0">
              <a:lnSpc>
                <a:spcPct val="90000"/>
              </a:lnSpc>
              <a:spcBef>
                <a:spcPts val="1000"/>
              </a:spcBef>
              <a:spcAft>
                <a:spcPts val="0"/>
              </a:spcAft>
              <a:buClr>
                <a:schemeClr val="dk1"/>
              </a:buClr>
              <a:buSzPts val="2800"/>
              <a:buFont typeface="Calibri"/>
              <a:buChar char="•"/>
            </a:pPr>
            <a:r>
              <a:rPr lang="en-US"/>
              <a:t>C</a:t>
            </a:r>
            <a:r>
              <a:rPr lang="en-US" baseline="-25000"/>
              <a:t>i+1</a:t>
            </a:r>
            <a:r>
              <a:rPr lang="en-US"/>
              <a:t>-- in 3 Gates delay; S</a:t>
            </a:r>
            <a:r>
              <a:rPr lang="en-US" baseline="-25000"/>
              <a:t>i</a:t>
            </a:r>
            <a:r>
              <a:rPr lang="en-US"/>
              <a:t> – in 4 Gates delay irrespective of n. </a:t>
            </a:r>
            <a:r>
              <a:rPr lang="en-US">
                <a:solidFill>
                  <a:srgbClr val="0000FF"/>
                </a:solidFill>
              </a:rPr>
              <a:t>C</a:t>
            </a:r>
            <a:r>
              <a:rPr lang="en-US" baseline="-25000">
                <a:solidFill>
                  <a:srgbClr val="0000FF"/>
                </a:solidFill>
              </a:rPr>
              <a:t>1 </a:t>
            </a:r>
            <a:r>
              <a:rPr lang="en-US">
                <a:solidFill>
                  <a:srgbClr val="0000FF"/>
                </a:solidFill>
              </a:rPr>
              <a:t> in 3 gates delay,C</a:t>
            </a:r>
            <a:r>
              <a:rPr lang="en-US" baseline="-25000">
                <a:solidFill>
                  <a:srgbClr val="0000FF"/>
                </a:solidFill>
              </a:rPr>
              <a:t>2</a:t>
            </a:r>
            <a:r>
              <a:rPr lang="en-US">
                <a:solidFill>
                  <a:srgbClr val="0000FF"/>
                </a:solidFill>
              </a:rPr>
              <a:t> in 3 gates delay,C</a:t>
            </a:r>
            <a:r>
              <a:rPr lang="en-US" baseline="-25000">
                <a:solidFill>
                  <a:srgbClr val="0000FF"/>
                </a:solidFill>
              </a:rPr>
              <a:t>3 </a:t>
            </a:r>
            <a:r>
              <a:rPr lang="en-US">
                <a:solidFill>
                  <a:srgbClr val="0000FF"/>
                </a:solidFill>
              </a:rPr>
              <a:t>in 3 gates delay and so on. </a:t>
            </a:r>
            <a:endParaRPr/>
          </a:p>
          <a:p>
            <a:pPr marL="457200" lvl="0" indent="-457200" algn="l" rtl="0">
              <a:lnSpc>
                <a:spcPct val="90000"/>
              </a:lnSpc>
              <a:spcBef>
                <a:spcPts val="1000"/>
              </a:spcBef>
              <a:spcAft>
                <a:spcPts val="0"/>
              </a:spcAft>
              <a:buClr>
                <a:srgbClr val="FF0000"/>
              </a:buClr>
              <a:buSzPts val="2800"/>
              <a:buFont typeface="Calibri"/>
              <a:buChar char="•"/>
            </a:pPr>
            <a:r>
              <a:rPr lang="en-US">
                <a:solidFill>
                  <a:srgbClr val="FF0000"/>
                </a:solidFill>
              </a:rPr>
              <a:t>S</a:t>
            </a:r>
            <a:r>
              <a:rPr lang="en-US" baseline="-25000">
                <a:solidFill>
                  <a:srgbClr val="FF0000"/>
                </a:solidFill>
              </a:rPr>
              <a:t>0</a:t>
            </a:r>
            <a:r>
              <a:rPr lang="en-US">
                <a:solidFill>
                  <a:srgbClr val="FF0000"/>
                </a:solidFill>
              </a:rPr>
              <a:t> in 4 gates delay, S</a:t>
            </a:r>
            <a:r>
              <a:rPr lang="en-US" baseline="-25000">
                <a:solidFill>
                  <a:srgbClr val="FF0000"/>
                </a:solidFill>
              </a:rPr>
              <a:t>1</a:t>
            </a:r>
            <a:r>
              <a:rPr lang="en-US">
                <a:solidFill>
                  <a:srgbClr val="FF0000"/>
                </a:solidFill>
              </a:rPr>
              <a:t> in 4 gates delay, S</a:t>
            </a:r>
            <a:r>
              <a:rPr lang="en-US" baseline="-25000">
                <a:solidFill>
                  <a:srgbClr val="FF0000"/>
                </a:solidFill>
              </a:rPr>
              <a:t>2</a:t>
            </a:r>
            <a:r>
              <a:rPr lang="en-US">
                <a:solidFill>
                  <a:srgbClr val="FF0000"/>
                </a:solidFill>
              </a:rPr>
              <a:t> in 4 gates delay and so on</a:t>
            </a:r>
            <a:r>
              <a:rPr lang="en-US">
                <a:solidFill>
                  <a:srgbClr val="0000FF"/>
                </a:solidFill>
              </a:rPr>
              <a:t>.</a:t>
            </a:r>
            <a:endParaRPr baseline="-25000">
              <a:solidFill>
                <a:srgbClr val="0000FF"/>
              </a:solidFill>
            </a:endParaRPr>
          </a:p>
          <a:p>
            <a:pPr marL="228600" lvl="0" indent="-50800" algn="l" rtl="0">
              <a:lnSpc>
                <a:spcPct val="90000"/>
              </a:lnSpc>
              <a:spcBef>
                <a:spcPts val="1000"/>
              </a:spcBef>
              <a:spcAft>
                <a:spcPts val="0"/>
              </a:spcAft>
              <a:buClr>
                <a:schemeClr val="dk1"/>
              </a:buClr>
              <a:buSzPts val="2800"/>
              <a:buFont typeface="Calibri"/>
              <a:buNone/>
            </a:pPr>
            <a:endParaRPr/>
          </a:p>
          <a:p>
            <a:pPr marL="228600" lvl="0" indent="-508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800"/>
              <a:buNone/>
            </a:pPr>
            <a:endParaRPr/>
          </a:p>
        </p:txBody>
      </p:sp>
      <p:pic>
        <p:nvPicPr>
          <p:cNvPr id="365" name="Google Shape;365;p53"/>
          <p:cNvPicPr preferRelativeResize="0"/>
          <p:nvPr/>
        </p:nvPicPr>
        <p:blipFill rotWithShape="1">
          <a:blip r:embed="rId3">
            <a:alphaModFix/>
          </a:blip>
          <a:srcRect/>
          <a:stretch/>
        </p:blipFill>
        <p:spPr>
          <a:xfrm>
            <a:off x="9601200" y="152400"/>
            <a:ext cx="1066800" cy="998220"/>
          </a:xfrm>
          <a:prstGeom prst="rect">
            <a:avLst/>
          </a:prstGeom>
          <a:noFill/>
          <a:ln>
            <a:noFill/>
          </a:ln>
        </p:spPr>
      </p:pic>
      <p:sp>
        <p:nvSpPr>
          <p:cNvPr id="366" name="Google Shape;366;p53"/>
          <p:cNvSpPr txBox="1">
            <a:spLocks noGrp="1"/>
          </p:cNvSpPr>
          <p:nvPr>
            <p:ph type="title"/>
          </p:nvPr>
        </p:nvSpPr>
        <p:spPr>
          <a:xfrm>
            <a:off x="1752600" y="152400"/>
            <a:ext cx="7772400" cy="914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4-bit Carry Look-ahead Adder</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4"/>
          <p:cNvSpPr txBox="1">
            <a:spLocks noGrp="1"/>
          </p:cNvSpPr>
          <p:nvPr>
            <p:ph type="title"/>
          </p:nvPr>
        </p:nvSpPr>
        <p:spPr>
          <a:xfrm>
            <a:off x="1981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b="1"/>
              <a:t>Binary Parallel Adder/Subtractor: </a:t>
            </a:r>
            <a:br>
              <a:rPr lang="en-US"/>
            </a:br>
            <a:endParaRPr/>
          </a:p>
        </p:txBody>
      </p:sp>
      <p:sp>
        <p:nvSpPr>
          <p:cNvPr id="372" name="Google Shape;372;p54"/>
          <p:cNvSpPr txBox="1">
            <a:spLocks noGrp="1"/>
          </p:cNvSpPr>
          <p:nvPr>
            <p:ph type="body" idx="1"/>
          </p:nvPr>
        </p:nvSpPr>
        <p:spPr>
          <a:xfrm>
            <a:off x="1981200" y="609601"/>
            <a:ext cx="8229600" cy="5516563"/>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Clr>
                <a:schemeClr val="dk1"/>
              </a:buClr>
              <a:buSzPts val="3500"/>
              <a:buChar char="•"/>
            </a:pPr>
            <a:r>
              <a:rPr lang="en-US" sz="3500">
                <a:latin typeface="Times New Roman"/>
                <a:ea typeface="Times New Roman"/>
                <a:cs typeface="Times New Roman"/>
                <a:sym typeface="Times New Roman"/>
              </a:rPr>
              <a:t>The addition and subtraction operations can be done using an Adder-Subtractor circuit. </a:t>
            </a:r>
            <a:endParaRPr/>
          </a:p>
          <a:p>
            <a:pPr marL="228600" lvl="0" indent="-228600" algn="l" rtl="0">
              <a:lnSpc>
                <a:spcPct val="110000"/>
              </a:lnSpc>
              <a:spcBef>
                <a:spcPts val="1000"/>
              </a:spcBef>
              <a:spcAft>
                <a:spcPts val="0"/>
              </a:spcAft>
              <a:buClr>
                <a:schemeClr val="dk1"/>
              </a:buClr>
              <a:buSzPts val="3500"/>
              <a:buChar char="•"/>
            </a:pPr>
            <a:r>
              <a:rPr lang="en-US" sz="3500">
                <a:latin typeface="Times New Roman"/>
                <a:ea typeface="Times New Roman"/>
                <a:cs typeface="Times New Roman"/>
                <a:sym typeface="Times New Roman"/>
              </a:rPr>
              <a:t>The figure shows the logic diagram of a 4-bit Adder-Subtractor circuit.</a:t>
            </a:r>
            <a:endParaRPr/>
          </a:p>
          <a:p>
            <a:pPr marL="228600" lvl="0" indent="-50800" algn="l" rtl="0">
              <a:lnSpc>
                <a:spcPct val="90000"/>
              </a:lnSpc>
              <a:spcBef>
                <a:spcPts val="1000"/>
              </a:spcBef>
              <a:spcAft>
                <a:spcPts val="0"/>
              </a:spcAft>
              <a:buClr>
                <a:schemeClr val="dk1"/>
              </a:buClr>
              <a:buSzPts val="2800"/>
              <a:buNone/>
            </a:pPr>
            <a:endParaRPr/>
          </a:p>
        </p:txBody>
      </p:sp>
      <p:pic>
        <p:nvPicPr>
          <p:cNvPr id="373" name="Google Shape;373;p54"/>
          <p:cNvPicPr preferRelativeResize="0"/>
          <p:nvPr/>
        </p:nvPicPr>
        <p:blipFill rotWithShape="1">
          <a:blip r:embed="rId3">
            <a:alphaModFix/>
          </a:blip>
          <a:srcRect/>
          <a:stretch/>
        </p:blipFill>
        <p:spPr>
          <a:xfrm>
            <a:off x="1752600" y="3124200"/>
            <a:ext cx="8686800" cy="37338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Binary Parallel Adder/Subtractor: </a:t>
            </a:r>
            <a:br>
              <a:rPr lang="en-US"/>
            </a:br>
            <a:endParaRPr/>
          </a:p>
        </p:txBody>
      </p:sp>
      <p:sp>
        <p:nvSpPr>
          <p:cNvPr id="379" name="Google Shape;379;p55"/>
          <p:cNvSpPr txBox="1">
            <a:spLocks noGrp="1"/>
          </p:cNvSpPr>
          <p:nvPr>
            <p:ph type="body" idx="1"/>
          </p:nvPr>
        </p:nvSpPr>
        <p:spPr>
          <a:xfrm>
            <a:off x="1981200" y="1143000"/>
            <a:ext cx="7467600" cy="5330952"/>
          </a:xfrm>
          <a:prstGeom prst="rect">
            <a:avLst/>
          </a:prstGeom>
          <a:noFill/>
          <a:ln>
            <a:noFill/>
          </a:ln>
        </p:spPr>
        <p:txBody>
          <a:bodyPr spcFirstLastPara="1" wrap="square" lIns="91425" tIns="45700" rIns="91425" bIns="45700" anchor="t" anchorCtr="0">
            <a:noAutofit/>
          </a:bodyPr>
          <a:lstStyle/>
          <a:p>
            <a:pPr marL="228600" lvl="0" indent="-228600" algn="l" rtl="0">
              <a:lnSpc>
                <a:spcPct val="110000"/>
              </a:lnSpc>
              <a:spcBef>
                <a:spcPts val="0"/>
              </a:spcBef>
              <a:spcAft>
                <a:spcPts val="0"/>
              </a:spcAft>
              <a:buClr>
                <a:schemeClr val="dk1"/>
              </a:buClr>
              <a:buSzPts val="3500"/>
              <a:buChar char="•"/>
            </a:pPr>
            <a:r>
              <a:rPr lang="en-US" sz="3500">
                <a:latin typeface="Times New Roman"/>
                <a:ea typeface="Times New Roman"/>
                <a:cs typeface="Times New Roman"/>
                <a:sym typeface="Times New Roman"/>
              </a:rPr>
              <a:t>The circuit has a mode control signal M which determines if the circuit is to operate as an  adder or a subtractor. </a:t>
            </a:r>
            <a:endParaRPr/>
          </a:p>
          <a:p>
            <a:pPr marL="228600" lvl="0" indent="-228600" algn="l" rtl="0">
              <a:lnSpc>
                <a:spcPct val="110000"/>
              </a:lnSpc>
              <a:spcBef>
                <a:spcPts val="1000"/>
              </a:spcBef>
              <a:spcAft>
                <a:spcPts val="0"/>
              </a:spcAft>
              <a:buClr>
                <a:schemeClr val="dk1"/>
              </a:buClr>
              <a:buSzPts val="3500"/>
              <a:buChar char="•"/>
            </a:pPr>
            <a:r>
              <a:rPr lang="en-US" sz="3500">
                <a:latin typeface="Times New Roman"/>
                <a:ea typeface="Times New Roman"/>
                <a:cs typeface="Times New Roman"/>
                <a:sym typeface="Times New Roman"/>
              </a:rPr>
              <a:t>Each XOR gate receives input M and one of the inputs of B, i.e., Bi. To understand the behavior of XOR gate consider its truth table given below. </a:t>
            </a:r>
            <a:endParaRPr/>
          </a:p>
          <a:p>
            <a:pPr marL="228600" lvl="0" indent="-6350" algn="l" rtl="0">
              <a:lnSpc>
                <a:spcPct val="110000"/>
              </a:lnSpc>
              <a:spcBef>
                <a:spcPts val="1000"/>
              </a:spcBef>
              <a:spcAft>
                <a:spcPts val="0"/>
              </a:spcAft>
              <a:buClr>
                <a:schemeClr val="dk1"/>
              </a:buClr>
              <a:buSzPts val="3500"/>
              <a:buNone/>
            </a:pPr>
            <a:endParaRPr sz="3500">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385" name="Google Shape;385;p5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0">
                <a:latin typeface="Times New Roman"/>
                <a:ea typeface="Times New Roman"/>
                <a:cs typeface="Times New Roman"/>
                <a:sym typeface="Times New Roman"/>
              </a:rPr>
              <a:t>If one input of XOR gate is  zero then the output of XOR will be same as the second input. While if one input of  XOR gate is one then the output of XOR will be complement of the second input.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Binary Parallel Adder/Subtractor: </a:t>
            </a:r>
            <a:br>
              <a:rPr lang="en-US"/>
            </a:br>
            <a:endParaRPr/>
          </a:p>
        </p:txBody>
      </p:sp>
      <p:sp>
        <p:nvSpPr>
          <p:cNvPr id="391" name="Google Shape;391;p5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Char char="•"/>
            </a:pPr>
            <a:r>
              <a:rPr lang="en-US" b="0">
                <a:latin typeface="Times New Roman"/>
                <a:ea typeface="Times New Roman"/>
                <a:cs typeface="Times New Roman"/>
                <a:sym typeface="Times New Roman"/>
              </a:rPr>
              <a:t>So when M = 0, the output of XOR gate will be Bi ⊕ 0 = Bi. If the full adders receive the value of B, and the input carry C0 is 0, the circuit performs A plus B.  </a:t>
            </a:r>
            <a:endParaRPr/>
          </a:p>
          <a:p>
            <a:pPr marL="228600" lvl="0" indent="-228600" algn="just" rtl="0">
              <a:lnSpc>
                <a:spcPct val="90000"/>
              </a:lnSpc>
              <a:spcBef>
                <a:spcPts val="1000"/>
              </a:spcBef>
              <a:spcAft>
                <a:spcPts val="0"/>
              </a:spcAft>
              <a:buClr>
                <a:schemeClr val="dk1"/>
              </a:buClr>
              <a:buSzPts val="2800"/>
              <a:buChar char="•"/>
            </a:pPr>
            <a:r>
              <a:rPr lang="en-US" b="0">
                <a:latin typeface="Times New Roman"/>
                <a:ea typeface="Times New Roman"/>
                <a:cs typeface="Times New Roman"/>
                <a:sym typeface="Times New Roman"/>
              </a:rPr>
              <a:t>When M = 1, the output of XOR gate will be Bi ⊕ 1 = Bi.  If the full adders receive the  value of B’, and the input carry C0 is 1, the circuit performs A plus 1’s complement of B  plus 1, which is equal to A minus B.</a:t>
            </a:r>
            <a:endParaRPr/>
          </a:p>
          <a:p>
            <a:pPr marL="228600" lvl="0" indent="-50800" algn="just" rtl="0">
              <a:lnSpc>
                <a:spcPct val="90000"/>
              </a:lnSpc>
              <a:spcBef>
                <a:spcPts val="1000"/>
              </a:spcBef>
              <a:spcAft>
                <a:spcPts val="0"/>
              </a:spcAft>
              <a:buClr>
                <a:schemeClr val="dk1"/>
              </a:buClr>
              <a:buSzPts val="2800"/>
              <a:buNone/>
            </a:pPr>
            <a:endParaRPr b="0">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8"/>
          <p:cNvSpPr txBox="1">
            <a:spLocks noGrp="1"/>
          </p:cNvSpPr>
          <p:nvPr>
            <p:ph type="ctrTitle"/>
          </p:nvPr>
        </p:nvSpPr>
        <p:spPr>
          <a:xfrm>
            <a:off x="2881290" y="1142984"/>
            <a:ext cx="7000924" cy="2643206"/>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FF0000"/>
              </a:buClr>
              <a:buSzPct val="100000"/>
              <a:buFont typeface="Calibri"/>
              <a:buNone/>
            </a:pPr>
            <a:r>
              <a:rPr lang="en-US">
                <a:solidFill>
                  <a:srgbClr val="FF0000"/>
                </a:solidFill>
              </a:rPr>
              <a:t>Multiplier – </a:t>
            </a:r>
            <a:br>
              <a:rPr lang="en-US">
                <a:solidFill>
                  <a:srgbClr val="FF0000"/>
                </a:solidFill>
              </a:rPr>
            </a:br>
            <a:r>
              <a:rPr lang="en-US">
                <a:solidFill>
                  <a:srgbClr val="FF0000"/>
                </a:solidFill>
              </a:rPr>
              <a:t>Unsigned, Signed</a:t>
            </a:r>
            <a:br>
              <a:rPr lang="en-US">
                <a:solidFill>
                  <a:srgbClr val="FF0000"/>
                </a:solidFill>
              </a:rPr>
            </a:br>
            <a:r>
              <a:rPr lang="en-US">
                <a:solidFill>
                  <a:srgbClr val="FF0000"/>
                </a:solidFill>
              </a:rPr>
              <a:t> Fast, Carry Save Addition of summands </a:t>
            </a:r>
            <a:endParaRPr/>
          </a:p>
        </p:txBody>
      </p:sp>
      <p:sp>
        <p:nvSpPr>
          <p:cNvPr id="397" name="Google Shape;397;p58"/>
          <p:cNvSpPr txBox="1">
            <a:spLocks noGrp="1"/>
          </p:cNvSpPr>
          <p:nvPr>
            <p:ph type="subTitle" idx="1"/>
          </p:nvPr>
        </p:nvSpPr>
        <p:spPr>
          <a:xfrm>
            <a:off x="2895600" y="4500570"/>
            <a:ext cx="6400800" cy="113823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a:p>
        </p:txBody>
      </p:sp>
      <p:pic>
        <p:nvPicPr>
          <p:cNvPr id="398" name="Google Shape;398;p58" descr="pngfind.com-kingpin-png-4152286 (1).png"/>
          <p:cNvPicPr preferRelativeResize="0"/>
          <p:nvPr/>
        </p:nvPicPr>
        <p:blipFill rotWithShape="1">
          <a:blip r:embed="rId3">
            <a:alphaModFix/>
          </a:blip>
          <a:srcRect/>
          <a:stretch/>
        </p:blipFill>
        <p:spPr>
          <a:xfrm>
            <a:off x="9179626" y="0"/>
            <a:ext cx="1488375" cy="65116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9"/>
          <p:cNvSpPr txBox="1">
            <a:spLocks noGrp="1"/>
          </p:cNvSpPr>
          <p:nvPr>
            <p:ph type="title"/>
          </p:nvPr>
        </p:nvSpPr>
        <p:spPr>
          <a:xfrm>
            <a:off x="1981200" y="274638"/>
            <a:ext cx="8229600" cy="86834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000"/>
              <a:buFont typeface="Calibri"/>
              <a:buNone/>
            </a:pPr>
            <a:r>
              <a:rPr lang="en-US" sz="4000">
                <a:solidFill>
                  <a:srgbClr val="FF0000"/>
                </a:solidFill>
              </a:rPr>
              <a:t>Binary</a:t>
            </a:r>
            <a:r>
              <a:rPr lang="en-US">
                <a:solidFill>
                  <a:srgbClr val="C00000"/>
                </a:solidFill>
              </a:rPr>
              <a:t> </a:t>
            </a:r>
            <a:r>
              <a:rPr lang="en-US" sz="4000">
                <a:solidFill>
                  <a:srgbClr val="FF0000"/>
                </a:solidFill>
              </a:rPr>
              <a:t>Multiplier</a:t>
            </a:r>
            <a:endParaRPr/>
          </a:p>
        </p:txBody>
      </p:sp>
      <p:sp>
        <p:nvSpPr>
          <p:cNvPr id="404" name="Google Shape;404;p59"/>
          <p:cNvSpPr txBox="1">
            <a:spLocks noGrp="1"/>
          </p:cNvSpPr>
          <p:nvPr>
            <p:ph type="body" idx="1"/>
          </p:nvPr>
        </p:nvSpPr>
        <p:spPr>
          <a:xfrm>
            <a:off x="1981200" y="1214423"/>
            <a:ext cx="8329642" cy="4911741"/>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The usual method of long multiplication for decimal numbers applies also for binary numbers.</a:t>
            </a:r>
            <a:endParaRPr/>
          </a:p>
          <a:p>
            <a:pPr marL="228600" lvl="0" indent="-228600" algn="l" rtl="0">
              <a:lnSpc>
                <a:spcPct val="90000"/>
              </a:lnSpc>
              <a:spcBef>
                <a:spcPts val="1000"/>
              </a:spcBef>
              <a:spcAft>
                <a:spcPts val="0"/>
              </a:spcAft>
              <a:buClr>
                <a:schemeClr val="dk1"/>
              </a:buClr>
              <a:buSzPts val="2800"/>
              <a:buFont typeface="Calibri"/>
              <a:buChar char="•"/>
            </a:pPr>
            <a:r>
              <a:rPr lang="en-US"/>
              <a:t>Unsigned number multiplication : Two n-bit numbers; 2n-bit result</a:t>
            </a:r>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a:p>
        </p:txBody>
      </p:sp>
      <p:pic>
        <p:nvPicPr>
          <p:cNvPr id="405" name="Google Shape;405;p59" descr="pngfind.com-kingpin-png-4152286 (1).png"/>
          <p:cNvPicPr preferRelativeResize="0"/>
          <p:nvPr/>
        </p:nvPicPr>
        <p:blipFill rotWithShape="1">
          <a:blip r:embed="rId3">
            <a:alphaModFix/>
          </a:blip>
          <a:srcRect/>
          <a:stretch/>
        </p:blipFill>
        <p:spPr>
          <a:xfrm>
            <a:off x="9179626" y="0"/>
            <a:ext cx="1488375" cy="65116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60"/>
          <p:cNvSpPr txBox="1">
            <a:spLocks noGrp="1"/>
          </p:cNvSpPr>
          <p:nvPr>
            <p:ph type="title"/>
          </p:nvPr>
        </p:nvSpPr>
        <p:spPr>
          <a:xfrm>
            <a:off x="1981200" y="274638"/>
            <a:ext cx="8229600" cy="7921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000"/>
              <a:buFont typeface="Calibri"/>
              <a:buNone/>
            </a:pPr>
            <a:r>
              <a:rPr lang="en-US" sz="4000">
                <a:solidFill>
                  <a:srgbClr val="FF0000"/>
                </a:solidFill>
              </a:rPr>
              <a:t>Binary Multiplier</a:t>
            </a:r>
            <a:endParaRPr/>
          </a:p>
        </p:txBody>
      </p:sp>
      <p:sp>
        <p:nvSpPr>
          <p:cNvPr id="411" name="Google Shape;411;p60"/>
          <p:cNvSpPr txBox="1">
            <a:spLocks noGrp="1"/>
          </p:cNvSpPr>
          <p:nvPr>
            <p:ph type="body" idx="1"/>
          </p:nvPr>
        </p:nvSpPr>
        <p:spPr>
          <a:xfrm>
            <a:off x="1981200" y="1143002"/>
            <a:ext cx="8229600" cy="1600199"/>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38100" algn="just" rtl="0">
              <a:lnSpc>
                <a:spcPct val="90000"/>
              </a:lnSpc>
              <a:spcBef>
                <a:spcPts val="1000"/>
              </a:spcBef>
              <a:spcAft>
                <a:spcPts val="0"/>
              </a:spcAft>
              <a:buClr>
                <a:schemeClr val="dk1"/>
              </a:buClr>
              <a:buSzPts val="3000"/>
              <a:buNone/>
            </a:pPr>
            <a:endParaRPr sz="3000">
              <a:latin typeface="Times New Roman"/>
              <a:ea typeface="Times New Roman"/>
              <a:cs typeface="Times New Roman"/>
              <a:sym typeface="Times New Roman"/>
            </a:endParaRPr>
          </a:p>
        </p:txBody>
      </p:sp>
      <p:pic>
        <p:nvPicPr>
          <p:cNvPr id="412" name="Google Shape;412;p60"/>
          <p:cNvPicPr preferRelativeResize="0"/>
          <p:nvPr/>
        </p:nvPicPr>
        <p:blipFill rotWithShape="1">
          <a:blip r:embed="rId3">
            <a:alphaModFix/>
          </a:blip>
          <a:srcRect/>
          <a:stretch/>
        </p:blipFill>
        <p:spPr>
          <a:xfrm>
            <a:off x="5962650" y="1219201"/>
            <a:ext cx="4400550" cy="5105400"/>
          </a:xfrm>
          <a:prstGeom prst="rect">
            <a:avLst/>
          </a:prstGeom>
          <a:noFill/>
          <a:ln>
            <a:noFill/>
          </a:ln>
        </p:spPr>
      </p:pic>
      <p:pic>
        <p:nvPicPr>
          <p:cNvPr id="413" name="Google Shape;413;p60"/>
          <p:cNvPicPr preferRelativeResize="0"/>
          <p:nvPr/>
        </p:nvPicPr>
        <p:blipFill rotWithShape="1">
          <a:blip r:embed="rId4">
            <a:alphaModFix/>
          </a:blip>
          <a:srcRect/>
          <a:stretch/>
        </p:blipFill>
        <p:spPr>
          <a:xfrm>
            <a:off x="1905000" y="1828800"/>
            <a:ext cx="3505200" cy="2057400"/>
          </a:xfrm>
          <a:prstGeom prst="rect">
            <a:avLst/>
          </a:prstGeom>
          <a:noFill/>
          <a:ln>
            <a:noFill/>
          </a:ln>
        </p:spPr>
      </p:pic>
      <p:pic>
        <p:nvPicPr>
          <p:cNvPr id="414" name="Google Shape;414;p60" descr="pngfind.com-kingpin-png-4152286 (1).png"/>
          <p:cNvPicPr preferRelativeResize="0"/>
          <p:nvPr/>
        </p:nvPicPr>
        <p:blipFill rotWithShape="1">
          <a:blip r:embed="rId5">
            <a:alphaModFix/>
          </a:blip>
          <a:srcRect/>
          <a:stretch/>
        </p:blipFill>
        <p:spPr>
          <a:xfrm>
            <a:off x="9179626" y="0"/>
            <a:ext cx="1488375" cy="65116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000"/>
              <a:buFont typeface="Calibri"/>
              <a:buNone/>
            </a:pPr>
            <a:r>
              <a:rPr lang="en-US" sz="4000">
                <a:solidFill>
                  <a:srgbClr val="C00000"/>
                </a:solidFill>
              </a:rPr>
              <a:t>Binary Multiplier</a:t>
            </a:r>
            <a:endParaRPr/>
          </a:p>
        </p:txBody>
      </p:sp>
      <p:sp>
        <p:nvSpPr>
          <p:cNvPr id="420" name="Google Shape;420;p61"/>
          <p:cNvSpPr txBox="1">
            <a:spLocks noGrp="1"/>
          </p:cNvSpPr>
          <p:nvPr>
            <p:ph type="body" idx="1"/>
          </p:nvPr>
        </p:nvSpPr>
        <p:spPr>
          <a:xfrm>
            <a:off x="1981200" y="1600201"/>
            <a:ext cx="8229600" cy="12954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Calibri"/>
              <a:buChar char="•"/>
            </a:pPr>
            <a:r>
              <a:rPr lang="en-US"/>
              <a:t>Unsigned number multiplication</a:t>
            </a:r>
            <a:endParaRPr/>
          </a:p>
          <a:p>
            <a:pPr marL="228600" lvl="0" indent="-228600" algn="l" rtl="0">
              <a:lnSpc>
                <a:spcPct val="90000"/>
              </a:lnSpc>
              <a:spcBef>
                <a:spcPts val="1000"/>
              </a:spcBef>
              <a:spcAft>
                <a:spcPts val="0"/>
              </a:spcAft>
              <a:buClr>
                <a:schemeClr val="dk1"/>
              </a:buClr>
              <a:buSzPts val="2800"/>
              <a:buFont typeface="Calibri"/>
              <a:buChar char="•"/>
            </a:pPr>
            <a:r>
              <a:rPr lang="en-US"/>
              <a:t>Two n-bit numbers; 2n-bit result</a:t>
            </a:r>
            <a:endParaRPr/>
          </a:p>
          <a:p>
            <a:pPr marL="228600" lvl="0" indent="-50800" algn="l" rtl="0">
              <a:lnSpc>
                <a:spcPct val="90000"/>
              </a:lnSpc>
              <a:spcBef>
                <a:spcPts val="1000"/>
              </a:spcBef>
              <a:spcAft>
                <a:spcPts val="0"/>
              </a:spcAft>
              <a:buClr>
                <a:schemeClr val="dk1"/>
              </a:buClr>
              <a:buSzPts val="2800"/>
              <a:buFont typeface="Calibri"/>
              <a:buNone/>
            </a:pPr>
            <a:endParaRPr/>
          </a:p>
          <a:p>
            <a:pPr marL="228600" lvl="0" indent="-50800" algn="l" rtl="0">
              <a:lnSpc>
                <a:spcPct val="90000"/>
              </a:lnSpc>
              <a:spcBef>
                <a:spcPts val="1000"/>
              </a:spcBef>
              <a:spcAft>
                <a:spcPts val="0"/>
              </a:spcAft>
              <a:buClr>
                <a:schemeClr val="dk1"/>
              </a:buClr>
              <a:buSzPts val="2800"/>
              <a:buFont typeface="Calibri"/>
              <a:buNone/>
            </a:pPr>
            <a:endParaRPr/>
          </a:p>
          <a:p>
            <a:pPr marL="228600" lvl="0" indent="-50800" algn="l" rtl="0">
              <a:lnSpc>
                <a:spcPct val="90000"/>
              </a:lnSpc>
              <a:spcBef>
                <a:spcPts val="1000"/>
              </a:spcBef>
              <a:spcAft>
                <a:spcPts val="0"/>
              </a:spcAft>
              <a:buClr>
                <a:schemeClr val="dk1"/>
              </a:buClr>
              <a:buSzPts val="2800"/>
              <a:buFont typeface="Calibri"/>
              <a:buNone/>
            </a:pPr>
            <a:endParaRPr/>
          </a:p>
          <a:p>
            <a:pPr marL="228600" lvl="0" indent="-50800" algn="l" rtl="0">
              <a:lnSpc>
                <a:spcPct val="90000"/>
              </a:lnSpc>
              <a:spcBef>
                <a:spcPts val="1000"/>
              </a:spcBef>
              <a:spcAft>
                <a:spcPts val="0"/>
              </a:spcAft>
              <a:buClr>
                <a:schemeClr val="dk1"/>
              </a:buClr>
              <a:buSzPts val="2800"/>
              <a:buFont typeface="Calibri"/>
              <a:buNone/>
            </a:pPr>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508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38100" algn="just" rtl="0">
              <a:lnSpc>
                <a:spcPct val="90000"/>
              </a:lnSpc>
              <a:spcBef>
                <a:spcPts val="1000"/>
              </a:spcBef>
              <a:spcAft>
                <a:spcPts val="0"/>
              </a:spcAft>
              <a:buClr>
                <a:schemeClr val="dk1"/>
              </a:buClr>
              <a:buSzPts val="3000"/>
              <a:buNone/>
            </a:pPr>
            <a:endParaRPr sz="3000">
              <a:latin typeface="Times New Roman"/>
              <a:ea typeface="Times New Roman"/>
              <a:cs typeface="Times New Roman"/>
              <a:sym typeface="Times New Roman"/>
            </a:endParaRPr>
          </a:p>
        </p:txBody>
      </p:sp>
      <p:pic>
        <p:nvPicPr>
          <p:cNvPr id="421" name="Google Shape;421;p61"/>
          <p:cNvPicPr preferRelativeResize="0"/>
          <p:nvPr/>
        </p:nvPicPr>
        <p:blipFill rotWithShape="1">
          <a:blip r:embed="rId3">
            <a:alphaModFix/>
          </a:blip>
          <a:srcRect/>
          <a:stretch/>
        </p:blipFill>
        <p:spPr>
          <a:xfrm>
            <a:off x="3200400" y="3048000"/>
            <a:ext cx="5038740" cy="3167082"/>
          </a:xfrm>
          <a:prstGeom prst="rect">
            <a:avLst/>
          </a:prstGeom>
          <a:noFill/>
          <a:ln>
            <a:noFill/>
          </a:ln>
        </p:spPr>
      </p:pic>
      <p:pic>
        <p:nvPicPr>
          <p:cNvPr id="422" name="Google Shape;422;p61" descr="pngfind.com-kingpin-png-4152286 (1).png"/>
          <p:cNvPicPr preferRelativeResize="0"/>
          <p:nvPr/>
        </p:nvPicPr>
        <p:blipFill rotWithShape="1">
          <a:blip r:embed="rId4">
            <a:alphaModFix/>
          </a:blip>
          <a:srcRect/>
          <a:stretch/>
        </p:blipFill>
        <p:spPr>
          <a:xfrm>
            <a:off x="9179626" y="0"/>
            <a:ext cx="1488375" cy="65116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62"/>
          <p:cNvSpPr txBox="1">
            <a:spLocks noGrp="1"/>
          </p:cNvSpPr>
          <p:nvPr>
            <p:ph type="title"/>
          </p:nvPr>
        </p:nvSpPr>
        <p:spPr>
          <a:xfrm>
            <a:off x="1981200" y="274638"/>
            <a:ext cx="8229600" cy="7921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000"/>
              <a:buFont typeface="Calibri"/>
              <a:buNone/>
            </a:pPr>
            <a:r>
              <a:rPr lang="en-US" sz="4000">
                <a:solidFill>
                  <a:srgbClr val="C00000"/>
                </a:solidFill>
              </a:rPr>
              <a:t>Binary Multiplier</a:t>
            </a:r>
            <a:endParaRPr/>
          </a:p>
        </p:txBody>
      </p:sp>
      <p:sp>
        <p:nvSpPr>
          <p:cNvPr id="428" name="Google Shape;428;p62"/>
          <p:cNvSpPr txBox="1">
            <a:spLocks noGrp="1"/>
          </p:cNvSpPr>
          <p:nvPr>
            <p:ph type="body" idx="1"/>
          </p:nvPr>
        </p:nvSpPr>
        <p:spPr>
          <a:xfrm>
            <a:off x="1981200" y="1143001"/>
            <a:ext cx="8229600" cy="5181599"/>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The first partial product is formed by multiplying the B1B0 by A0. The multiplication of two bits such as A0 and B0 produces a 1 if both bits are 1; otherwise it produces a 0 like an AND operation. So the partial products can be implemented with AND gates. </a:t>
            </a:r>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The second partial product is formed by multiplying the B1B0 by A1 and is shifted one position to the left.</a:t>
            </a:r>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The two partial products are added with two half adders (HA). Usually there are more bits in the partial products, and then it will be necessary to use FAs. </a:t>
            </a:r>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38100" algn="just" rtl="0">
              <a:lnSpc>
                <a:spcPct val="90000"/>
              </a:lnSpc>
              <a:spcBef>
                <a:spcPts val="1000"/>
              </a:spcBef>
              <a:spcAft>
                <a:spcPts val="0"/>
              </a:spcAft>
              <a:buClr>
                <a:schemeClr val="dk1"/>
              </a:buClr>
              <a:buSzPts val="3000"/>
              <a:buNone/>
            </a:pPr>
            <a:endParaRPr sz="3000">
              <a:latin typeface="Times New Roman"/>
              <a:ea typeface="Times New Roman"/>
              <a:cs typeface="Times New Roman"/>
              <a:sym typeface="Times New Roman"/>
            </a:endParaRPr>
          </a:p>
        </p:txBody>
      </p:sp>
      <p:pic>
        <p:nvPicPr>
          <p:cNvPr id="429" name="Google Shape;429;p62" descr="pngfind.com-kingpin-png-4152286 (1).png"/>
          <p:cNvPicPr preferRelativeResize="0"/>
          <p:nvPr/>
        </p:nvPicPr>
        <p:blipFill rotWithShape="1">
          <a:blip r:embed="rId3">
            <a:alphaModFix/>
          </a:blip>
          <a:srcRect/>
          <a:stretch/>
        </p:blipFill>
        <p:spPr>
          <a:xfrm>
            <a:off x="9179626" y="0"/>
            <a:ext cx="1488375" cy="65116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Binary Multiplier</a:t>
            </a:r>
            <a:endParaRPr>
              <a:solidFill>
                <a:srgbClr val="C00000"/>
              </a:solidFill>
            </a:endParaRPr>
          </a:p>
        </p:txBody>
      </p:sp>
      <p:pic>
        <p:nvPicPr>
          <p:cNvPr id="435" name="Google Shape;435;p63"/>
          <p:cNvPicPr preferRelativeResize="0">
            <a:picLocks noGrp="1"/>
          </p:cNvPicPr>
          <p:nvPr>
            <p:ph type="body" idx="1"/>
          </p:nvPr>
        </p:nvPicPr>
        <p:blipFill rotWithShape="1">
          <a:blip r:embed="rId3">
            <a:alphaModFix/>
          </a:blip>
          <a:srcRect/>
          <a:stretch/>
        </p:blipFill>
        <p:spPr>
          <a:xfrm>
            <a:off x="4233863" y="1696245"/>
            <a:ext cx="3724275" cy="4333875"/>
          </a:xfrm>
          <a:prstGeom prst="rect">
            <a:avLst/>
          </a:prstGeom>
          <a:noFill/>
          <a:ln>
            <a:noFill/>
          </a:ln>
        </p:spPr>
      </p:pic>
      <p:pic>
        <p:nvPicPr>
          <p:cNvPr id="436" name="Google Shape;436;p63" descr="pngfind.com-kingpin-png-4152286 (1).png"/>
          <p:cNvPicPr preferRelativeResize="0"/>
          <p:nvPr/>
        </p:nvPicPr>
        <p:blipFill rotWithShape="1">
          <a:blip r:embed="rId4">
            <a:alphaModFix/>
          </a:blip>
          <a:srcRect/>
          <a:stretch/>
        </p:blipFill>
        <p:spPr>
          <a:xfrm>
            <a:off x="9179626" y="0"/>
            <a:ext cx="1488375" cy="65116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6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Binary Multiplier</a:t>
            </a:r>
            <a:endParaRPr/>
          </a:p>
        </p:txBody>
      </p:sp>
      <p:pic>
        <p:nvPicPr>
          <p:cNvPr id="442" name="Google Shape;442;p64"/>
          <p:cNvPicPr preferRelativeResize="0">
            <a:picLocks noGrp="1"/>
          </p:cNvPicPr>
          <p:nvPr>
            <p:ph type="body" idx="1"/>
          </p:nvPr>
        </p:nvPicPr>
        <p:blipFill rotWithShape="1">
          <a:blip r:embed="rId3">
            <a:alphaModFix/>
          </a:blip>
          <a:srcRect/>
          <a:stretch/>
        </p:blipFill>
        <p:spPr>
          <a:xfrm>
            <a:off x="1981200" y="2053580"/>
            <a:ext cx="8229600" cy="3619205"/>
          </a:xfrm>
          <a:prstGeom prst="rect">
            <a:avLst/>
          </a:prstGeom>
          <a:noFill/>
          <a:ln>
            <a:noFill/>
          </a:ln>
        </p:spPr>
      </p:pic>
      <p:pic>
        <p:nvPicPr>
          <p:cNvPr id="443" name="Google Shape;443;p64" descr="pngfind.com-kingpin-png-4152286 (1).png"/>
          <p:cNvPicPr preferRelativeResize="0"/>
          <p:nvPr/>
        </p:nvPicPr>
        <p:blipFill rotWithShape="1">
          <a:blip r:embed="rId4">
            <a:alphaModFix/>
          </a:blip>
          <a:srcRect/>
          <a:stretch/>
        </p:blipFill>
        <p:spPr>
          <a:xfrm>
            <a:off x="9179626" y="0"/>
            <a:ext cx="1488375" cy="65116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65"/>
          <p:cNvSpPr txBox="1">
            <a:spLocks noGrp="1"/>
          </p:cNvSpPr>
          <p:nvPr>
            <p:ph type="title"/>
          </p:nvPr>
        </p:nvSpPr>
        <p:spPr>
          <a:xfrm>
            <a:off x="1981200" y="274638"/>
            <a:ext cx="8229600" cy="7921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000"/>
              <a:buFont typeface="Calibri"/>
              <a:buNone/>
            </a:pPr>
            <a:r>
              <a:rPr lang="en-US" sz="4000">
                <a:solidFill>
                  <a:srgbClr val="C00000"/>
                </a:solidFill>
              </a:rPr>
              <a:t>Binary Multiplier</a:t>
            </a:r>
            <a:endParaRPr/>
          </a:p>
        </p:txBody>
      </p:sp>
      <p:sp>
        <p:nvSpPr>
          <p:cNvPr id="449" name="Google Shape;449;p65"/>
          <p:cNvSpPr txBox="1">
            <a:spLocks noGrp="1"/>
          </p:cNvSpPr>
          <p:nvPr>
            <p:ph type="body" idx="1"/>
          </p:nvPr>
        </p:nvSpPr>
        <p:spPr>
          <a:xfrm>
            <a:off x="1981200" y="1143001"/>
            <a:ext cx="8229600" cy="5181599"/>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The least significant bit of the product does not have to go through an adder, since it is formed by the output of the first AND gate as shown in the Figure.</a:t>
            </a:r>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38100" algn="just" rtl="0">
              <a:lnSpc>
                <a:spcPct val="90000"/>
              </a:lnSpc>
              <a:spcBef>
                <a:spcPts val="1000"/>
              </a:spcBef>
              <a:spcAft>
                <a:spcPts val="0"/>
              </a:spcAft>
              <a:buClr>
                <a:schemeClr val="dk1"/>
              </a:buClr>
              <a:buSzPts val="3000"/>
              <a:buNone/>
            </a:pPr>
            <a:endParaRPr sz="3000">
              <a:latin typeface="Times New Roman"/>
              <a:ea typeface="Times New Roman"/>
              <a:cs typeface="Times New Roman"/>
              <a:sym typeface="Times New Roman"/>
            </a:endParaRPr>
          </a:p>
        </p:txBody>
      </p:sp>
      <p:pic>
        <p:nvPicPr>
          <p:cNvPr id="450" name="Google Shape;450;p65" descr="pngfind.com-kingpin-png-4152286 (1).png"/>
          <p:cNvPicPr preferRelativeResize="0"/>
          <p:nvPr/>
        </p:nvPicPr>
        <p:blipFill rotWithShape="1">
          <a:blip r:embed="rId3">
            <a:alphaModFix/>
          </a:blip>
          <a:srcRect/>
          <a:stretch/>
        </p:blipFill>
        <p:spPr>
          <a:xfrm>
            <a:off x="9179626" y="0"/>
            <a:ext cx="1488375" cy="65116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Example</a:t>
            </a:r>
            <a:endParaRPr/>
          </a:p>
        </p:txBody>
      </p:sp>
      <p:sp>
        <p:nvSpPr>
          <p:cNvPr id="456" name="Google Shape;456;p6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685800" lvl="1" indent="-228600" algn="l" rtl="0">
              <a:lnSpc>
                <a:spcPct val="90000"/>
              </a:lnSpc>
              <a:spcBef>
                <a:spcPts val="0"/>
              </a:spcBef>
              <a:spcAft>
                <a:spcPts val="0"/>
              </a:spcAft>
              <a:buClr>
                <a:schemeClr val="dk1"/>
              </a:buClr>
              <a:buSzPts val="2400"/>
              <a:buNone/>
            </a:pPr>
            <a:r>
              <a:rPr lang="en-US"/>
              <a:t>	   	B</a:t>
            </a:r>
            <a:r>
              <a:rPr lang="en-US" baseline="-25000"/>
              <a:t>3</a:t>
            </a:r>
            <a:r>
              <a:rPr lang="en-US"/>
              <a:t>  B</a:t>
            </a:r>
            <a:r>
              <a:rPr lang="en-US" baseline="-25000"/>
              <a:t>2</a:t>
            </a:r>
            <a:r>
              <a:rPr lang="en-US"/>
              <a:t>  B</a:t>
            </a:r>
            <a:r>
              <a:rPr lang="en-US" baseline="-25000"/>
              <a:t>1</a:t>
            </a:r>
            <a:r>
              <a:rPr lang="en-US"/>
              <a:t>  B</a:t>
            </a:r>
            <a:r>
              <a:rPr lang="en-US" baseline="-25000"/>
              <a:t>0</a:t>
            </a:r>
            <a:endParaRPr/>
          </a:p>
          <a:p>
            <a:pPr marL="685800" lvl="1" indent="-228600" algn="l" rtl="0">
              <a:lnSpc>
                <a:spcPct val="90000"/>
              </a:lnSpc>
              <a:spcBef>
                <a:spcPts val="500"/>
              </a:spcBef>
              <a:spcAft>
                <a:spcPts val="0"/>
              </a:spcAft>
              <a:buClr>
                <a:schemeClr val="dk1"/>
              </a:buClr>
              <a:buSzPts val="2400"/>
              <a:buNone/>
            </a:pPr>
            <a:r>
              <a:rPr lang="en-US"/>
              <a:t>	   	 1    1   0   1			1    3</a:t>
            </a:r>
            <a:endParaRPr/>
          </a:p>
          <a:p>
            <a:pPr marL="685800" lvl="1" indent="-228600" algn="l" rtl="0">
              <a:lnSpc>
                <a:spcPct val="90000"/>
              </a:lnSpc>
              <a:spcBef>
                <a:spcPts val="500"/>
              </a:spcBef>
              <a:spcAft>
                <a:spcPts val="0"/>
              </a:spcAft>
              <a:buClr>
                <a:schemeClr val="dk1"/>
              </a:buClr>
              <a:buSzPts val="2400"/>
              <a:buNone/>
            </a:pPr>
            <a:r>
              <a:rPr lang="en-US"/>
              <a:t>  *                    1   1   0		   *            6</a:t>
            </a:r>
            <a:endParaRPr/>
          </a:p>
          <a:p>
            <a:pPr marL="685800" lvl="1" indent="-228600" algn="l" rtl="0">
              <a:lnSpc>
                <a:spcPct val="90000"/>
              </a:lnSpc>
              <a:spcBef>
                <a:spcPts val="500"/>
              </a:spcBef>
              <a:spcAft>
                <a:spcPts val="0"/>
              </a:spcAft>
              <a:buClr>
                <a:schemeClr val="dk1"/>
              </a:buClr>
              <a:buSzPts val="2400"/>
              <a:buNone/>
            </a:pPr>
            <a:r>
              <a:rPr lang="en-US"/>
              <a:t>	  		 0    0   0   0   A</a:t>
            </a:r>
            <a:r>
              <a:rPr lang="en-US" baseline="-25000"/>
              <a:t>0</a:t>
            </a:r>
            <a:r>
              <a:rPr lang="en-US"/>
              <a:t>		1    8</a:t>
            </a:r>
            <a:endParaRPr baseline="-25000"/>
          </a:p>
          <a:p>
            <a:pPr marL="685800" lvl="1" indent="-228600" algn="l" rtl="0">
              <a:lnSpc>
                <a:spcPct val="90000"/>
              </a:lnSpc>
              <a:spcBef>
                <a:spcPts val="500"/>
              </a:spcBef>
              <a:spcAft>
                <a:spcPts val="0"/>
              </a:spcAft>
              <a:buClr>
                <a:schemeClr val="dk1"/>
              </a:buClr>
              <a:buSzPts val="2400"/>
              <a:buNone/>
            </a:pPr>
            <a:r>
              <a:rPr lang="en-US"/>
              <a:t> +		       1   1    0   1	A</a:t>
            </a:r>
            <a:r>
              <a:rPr lang="en-US" baseline="-25000"/>
              <a:t>1</a:t>
            </a:r>
            <a:r>
              <a:rPr lang="en-US"/>
              <a:t>		6</a:t>
            </a:r>
            <a:endParaRPr baseline="-25000"/>
          </a:p>
          <a:p>
            <a:pPr marL="685800" lvl="1" indent="-228600" algn="l" rtl="0">
              <a:lnSpc>
                <a:spcPct val="90000"/>
              </a:lnSpc>
              <a:spcBef>
                <a:spcPts val="500"/>
              </a:spcBef>
              <a:spcAft>
                <a:spcPts val="0"/>
              </a:spcAft>
              <a:buClr>
                <a:schemeClr val="dk1"/>
              </a:buClr>
              <a:buSzPts val="2400"/>
              <a:buNone/>
            </a:pPr>
            <a:r>
              <a:rPr lang="en-US"/>
              <a:t>		       1   1    0   1   0			7    8</a:t>
            </a:r>
            <a:endParaRPr/>
          </a:p>
          <a:p>
            <a:pPr marL="685800" lvl="1" indent="-228600" algn="l" rtl="0">
              <a:lnSpc>
                <a:spcPct val="90000"/>
              </a:lnSpc>
              <a:spcBef>
                <a:spcPts val="500"/>
              </a:spcBef>
              <a:spcAft>
                <a:spcPts val="0"/>
              </a:spcAft>
              <a:buClr>
                <a:schemeClr val="dk1"/>
              </a:buClr>
              <a:buSzPts val="2400"/>
              <a:buNone/>
            </a:pPr>
            <a:r>
              <a:rPr lang="en-US"/>
              <a:t> +		  1   1   0    1		A</a:t>
            </a:r>
            <a:r>
              <a:rPr lang="en-US" baseline="-25000"/>
              <a:t>2</a:t>
            </a:r>
            <a:endParaRPr/>
          </a:p>
          <a:p>
            <a:pPr marL="685800" lvl="1" indent="-228600" algn="l" rtl="0">
              <a:lnSpc>
                <a:spcPct val="90000"/>
              </a:lnSpc>
              <a:spcBef>
                <a:spcPts val="500"/>
              </a:spcBef>
              <a:spcAft>
                <a:spcPts val="0"/>
              </a:spcAft>
              <a:buClr>
                <a:schemeClr val="dk1"/>
              </a:buClr>
              <a:buSzPts val="2400"/>
              <a:buNone/>
            </a:pPr>
            <a:r>
              <a:rPr lang="en-US"/>
              <a:t> 1    0   0   1    1   1   0</a:t>
            </a:r>
            <a:endParaRPr/>
          </a:p>
          <a:p>
            <a:pPr marL="685800" lvl="1" indent="-228600" algn="l" rtl="0">
              <a:lnSpc>
                <a:spcPct val="90000"/>
              </a:lnSpc>
              <a:spcBef>
                <a:spcPts val="500"/>
              </a:spcBef>
              <a:spcAft>
                <a:spcPts val="0"/>
              </a:spcAft>
              <a:buClr>
                <a:schemeClr val="dk1"/>
              </a:buClr>
              <a:buSzPts val="2400"/>
              <a:buNone/>
            </a:pPr>
            <a:endParaRPr/>
          </a:p>
        </p:txBody>
      </p:sp>
      <p:cxnSp>
        <p:nvCxnSpPr>
          <p:cNvPr id="457" name="Google Shape;457;p66"/>
          <p:cNvCxnSpPr/>
          <p:nvPr/>
        </p:nvCxnSpPr>
        <p:spPr>
          <a:xfrm>
            <a:off x="2362200" y="3124200"/>
            <a:ext cx="3200400" cy="1588"/>
          </a:xfrm>
          <a:prstGeom prst="straightConnector1">
            <a:avLst/>
          </a:prstGeom>
          <a:noFill/>
          <a:ln w="9525" cap="flat" cmpd="sng">
            <a:solidFill>
              <a:schemeClr val="accent1"/>
            </a:solidFill>
            <a:prstDash val="solid"/>
            <a:miter lim="800000"/>
            <a:headEnd type="none" w="sm" len="sm"/>
            <a:tailEnd type="none" w="sm" len="sm"/>
          </a:ln>
        </p:spPr>
      </p:cxnSp>
      <p:cxnSp>
        <p:nvCxnSpPr>
          <p:cNvPr id="458" name="Google Shape;458;p66"/>
          <p:cNvCxnSpPr/>
          <p:nvPr/>
        </p:nvCxnSpPr>
        <p:spPr>
          <a:xfrm>
            <a:off x="2286000" y="4191000"/>
            <a:ext cx="3276600" cy="1588"/>
          </a:xfrm>
          <a:prstGeom prst="straightConnector1">
            <a:avLst/>
          </a:prstGeom>
          <a:noFill/>
          <a:ln w="9525" cap="flat" cmpd="sng">
            <a:solidFill>
              <a:schemeClr val="accent1"/>
            </a:solidFill>
            <a:prstDash val="solid"/>
            <a:miter lim="800000"/>
            <a:headEnd type="none" w="sm" len="sm"/>
            <a:tailEnd type="none" w="sm" len="sm"/>
          </a:ln>
        </p:spPr>
      </p:cxnSp>
      <p:cxnSp>
        <p:nvCxnSpPr>
          <p:cNvPr id="459" name="Google Shape;459;p66"/>
          <p:cNvCxnSpPr/>
          <p:nvPr/>
        </p:nvCxnSpPr>
        <p:spPr>
          <a:xfrm>
            <a:off x="2286000" y="5180012"/>
            <a:ext cx="3276600" cy="1588"/>
          </a:xfrm>
          <a:prstGeom prst="straightConnector1">
            <a:avLst/>
          </a:prstGeom>
          <a:noFill/>
          <a:ln w="9525" cap="flat" cmpd="sng">
            <a:solidFill>
              <a:schemeClr val="accent1"/>
            </a:solidFill>
            <a:prstDash val="solid"/>
            <a:miter lim="800000"/>
            <a:headEnd type="none" w="sm" len="sm"/>
            <a:tailEnd type="none" w="sm" len="sm"/>
          </a:ln>
        </p:spPr>
      </p:cxnSp>
      <p:cxnSp>
        <p:nvCxnSpPr>
          <p:cNvPr id="460" name="Google Shape;460;p66"/>
          <p:cNvCxnSpPr/>
          <p:nvPr/>
        </p:nvCxnSpPr>
        <p:spPr>
          <a:xfrm>
            <a:off x="7086600" y="3124200"/>
            <a:ext cx="1676400" cy="1588"/>
          </a:xfrm>
          <a:prstGeom prst="straightConnector1">
            <a:avLst/>
          </a:prstGeom>
          <a:noFill/>
          <a:ln w="9525" cap="flat" cmpd="sng">
            <a:solidFill>
              <a:schemeClr val="accent1"/>
            </a:solidFill>
            <a:prstDash val="solid"/>
            <a:miter lim="800000"/>
            <a:headEnd type="none" w="sm" len="sm"/>
            <a:tailEnd type="none" w="sm" len="sm"/>
          </a:ln>
        </p:spPr>
      </p:cxnSp>
      <p:cxnSp>
        <p:nvCxnSpPr>
          <p:cNvPr id="461" name="Google Shape;461;p66"/>
          <p:cNvCxnSpPr/>
          <p:nvPr/>
        </p:nvCxnSpPr>
        <p:spPr>
          <a:xfrm>
            <a:off x="7086600" y="4189412"/>
            <a:ext cx="1676400" cy="1588"/>
          </a:xfrm>
          <a:prstGeom prst="straightConnector1">
            <a:avLst/>
          </a:prstGeom>
          <a:noFill/>
          <a:ln w="9525" cap="flat" cmpd="sng">
            <a:solidFill>
              <a:schemeClr val="accent1"/>
            </a:solidFill>
            <a:prstDash val="solid"/>
            <a:miter lim="800000"/>
            <a:headEnd type="none" w="sm" len="sm"/>
            <a:tailEnd type="none" w="sm" len="sm"/>
          </a:ln>
        </p:spPr>
      </p:cxnSp>
      <p:pic>
        <p:nvPicPr>
          <p:cNvPr id="462" name="Google Shape;462;p66" descr="pngfind.com-kingpin-png-4152286 (1).png"/>
          <p:cNvPicPr preferRelativeResize="0"/>
          <p:nvPr/>
        </p:nvPicPr>
        <p:blipFill rotWithShape="1">
          <a:blip r:embed="rId3">
            <a:alphaModFix/>
          </a:blip>
          <a:srcRect/>
          <a:stretch/>
        </p:blipFill>
        <p:spPr>
          <a:xfrm>
            <a:off x="9179626" y="0"/>
            <a:ext cx="1488375" cy="65116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67"/>
          <p:cNvSpPr txBox="1">
            <a:spLocks noGrp="1"/>
          </p:cNvSpPr>
          <p:nvPr>
            <p:ph type="title"/>
          </p:nvPr>
        </p:nvSpPr>
        <p:spPr>
          <a:xfrm>
            <a:off x="1981200" y="274638"/>
            <a:ext cx="8229600" cy="79216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C00000"/>
              </a:buClr>
              <a:buSzPct val="100000"/>
              <a:buFont typeface="Calibri"/>
              <a:buNone/>
            </a:pPr>
            <a:r>
              <a:rPr lang="en-US" sz="4000">
                <a:solidFill>
                  <a:srgbClr val="C00000"/>
                </a:solidFill>
              </a:rPr>
              <a:t>Multiplication of Positive Numbers: </a:t>
            </a:r>
            <a:br>
              <a:rPr lang="en-US" sz="4000">
                <a:solidFill>
                  <a:srgbClr val="C00000"/>
                </a:solidFill>
              </a:rPr>
            </a:br>
            <a:r>
              <a:rPr lang="en-US" sz="4000">
                <a:solidFill>
                  <a:srgbClr val="C00000"/>
                </a:solidFill>
              </a:rPr>
              <a:t>Shift-and-Add Multiplier</a:t>
            </a:r>
            <a:endParaRPr/>
          </a:p>
        </p:txBody>
      </p:sp>
      <p:sp>
        <p:nvSpPr>
          <p:cNvPr id="468" name="Google Shape;468;p67"/>
          <p:cNvSpPr txBox="1">
            <a:spLocks noGrp="1"/>
          </p:cNvSpPr>
          <p:nvPr>
            <p:ph type="body" idx="1"/>
          </p:nvPr>
        </p:nvSpPr>
        <p:spPr>
          <a:xfrm>
            <a:off x="1981200" y="1143001"/>
            <a:ext cx="8229600" cy="5181599"/>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Shift-and-add multiplication is similar to the multiplication performed by paper and pencil. </a:t>
            </a:r>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This method adds the multiplicand X to itself Y times, where Y denotes the multiplier. </a:t>
            </a:r>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To multiply two numbers by paper and pencil, the algorithm is to take the digits of the multiplier one at a time from right to left, multiplying the multiplicand by a single digit of the multiplier and placing the intermediate product in the appropriate positions to the left of the earlier results.</a:t>
            </a:r>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38100" algn="just" rtl="0">
              <a:lnSpc>
                <a:spcPct val="90000"/>
              </a:lnSpc>
              <a:spcBef>
                <a:spcPts val="1000"/>
              </a:spcBef>
              <a:spcAft>
                <a:spcPts val="0"/>
              </a:spcAft>
              <a:buClr>
                <a:schemeClr val="dk1"/>
              </a:buClr>
              <a:buSzPts val="3000"/>
              <a:buNone/>
            </a:pPr>
            <a:endParaRPr sz="3000">
              <a:latin typeface="Times New Roman"/>
              <a:ea typeface="Times New Roman"/>
              <a:cs typeface="Times New Roman"/>
              <a:sym typeface="Times New Roman"/>
            </a:endParaRPr>
          </a:p>
        </p:txBody>
      </p:sp>
      <p:pic>
        <p:nvPicPr>
          <p:cNvPr id="469" name="Google Shape;469;p67" descr="pngfind.com-kingpin-png-4152286 (1).png"/>
          <p:cNvPicPr preferRelativeResize="0"/>
          <p:nvPr/>
        </p:nvPicPr>
        <p:blipFill rotWithShape="1">
          <a:blip r:embed="rId3">
            <a:alphaModFix/>
          </a:blip>
          <a:srcRect/>
          <a:stretch/>
        </p:blipFill>
        <p:spPr>
          <a:xfrm>
            <a:off x="9179626" y="0"/>
            <a:ext cx="1488375" cy="65116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Shift-and-Add Multiplication</a:t>
            </a:r>
            <a:endParaRPr/>
          </a:p>
        </p:txBody>
      </p:sp>
      <p:pic>
        <p:nvPicPr>
          <p:cNvPr id="475" name="Google Shape;475;p68" descr="download.png"/>
          <p:cNvPicPr preferRelativeResize="0">
            <a:picLocks noGrp="1"/>
          </p:cNvPicPr>
          <p:nvPr>
            <p:ph type="body" idx="1"/>
          </p:nvPr>
        </p:nvPicPr>
        <p:blipFill rotWithShape="1">
          <a:blip r:embed="rId3">
            <a:alphaModFix/>
          </a:blip>
          <a:srcRect/>
          <a:stretch/>
        </p:blipFill>
        <p:spPr>
          <a:xfrm>
            <a:off x="2743200" y="1828800"/>
            <a:ext cx="6858000" cy="4313512"/>
          </a:xfrm>
          <a:prstGeom prst="rect">
            <a:avLst/>
          </a:prstGeom>
          <a:noFill/>
          <a:ln>
            <a:noFill/>
          </a:ln>
        </p:spPr>
      </p:pic>
      <p:pic>
        <p:nvPicPr>
          <p:cNvPr id="476" name="Google Shape;476;p68" descr="pngfind.com-kingpin-png-4152286 (1).png"/>
          <p:cNvPicPr preferRelativeResize="0"/>
          <p:nvPr/>
        </p:nvPicPr>
        <p:blipFill rotWithShape="1">
          <a:blip r:embed="rId4">
            <a:alphaModFix/>
          </a:blip>
          <a:srcRect/>
          <a:stretch/>
        </p:blipFill>
        <p:spPr>
          <a:xfrm>
            <a:off x="9179626" y="0"/>
            <a:ext cx="1488375" cy="65116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69"/>
          <p:cNvSpPr txBox="1">
            <a:spLocks noGrp="1"/>
          </p:cNvSpPr>
          <p:nvPr>
            <p:ph type="title"/>
          </p:nvPr>
        </p:nvSpPr>
        <p:spPr>
          <a:xfrm>
            <a:off x="1981200" y="274638"/>
            <a:ext cx="8229600" cy="7921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000"/>
              <a:buFont typeface="Calibri"/>
              <a:buNone/>
            </a:pPr>
            <a:r>
              <a:rPr lang="en-US" sz="4000">
                <a:solidFill>
                  <a:srgbClr val="C00000"/>
                </a:solidFill>
              </a:rPr>
              <a:t>Shift-and-Add Multiplier</a:t>
            </a:r>
            <a:endParaRPr/>
          </a:p>
        </p:txBody>
      </p:sp>
      <p:sp>
        <p:nvSpPr>
          <p:cNvPr id="482" name="Google Shape;482;p69"/>
          <p:cNvSpPr txBox="1">
            <a:spLocks noGrp="1"/>
          </p:cNvSpPr>
          <p:nvPr>
            <p:ph type="body" idx="1"/>
          </p:nvPr>
        </p:nvSpPr>
        <p:spPr>
          <a:xfrm>
            <a:off x="1981200" y="1143001"/>
            <a:ext cx="8229600" cy="16002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As an example, consider the multiplication of two unsigned 4-bit numbers, </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8   (1000) and  9 (1001).</a:t>
            </a:r>
            <a:endParaRPr/>
          </a:p>
          <a:p>
            <a:pPr marL="228600" lvl="0" indent="-50800" algn="l" rtl="0">
              <a:lnSpc>
                <a:spcPct val="90000"/>
              </a:lnSpc>
              <a:spcBef>
                <a:spcPts val="1000"/>
              </a:spcBef>
              <a:spcAft>
                <a:spcPts val="0"/>
              </a:spcAft>
              <a:buClr>
                <a:schemeClr val="dk1"/>
              </a:buClr>
              <a:buSzPts val="2800"/>
              <a:buNone/>
            </a:pPr>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38100" algn="just" rtl="0">
              <a:lnSpc>
                <a:spcPct val="90000"/>
              </a:lnSpc>
              <a:spcBef>
                <a:spcPts val="1000"/>
              </a:spcBef>
              <a:spcAft>
                <a:spcPts val="0"/>
              </a:spcAft>
              <a:buClr>
                <a:schemeClr val="dk1"/>
              </a:buClr>
              <a:buSzPts val="3000"/>
              <a:buNone/>
            </a:pPr>
            <a:endParaRPr sz="3000">
              <a:latin typeface="Times New Roman"/>
              <a:ea typeface="Times New Roman"/>
              <a:cs typeface="Times New Roman"/>
              <a:sym typeface="Times New Roman"/>
            </a:endParaRPr>
          </a:p>
        </p:txBody>
      </p:sp>
      <p:pic>
        <p:nvPicPr>
          <p:cNvPr id="483" name="Google Shape;483;p69"/>
          <p:cNvPicPr preferRelativeResize="0"/>
          <p:nvPr/>
        </p:nvPicPr>
        <p:blipFill rotWithShape="1">
          <a:blip r:embed="rId3">
            <a:alphaModFix/>
          </a:blip>
          <a:srcRect/>
          <a:stretch/>
        </p:blipFill>
        <p:spPr>
          <a:xfrm>
            <a:off x="2362200" y="2971800"/>
            <a:ext cx="7391400" cy="2895600"/>
          </a:xfrm>
          <a:prstGeom prst="rect">
            <a:avLst/>
          </a:prstGeom>
          <a:noFill/>
          <a:ln>
            <a:noFill/>
          </a:ln>
        </p:spPr>
      </p:pic>
      <p:pic>
        <p:nvPicPr>
          <p:cNvPr id="484" name="Google Shape;484;p69" descr="pngfind.com-kingpin-png-4152286 (1).png"/>
          <p:cNvPicPr preferRelativeResize="0"/>
          <p:nvPr/>
        </p:nvPicPr>
        <p:blipFill rotWithShape="1">
          <a:blip r:embed="rId4">
            <a:alphaModFix/>
          </a:blip>
          <a:srcRect/>
          <a:stretch/>
        </p:blipFill>
        <p:spPr>
          <a:xfrm>
            <a:off x="9179626" y="0"/>
            <a:ext cx="1488375" cy="65116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70"/>
          <p:cNvSpPr txBox="1">
            <a:spLocks noGrp="1"/>
          </p:cNvSpPr>
          <p:nvPr>
            <p:ph type="title"/>
          </p:nvPr>
        </p:nvSpPr>
        <p:spPr>
          <a:xfrm>
            <a:off x="1981200" y="274638"/>
            <a:ext cx="8229600" cy="7921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000"/>
              <a:buFont typeface="Calibri"/>
              <a:buNone/>
            </a:pPr>
            <a:r>
              <a:rPr lang="en-US" sz="4000">
                <a:solidFill>
                  <a:srgbClr val="C00000"/>
                </a:solidFill>
              </a:rPr>
              <a:t>Shift-and-Add Multiplier</a:t>
            </a:r>
            <a:endParaRPr/>
          </a:p>
        </p:txBody>
      </p:sp>
      <p:sp>
        <p:nvSpPr>
          <p:cNvPr id="490" name="Google Shape;490;p70"/>
          <p:cNvSpPr txBox="1">
            <a:spLocks noGrp="1"/>
          </p:cNvSpPr>
          <p:nvPr>
            <p:ph type="body" idx="1"/>
          </p:nvPr>
        </p:nvSpPr>
        <p:spPr>
          <a:xfrm>
            <a:off x="1981200" y="1143001"/>
            <a:ext cx="8229600" cy="5181599"/>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In the case of binary multiplication, since the digits are 0 and 1, each step of the multiplication is simple.</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 If the multiplier digit is 1, a copy of the multiplicand (1 ×multiplicand) is placed in the proper positions; </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If the multiplier digit is 0, a number of 0 digits (0 × multiplicand) are placed in the proper positions.</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Consider the multiplication of positive numbers. The first version of the multiplier circuit, which implements the shift-and-add multiplication method for two n-bit numbers, is shown in Figure.</a:t>
            </a:r>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38100" algn="just" rtl="0">
              <a:lnSpc>
                <a:spcPct val="90000"/>
              </a:lnSpc>
              <a:spcBef>
                <a:spcPts val="1000"/>
              </a:spcBef>
              <a:spcAft>
                <a:spcPts val="0"/>
              </a:spcAft>
              <a:buClr>
                <a:schemeClr val="dk1"/>
              </a:buClr>
              <a:buSzPts val="3000"/>
              <a:buNone/>
            </a:pPr>
            <a:endParaRPr sz="3000">
              <a:latin typeface="Times New Roman"/>
              <a:ea typeface="Times New Roman"/>
              <a:cs typeface="Times New Roman"/>
              <a:sym typeface="Times New Roman"/>
            </a:endParaRPr>
          </a:p>
        </p:txBody>
      </p:sp>
      <p:pic>
        <p:nvPicPr>
          <p:cNvPr id="491" name="Google Shape;491;p70" descr="pngfind.com-kingpin-png-4152286 (1).png"/>
          <p:cNvPicPr preferRelativeResize="0"/>
          <p:nvPr/>
        </p:nvPicPr>
        <p:blipFill rotWithShape="1">
          <a:blip r:embed="rId3">
            <a:alphaModFix/>
          </a:blip>
          <a:srcRect/>
          <a:stretch/>
        </p:blipFill>
        <p:spPr>
          <a:xfrm>
            <a:off x="9179626" y="0"/>
            <a:ext cx="1488375" cy="65116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71"/>
          <p:cNvSpPr txBox="1">
            <a:spLocks noGrp="1"/>
          </p:cNvSpPr>
          <p:nvPr>
            <p:ph type="title"/>
          </p:nvPr>
        </p:nvSpPr>
        <p:spPr>
          <a:xfrm>
            <a:off x="1981200" y="274638"/>
            <a:ext cx="8229600" cy="7921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000"/>
              <a:buFont typeface="Calibri"/>
              <a:buNone/>
            </a:pPr>
            <a:r>
              <a:rPr lang="en-US" sz="4000">
                <a:solidFill>
                  <a:srgbClr val="C00000"/>
                </a:solidFill>
              </a:rPr>
              <a:t>Shift - and - Add multiplier</a:t>
            </a:r>
            <a:endParaRPr/>
          </a:p>
        </p:txBody>
      </p:sp>
      <p:pic>
        <p:nvPicPr>
          <p:cNvPr id="497" name="Google Shape;497;p71"/>
          <p:cNvPicPr preferRelativeResize="0">
            <a:picLocks noGrp="1"/>
          </p:cNvPicPr>
          <p:nvPr>
            <p:ph type="body" idx="1"/>
          </p:nvPr>
        </p:nvPicPr>
        <p:blipFill rotWithShape="1">
          <a:blip r:embed="rId3">
            <a:alphaModFix/>
          </a:blip>
          <a:srcRect/>
          <a:stretch/>
        </p:blipFill>
        <p:spPr>
          <a:xfrm>
            <a:off x="3962401" y="1219200"/>
            <a:ext cx="4267199" cy="5105400"/>
          </a:xfrm>
          <a:prstGeom prst="rect">
            <a:avLst/>
          </a:prstGeom>
          <a:noFill/>
          <a:ln>
            <a:noFill/>
          </a:ln>
        </p:spPr>
      </p:pic>
      <p:pic>
        <p:nvPicPr>
          <p:cNvPr id="498" name="Google Shape;498;p71" descr="pngfind.com-kingpin-png-4152286 (1).png"/>
          <p:cNvPicPr preferRelativeResize="0"/>
          <p:nvPr/>
        </p:nvPicPr>
        <p:blipFill rotWithShape="1">
          <a:blip r:embed="rId4">
            <a:alphaModFix/>
          </a:blip>
          <a:srcRect/>
          <a:stretch/>
        </p:blipFill>
        <p:spPr>
          <a:xfrm>
            <a:off x="9179626" y="0"/>
            <a:ext cx="1488375" cy="651164"/>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72"/>
          <p:cNvSpPr txBox="1">
            <a:spLocks noGrp="1"/>
          </p:cNvSpPr>
          <p:nvPr>
            <p:ph type="title"/>
          </p:nvPr>
        </p:nvSpPr>
        <p:spPr>
          <a:xfrm>
            <a:off x="1981200" y="274638"/>
            <a:ext cx="8229600" cy="7921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000"/>
              <a:buFont typeface="Calibri"/>
              <a:buNone/>
            </a:pPr>
            <a:r>
              <a:rPr lang="en-US" sz="4000">
                <a:solidFill>
                  <a:srgbClr val="C00000"/>
                </a:solidFill>
              </a:rPr>
              <a:t>Shift-and-Add Multiplier</a:t>
            </a:r>
            <a:endParaRPr/>
          </a:p>
        </p:txBody>
      </p:sp>
      <p:sp>
        <p:nvSpPr>
          <p:cNvPr id="504" name="Google Shape;504;p72"/>
          <p:cNvSpPr txBox="1">
            <a:spLocks noGrp="1"/>
          </p:cNvSpPr>
          <p:nvPr>
            <p:ph type="body" idx="1"/>
          </p:nvPr>
        </p:nvSpPr>
        <p:spPr>
          <a:xfrm>
            <a:off x="1981200" y="1143001"/>
            <a:ext cx="8229600" cy="15240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For Example, Perform the multiplication 9 x 12 </a:t>
            </a:r>
            <a:endParaRPr/>
          </a:p>
          <a:p>
            <a:pPr marL="228600" lvl="0" indent="-22860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(1001 x  1100). Finally, both A and Q contains the result of product.</a:t>
            </a:r>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3000"/>
              <a:buNone/>
            </a:pPr>
            <a:endParaRPr sz="3000">
              <a:latin typeface="Times New Roman"/>
              <a:ea typeface="Times New Roman"/>
              <a:cs typeface="Times New Roman"/>
              <a:sym typeface="Times New Roman"/>
            </a:endParaRPr>
          </a:p>
        </p:txBody>
      </p:sp>
      <p:pic>
        <p:nvPicPr>
          <p:cNvPr id="505" name="Google Shape;505;p72"/>
          <p:cNvPicPr preferRelativeResize="0"/>
          <p:nvPr/>
        </p:nvPicPr>
        <p:blipFill rotWithShape="1">
          <a:blip r:embed="rId3">
            <a:alphaModFix/>
          </a:blip>
          <a:srcRect/>
          <a:stretch/>
        </p:blipFill>
        <p:spPr>
          <a:xfrm>
            <a:off x="3200400" y="2781300"/>
            <a:ext cx="5791200" cy="3543300"/>
          </a:xfrm>
          <a:prstGeom prst="rect">
            <a:avLst/>
          </a:prstGeom>
          <a:noFill/>
          <a:ln>
            <a:noFill/>
          </a:ln>
        </p:spPr>
      </p:pic>
      <p:pic>
        <p:nvPicPr>
          <p:cNvPr id="506" name="Google Shape;506;p72" descr="pngfind.com-kingpin-png-4152286 (1).png"/>
          <p:cNvPicPr preferRelativeResize="0"/>
          <p:nvPr/>
        </p:nvPicPr>
        <p:blipFill rotWithShape="1">
          <a:blip r:embed="rId4">
            <a:alphaModFix/>
          </a:blip>
          <a:srcRect/>
          <a:stretch/>
        </p:blipFill>
        <p:spPr>
          <a:xfrm>
            <a:off x="9179626" y="0"/>
            <a:ext cx="1488375" cy="651164"/>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73"/>
          <p:cNvSpPr txBox="1">
            <a:spLocks noGrp="1"/>
          </p:cNvSpPr>
          <p:nvPr>
            <p:ph type="title"/>
          </p:nvPr>
        </p:nvSpPr>
        <p:spPr>
          <a:xfrm>
            <a:off x="1981200" y="274638"/>
            <a:ext cx="8229600" cy="7921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000"/>
              <a:buFont typeface="Calibri"/>
              <a:buNone/>
            </a:pPr>
            <a:r>
              <a:rPr lang="en-US" sz="4000">
                <a:solidFill>
                  <a:srgbClr val="C00000"/>
                </a:solidFill>
              </a:rPr>
              <a:t>Shift-and-Add Multiplier</a:t>
            </a:r>
            <a:endParaRPr/>
          </a:p>
        </p:txBody>
      </p:sp>
      <p:sp>
        <p:nvSpPr>
          <p:cNvPr id="512" name="Google Shape;512;p73"/>
          <p:cNvSpPr txBox="1">
            <a:spLocks noGrp="1"/>
          </p:cNvSpPr>
          <p:nvPr>
            <p:ph type="body" idx="1"/>
          </p:nvPr>
        </p:nvSpPr>
        <p:spPr>
          <a:xfrm>
            <a:off x="1981200" y="1143001"/>
            <a:ext cx="8229600" cy="15240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pPr>
            <a:r>
              <a:rPr lang="en-US" b="1"/>
              <a:t>Example 2:</a:t>
            </a:r>
            <a:endParaRPr/>
          </a:p>
          <a:p>
            <a:pPr marL="228600" lvl="0" indent="-228600" algn="l" rtl="0">
              <a:lnSpc>
                <a:spcPct val="90000"/>
              </a:lnSpc>
              <a:spcBef>
                <a:spcPts val="1000"/>
              </a:spcBef>
              <a:spcAft>
                <a:spcPts val="0"/>
              </a:spcAft>
              <a:buClr>
                <a:schemeClr val="dk1"/>
              </a:buClr>
              <a:buSzPts val="2800"/>
              <a:buChar char="•"/>
            </a:pPr>
            <a:r>
              <a:rPr lang="en-US" b="1"/>
              <a:t>A = 0000  M ( Multiplicand)  🡪 13   ( 1 1 0 1)    Q(Multiplier)  🡪 11  (1 0 1 1)</a:t>
            </a:r>
            <a:r>
              <a:rPr lang="en-US">
                <a:latin typeface="Times New Roman"/>
                <a:ea typeface="Times New Roman"/>
                <a:cs typeface="Times New Roman"/>
                <a:sym typeface="Times New Roman"/>
              </a:rPr>
              <a:t>.</a:t>
            </a:r>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3000"/>
              <a:buNone/>
            </a:pPr>
            <a:endParaRPr sz="3000">
              <a:latin typeface="Times New Roman"/>
              <a:ea typeface="Times New Roman"/>
              <a:cs typeface="Times New Roman"/>
              <a:sym typeface="Times New Roman"/>
            </a:endParaRPr>
          </a:p>
        </p:txBody>
      </p:sp>
      <p:pic>
        <p:nvPicPr>
          <p:cNvPr id="513" name="Google Shape;513;p73"/>
          <p:cNvPicPr preferRelativeResize="0"/>
          <p:nvPr/>
        </p:nvPicPr>
        <p:blipFill rotWithShape="1">
          <a:blip r:embed="rId3">
            <a:alphaModFix/>
          </a:blip>
          <a:srcRect/>
          <a:stretch/>
        </p:blipFill>
        <p:spPr>
          <a:xfrm>
            <a:off x="2438401" y="2743200"/>
            <a:ext cx="7315199" cy="3581400"/>
          </a:xfrm>
          <a:prstGeom prst="rect">
            <a:avLst/>
          </a:prstGeom>
          <a:noFill/>
          <a:ln>
            <a:noFill/>
          </a:ln>
        </p:spPr>
      </p:pic>
      <p:pic>
        <p:nvPicPr>
          <p:cNvPr id="514" name="Google Shape;514;p73" descr="pngfind.com-kingpin-png-4152286 (1).png"/>
          <p:cNvPicPr preferRelativeResize="0"/>
          <p:nvPr/>
        </p:nvPicPr>
        <p:blipFill rotWithShape="1">
          <a:blip r:embed="rId4">
            <a:alphaModFix/>
          </a:blip>
          <a:srcRect/>
          <a:stretch/>
        </p:blipFill>
        <p:spPr>
          <a:xfrm>
            <a:off x="9179626" y="0"/>
            <a:ext cx="1488375" cy="65116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74"/>
          <p:cNvSpPr txBox="1">
            <a:spLocks noGrp="1"/>
          </p:cNvSpPr>
          <p:nvPr>
            <p:ph type="title"/>
          </p:nvPr>
        </p:nvSpPr>
        <p:spPr>
          <a:xfrm>
            <a:off x="1905000" y="0"/>
            <a:ext cx="8229600" cy="7159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Example to multiply 11 and 13</a:t>
            </a:r>
            <a:endParaRPr/>
          </a:p>
        </p:txBody>
      </p:sp>
      <p:pic>
        <p:nvPicPr>
          <p:cNvPr id="520" name="Google Shape;520;p74" descr="CamScanner 07-29-2020 11.59.54.jpg"/>
          <p:cNvPicPr preferRelativeResize="0">
            <a:picLocks noGrp="1"/>
          </p:cNvPicPr>
          <p:nvPr>
            <p:ph type="body" idx="1"/>
          </p:nvPr>
        </p:nvPicPr>
        <p:blipFill rotWithShape="1">
          <a:blip r:embed="rId3">
            <a:alphaModFix/>
          </a:blip>
          <a:srcRect/>
          <a:stretch/>
        </p:blipFill>
        <p:spPr>
          <a:xfrm>
            <a:off x="2133600" y="1143001"/>
            <a:ext cx="5943600" cy="4983163"/>
          </a:xfrm>
          <a:prstGeom prst="rect">
            <a:avLst/>
          </a:prstGeom>
          <a:noFill/>
          <a:ln>
            <a:noFill/>
          </a:ln>
        </p:spPr>
      </p:pic>
      <p:pic>
        <p:nvPicPr>
          <p:cNvPr id="521" name="Google Shape;521;p74" descr="pngfind.com-kingpin-png-4152286 (1).png"/>
          <p:cNvPicPr preferRelativeResize="0"/>
          <p:nvPr/>
        </p:nvPicPr>
        <p:blipFill rotWithShape="1">
          <a:blip r:embed="rId4">
            <a:alphaModFix/>
          </a:blip>
          <a:srcRect/>
          <a:stretch/>
        </p:blipFill>
        <p:spPr>
          <a:xfrm>
            <a:off x="9179626" y="0"/>
            <a:ext cx="1488375" cy="651164"/>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pic>
        <p:nvPicPr>
          <p:cNvPr id="526" name="Google Shape;526;p75"/>
          <p:cNvPicPr preferRelativeResize="0"/>
          <p:nvPr/>
        </p:nvPicPr>
        <p:blipFill rotWithShape="1">
          <a:blip r:embed="rId3">
            <a:alphaModFix/>
          </a:blip>
          <a:srcRect/>
          <a:stretch/>
        </p:blipFill>
        <p:spPr>
          <a:xfrm>
            <a:off x="3657600" y="1600200"/>
            <a:ext cx="4800600" cy="4800600"/>
          </a:xfrm>
          <a:prstGeom prst="rect">
            <a:avLst/>
          </a:prstGeom>
          <a:noFill/>
          <a:ln>
            <a:noFill/>
          </a:ln>
        </p:spPr>
      </p:pic>
      <p:sp>
        <p:nvSpPr>
          <p:cNvPr id="527" name="Google Shape;527;p75"/>
          <p:cNvSpPr txBox="1">
            <a:spLocks noGrp="1"/>
          </p:cNvSpPr>
          <p:nvPr>
            <p:ph type="title"/>
          </p:nvPr>
        </p:nvSpPr>
        <p:spPr>
          <a:xfrm>
            <a:off x="1524000" y="0"/>
            <a:ext cx="8229600" cy="990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a:solidFill>
                  <a:srgbClr val="C00000"/>
                </a:solidFill>
              </a:rPr>
              <a:t>Example to multiply 11 and 13</a:t>
            </a:r>
            <a:endParaRPr/>
          </a:p>
        </p:txBody>
      </p:sp>
      <p:pic>
        <p:nvPicPr>
          <p:cNvPr id="528" name="Google Shape;528;p75" descr="pngfind.com-kingpin-png-4152286 (1).png"/>
          <p:cNvPicPr preferRelativeResize="0"/>
          <p:nvPr/>
        </p:nvPicPr>
        <p:blipFill rotWithShape="1">
          <a:blip r:embed="rId4">
            <a:alphaModFix/>
          </a:blip>
          <a:srcRect/>
          <a:stretch/>
        </p:blipFill>
        <p:spPr>
          <a:xfrm>
            <a:off x="9179626" y="0"/>
            <a:ext cx="1488375" cy="651164"/>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76"/>
          <p:cNvSpPr txBox="1">
            <a:spLocks noGrp="1"/>
          </p:cNvSpPr>
          <p:nvPr>
            <p:ph type="title"/>
          </p:nvPr>
        </p:nvSpPr>
        <p:spPr>
          <a:xfrm>
            <a:off x="2135560" y="1340768"/>
            <a:ext cx="8229600" cy="7921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2800"/>
              <a:buFont typeface="Calibri"/>
              <a:buNone/>
            </a:pPr>
            <a:r>
              <a:rPr lang="en-US" sz="2800">
                <a:solidFill>
                  <a:srgbClr val="C00000"/>
                </a:solidFill>
              </a:rPr>
              <a:t>Signed Multiplication - Booth Algorithm</a:t>
            </a:r>
            <a:endParaRPr/>
          </a:p>
        </p:txBody>
      </p:sp>
      <p:sp>
        <p:nvSpPr>
          <p:cNvPr id="534" name="Google Shape;534;p76"/>
          <p:cNvSpPr txBox="1">
            <a:spLocks noGrp="1"/>
          </p:cNvSpPr>
          <p:nvPr>
            <p:ph type="body" idx="1"/>
          </p:nvPr>
        </p:nvSpPr>
        <p:spPr>
          <a:xfrm>
            <a:off x="1950620" y="2564905"/>
            <a:ext cx="8229600" cy="5486399"/>
          </a:xfrm>
          <a:prstGeom prst="rect">
            <a:avLst/>
          </a:prstGeom>
          <a:noFill/>
          <a:ln>
            <a:noFill/>
          </a:ln>
        </p:spPr>
        <p:txBody>
          <a:bodyPr spcFirstLastPara="1" wrap="square" lIns="91425" tIns="45700" rIns="91425" bIns="45700" anchor="t" anchorCtr="0">
            <a:normAutofit/>
          </a:bodyPr>
          <a:lstStyle/>
          <a:p>
            <a:pPr marL="228600" lvl="0" indent="-228600" algn="just" rtl="0">
              <a:lnSpc>
                <a:spcPct val="80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A powerful algorithm for signed number multiplication is Booth’s algorithm which generates a 2n bit product and treats both positive and negative numbers uniformly. </a:t>
            </a:r>
            <a:endParaRPr/>
          </a:p>
          <a:p>
            <a:pPr marL="228600" lvl="0" indent="-114300" algn="just" rtl="0">
              <a:lnSpc>
                <a:spcPct val="80000"/>
              </a:lnSpc>
              <a:spcBef>
                <a:spcPts val="1000"/>
              </a:spcBef>
              <a:spcAft>
                <a:spcPts val="0"/>
              </a:spcAft>
              <a:buClr>
                <a:schemeClr val="dk1"/>
              </a:buClr>
              <a:buSzPts val="1800"/>
              <a:buNone/>
            </a:pPr>
            <a:endParaRPr sz="1800">
              <a:latin typeface="Times New Roman"/>
              <a:ea typeface="Times New Roman"/>
              <a:cs typeface="Times New Roman"/>
              <a:sym typeface="Times New Roman"/>
            </a:endParaRPr>
          </a:p>
          <a:p>
            <a:pPr marL="228600" lvl="0" indent="-228600" algn="just" rtl="0">
              <a:lnSpc>
                <a:spcPct val="8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This algorithm suggest that we can reduce the number of operations required for multiplication by representing multiplier as a difference between two numbers.</a:t>
            </a:r>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3000"/>
              <a:buNone/>
            </a:pPr>
            <a:endParaRPr sz="3000">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77"/>
          <p:cNvSpPr txBox="1">
            <a:spLocks noGrp="1"/>
          </p:cNvSpPr>
          <p:nvPr>
            <p:ph type="title"/>
          </p:nvPr>
        </p:nvSpPr>
        <p:spPr>
          <a:xfrm>
            <a:off x="1981200" y="1340768"/>
            <a:ext cx="8229600" cy="79216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C00000"/>
              </a:buClr>
              <a:buSzPct val="100000"/>
              <a:buFont typeface="Calibri"/>
              <a:buNone/>
            </a:pPr>
            <a:r>
              <a:rPr lang="en-US" sz="4000">
                <a:solidFill>
                  <a:srgbClr val="C00000"/>
                </a:solidFill>
              </a:rPr>
              <a:t>Signed Multiplication - Booth Algorithm</a:t>
            </a:r>
            <a:endParaRPr/>
          </a:p>
        </p:txBody>
      </p:sp>
      <p:sp>
        <p:nvSpPr>
          <p:cNvPr id="540" name="Google Shape;540;p77"/>
          <p:cNvSpPr txBox="1">
            <a:spLocks noGrp="1"/>
          </p:cNvSpPr>
          <p:nvPr>
            <p:ph type="body" idx="1"/>
          </p:nvPr>
        </p:nvSpPr>
        <p:spPr>
          <a:xfrm>
            <a:off x="1775520" y="2780929"/>
            <a:ext cx="8229600" cy="5486399"/>
          </a:xfrm>
          <a:prstGeom prst="rect">
            <a:avLst/>
          </a:prstGeom>
          <a:noFill/>
          <a:ln>
            <a:noFill/>
          </a:ln>
        </p:spPr>
        <p:txBody>
          <a:bodyPr spcFirstLastPara="1" wrap="square" lIns="91425" tIns="45700" rIns="91425" bIns="45700" anchor="t" anchorCtr="0">
            <a:normAutofit/>
          </a:bodyPr>
          <a:lstStyle/>
          <a:p>
            <a:pPr marL="228600" lvl="0" indent="-228600" algn="just" rtl="0">
              <a:lnSpc>
                <a:spcPct val="80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A powerful algorithm for signed number multiplication is Booth’s algorithm which generates a 2n bit product and treats both positive and negative numbers uniformly. </a:t>
            </a:r>
            <a:endParaRPr/>
          </a:p>
          <a:p>
            <a:pPr marL="0" lvl="0" indent="0" algn="just" rtl="0">
              <a:lnSpc>
                <a:spcPct val="80000"/>
              </a:lnSpc>
              <a:spcBef>
                <a:spcPts val="1000"/>
              </a:spcBef>
              <a:spcAft>
                <a:spcPts val="0"/>
              </a:spcAft>
              <a:buClr>
                <a:schemeClr val="dk1"/>
              </a:buClr>
              <a:buSzPts val="1800"/>
              <a:buNone/>
            </a:pPr>
            <a:endParaRPr sz="1800">
              <a:latin typeface="Times New Roman"/>
              <a:ea typeface="Times New Roman"/>
              <a:cs typeface="Times New Roman"/>
              <a:sym typeface="Times New Roman"/>
            </a:endParaRPr>
          </a:p>
          <a:p>
            <a:pPr marL="228600" lvl="0" indent="-228600" algn="just" rtl="0">
              <a:lnSpc>
                <a:spcPct val="8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This algorithm suggest that we can reduce the number of operations required for multiplication by representing multiplier as a difference between two numbers.</a:t>
            </a:r>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3000"/>
              <a:buNone/>
            </a:pPr>
            <a:endParaRPr sz="3000">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78"/>
          <p:cNvSpPr txBox="1">
            <a:spLocks noGrp="1"/>
          </p:cNvSpPr>
          <p:nvPr>
            <p:ph type="title"/>
          </p:nvPr>
        </p:nvSpPr>
        <p:spPr>
          <a:xfrm>
            <a:off x="1981200" y="980728"/>
            <a:ext cx="8229600" cy="7921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2800"/>
              <a:buFont typeface="Calibri"/>
              <a:buNone/>
            </a:pPr>
            <a:r>
              <a:rPr lang="en-US" sz="2800">
                <a:solidFill>
                  <a:srgbClr val="C00000"/>
                </a:solidFill>
              </a:rPr>
              <a:t>Signed Multiplication - Booth Algorithm</a:t>
            </a:r>
            <a:endParaRPr/>
          </a:p>
        </p:txBody>
      </p:sp>
      <p:pic>
        <p:nvPicPr>
          <p:cNvPr id="546" name="Google Shape;546;p78"/>
          <p:cNvPicPr preferRelativeResize="0"/>
          <p:nvPr/>
        </p:nvPicPr>
        <p:blipFill rotWithShape="1">
          <a:blip r:embed="rId3">
            <a:alphaModFix/>
          </a:blip>
          <a:srcRect/>
          <a:stretch/>
        </p:blipFill>
        <p:spPr>
          <a:xfrm>
            <a:off x="1768136" y="1847850"/>
            <a:ext cx="5029200" cy="5010150"/>
          </a:xfrm>
          <a:prstGeom prst="rect">
            <a:avLst/>
          </a:prstGeom>
          <a:noFill/>
          <a:ln>
            <a:noFill/>
          </a:ln>
        </p:spPr>
      </p:pic>
      <p:pic>
        <p:nvPicPr>
          <p:cNvPr id="547" name="Google Shape;547;p78"/>
          <p:cNvPicPr preferRelativeResize="0"/>
          <p:nvPr/>
        </p:nvPicPr>
        <p:blipFill rotWithShape="1">
          <a:blip r:embed="rId4">
            <a:alphaModFix/>
          </a:blip>
          <a:srcRect/>
          <a:stretch/>
        </p:blipFill>
        <p:spPr>
          <a:xfrm>
            <a:off x="6871040" y="2440629"/>
            <a:ext cx="3552825" cy="34290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79"/>
          <p:cNvSpPr txBox="1">
            <a:spLocks noGrp="1"/>
          </p:cNvSpPr>
          <p:nvPr>
            <p:ph type="title"/>
          </p:nvPr>
        </p:nvSpPr>
        <p:spPr>
          <a:xfrm>
            <a:off x="1947661" y="922707"/>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2800"/>
              <a:buFont typeface="Calibri"/>
              <a:buNone/>
            </a:pPr>
            <a:r>
              <a:rPr lang="en-US" sz="2800">
                <a:solidFill>
                  <a:srgbClr val="C00000"/>
                </a:solidFill>
              </a:rPr>
              <a:t>Signed Multiplication - Booth Algorithm</a:t>
            </a:r>
            <a:endParaRPr sz="2800"/>
          </a:p>
        </p:txBody>
      </p:sp>
      <p:pic>
        <p:nvPicPr>
          <p:cNvPr id="553" name="Google Shape;553;p79"/>
          <p:cNvPicPr preferRelativeResize="0">
            <a:picLocks noGrp="1"/>
          </p:cNvPicPr>
          <p:nvPr>
            <p:ph type="body" idx="1"/>
          </p:nvPr>
        </p:nvPicPr>
        <p:blipFill rotWithShape="1">
          <a:blip r:embed="rId3">
            <a:alphaModFix/>
          </a:blip>
          <a:srcRect/>
          <a:stretch/>
        </p:blipFill>
        <p:spPr>
          <a:xfrm>
            <a:off x="2178460" y="2068495"/>
            <a:ext cx="7835081" cy="4525963"/>
          </a:xfrm>
          <a:prstGeom prst="rect">
            <a:avLst/>
          </a:prstGeom>
          <a:noFill/>
          <a:ln>
            <a:noFill/>
          </a:ln>
        </p:spPr>
      </p:pic>
      <p:sp>
        <p:nvSpPr>
          <p:cNvPr id="554" name="Google Shape;554;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80"/>
          <p:cNvSpPr txBox="1">
            <a:spLocks noGrp="1"/>
          </p:cNvSpPr>
          <p:nvPr>
            <p:ph type="title"/>
          </p:nvPr>
        </p:nvSpPr>
        <p:spPr>
          <a:xfrm>
            <a:off x="1981200" y="908720"/>
            <a:ext cx="8229600" cy="9445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3600"/>
              <a:buFont typeface="Calibri"/>
              <a:buNone/>
            </a:pPr>
            <a:r>
              <a:rPr lang="en-US" sz="3600">
                <a:solidFill>
                  <a:srgbClr val="C00000"/>
                </a:solidFill>
              </a:rPr>
              <a:t>Signed Multiplication - Booth Algorithm</a:t>
            </a:r>
            <a:endParaRPr sz="3600"/>
          </a:p>
        </p:txBody>
      </p:sp>
      <p:pic>
        <p:nvPicPr>
          <p:cNvPr id="560" name="Google Shape;560;p80"/>
          <p:cNvPicPr preferRelativeResize="0">
            <a:picLocks noGrp="1"/>
          </p:cNvPicPr>
          <p:nvPr>
            <p:ph type="body" idx="1"/>
          </p:nvPr>
        </p:nvPicPr>
        <p:blipFill rotWithShape="1">
          <a:blip r:embed="rId3">
            <a:alphaModFix/>
          </a:blip>
          <a:srcRect b="23479"/>
          <a:stretch/>
        </p:blipFill>
        <p:spPr>
          <a:xfrm>
            <a:off x="2639617" y="1682148"/>
            <a:ext cx="7239001" cy="48768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pic>
        <p:nvPicPr>
          <p:cNvPr id="565" name="Google Shape;565;p81" descr="CamScanner 07-29-2020 12.04.04_1.jpg"/>
          <p:cNvPicPr preferRelativeResize="0">
            <a:picLocks noGrp="1"/>
          </p:cNvPicPr>
          <p:nvPr>
            <p:ph type="body" idx="1"/>
          </p:nvPr>
        </p:nvPicPr>
        <p:blipFill rotWithShape="1">
          <a:blip r:embed="rId3">
            <a:alphaModFix/>
          </a:blip>
          <a:srcRect/>
          <a:stretch/>
        </p:blipFill>
        <p:spPr>
          <a:xfrm>
            <a:off x="2711624" y="1306351"/>
            <a:ext cx="7128792" cy="5521319"/>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pic>
        <p:nvPicPr>
          <p:cNvPr id="570" name="Google Shape;570;p82" descr="CamScanner 07-29-2020 12.04.04_2.jpg"/>
          <p:cNvPicPr preferRelativeResize="0"/>
          <p:nvPr/>
        </p:nvPicPr>
        <p:blipFill rotWithShape="1">
          <a:blip r:embed="rId3">
            <a:alphaModFix/>
          </a:blip>
          <a:srcRect/>
          <a:stretch/>
        </p:blipFill>
        <p:spPr>
          <a:xfrm>
            <a:off x="2279576" y="1052736"/>
            <a:ext cx="7505780" cy="5526756"/>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83"/>
          <p:cNvSpPr txBox="1">
            <a:spLocks noGrp="1"/>
          </p:cNvSpPr>
          <p:nvPr>
            <p:ph type="title"/>
          </p:nvPr>
        </p:nvSpPr>
        <p:spPr>
          <a:xfrm>
            <a:off x="1524000" y="1044258"/>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2800"/>
              <a:buFont typeface="Calibri"/>
              <a:buNone/>
            </a:pPr>
            <a:r>
              <a:rPr lang="en-US" sz="2800">
                <a:solidFill>
                  <a:srgbClr val="C00000"/>
                </a:solidFill>
              </a:rPr>
              <a:t>Alternate Method : The BOOTH Algorithm</a:t>
            </a:r>
            <a:endParaRPr/>
          </a:p>
        </p:txBody>
      </p:sp>
      <p:sp>
        <p:nvSpPr>
          <p:cNvPr id="576" name="Google Shape;576;p83"/>
          <p:cNvSpPr txBox="1">
            <a:spLocks noGrp="1"/>
          </p:cNvSpPr>
          <p:nvPr>
            <p:ph type="body" idx="1"/>
          </p:nvPr>
        </p:nvSpPr>
        <p:spPr>
          <a:xfrm>
            <a:off x="1775520" y="2027238"/>
            <a:ext cx="8229600" cy="4525963"/>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Booth multiplication reduces the number of additions for intermediate results, but can sometimes make it worse as we will see</a:t>
            </a:r>
            <a:r>
              <a:rPr lang="en-US" sz="1800">
                <a:solidFill>
                  <a:srgbClr val="000000"/>
                </a:solidFill>
                <a:latin typeface="Times New Roman"/>
                <a:ea typeface="Times New Roman"/>
                <a:cs typeface="Times New Roman"/>
                <a:sym typeface="Times New Roman"/>
              </a:rPr>
              <a:t>.</a:t>
            </a:r>
            <a:endParaRPr/>
          </a:p>
          <a:p>
            <a:pPr marL="228600" lvl="0" indent="-228600" algn="l" rtl="0">
              <a:lnSpc>
                <a:spcPct val="90000"/>
              </a:lnSpc>
              <a:spcBef>
                <a:spcPts val="1000"/>
              </a:spcBef>
              <a:spcAft>
                <a:spcPts val="0"/>
              </a:spcAft>
              <a:buClr>
                <a:srgbClr val="0000FF"/>
              </a:buClr>
              <a:buSzPts val="1800"/>
              <a:buChar char="•"/>
            </a:pPr>
            <a:r>
              <a:rPr lang="en-US" sz="1800">
                <a:solidFill>
                  <a:srgbClr val="0000FF"/>
                </a:solidFill>
                <a:latin typeface="Calibri"/>
                <a:ea typeface="Calibri"/>
                <a:cs typeface="Calibri"/>
                <a:sym typeface="Calibri"/>
              </a:rPr>
              <a:t>Booth multiplier recoding table</a:t>
            </a:r>
            <a:endParaRPr sz="1800"/>
          </a:p>
        </p:txBody>
      </p:sp>
      <p:pic>
        <p:nvPicPr>
          <p:cNvPr id="577" name="Google Shape;577;p83"/>
          <p:cNvPicPr preferRelativeResize="0"/>
          <p:nvPr/>
        </p:nvPicPr>
        <p:blipFill rotWithShape="1">
          <a:blip r:embed="rId3">
            <a:alphaModFix/>
          </a:blip>
          <a:srcRect t="-243" r="-1230" b="17487"/>
          <a:stretch/>
        </p:blipFill>
        <p:spPr>
          <a:xfrm>
            <a:off x="3276601" y="3063876"/>
            <a:ext cx="4513263" cy="348932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84"/>
          <p:cNvSpPr txBox="1">
            <a:spLocks noGrp="1"/>
          </p:cNvSpPr>
          <p:nvPr>
            <p:ph type="title"/>
          </p:nvPr>
        </p:nvSpPr>
        <p:spPr>
          <a:xfrm>
            <a:off x="1524000" y="836712"/>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2800"/>
              <a:buFont typeface="Calibri"/>
              <a:buNone/>
            </a:pPr>
            <a:r>
              <a:rPr lang="en-US" sz="2800">
                <a:solidFill>
                  <a:srgbClr val="C00000"/>
                </a:solidFill>
              </a:rPr>
              <a:t>The BOOTH RECODED MULTIPLIER</a:t>
            </a:r>
            <a:endParaRPr/>
          </a:p>
        </p:txBody>
      </p:sp>
      <p:sp>
        <p:nvSpPr>
          <p:cNvPr id="583" name="Google Shape;583;p84"/>
          <p:cNvSpPr txBox="1">
            <a:spLocks noGrp="1"/>
          </p:cNvSpPr>
          <p:nvPr>
            <p:ph type="body" idx="1"/>
          </p:nvPr>
        </p:nvSpPr>
        <p:spPr>
          <a:xfrm>
            <a:off x="1828800" y="1691936"/>
            <a:ext cx="8534400" cy="4977424"/>
          </a:xfrm>
          <a:prstGeom prst="rect">
            <a:avLst/>
          </a:prstGeom>
          <a:noFill/>
          <a:ln>
            <a:noFill/>
          </a:ln>
        </p:spPr>
        <p:txBody>
          <a:bodyPr spcFirstLastPara="1" wrap="square" lIns="91425" tIns="45700" rIns="91425" bIns="45700" anchor="t" anchorCtr="0">
            <a:normAutofit/>
          </a:bodyPr>
          <a:lstStyle/>
          <a:p>
            <a:pPr marL="495300" lvl="0" indent="-495300" algn="l" rtl="0">
              <a:lnSpc>
                <a:spcPct val="90000"/>
              </a:lnSpc>
              <a:spcBef>
                <a:spcPts val="0"/>
              </a:spcBef>
              <a:spcAft>
                <a:spcPts val="0"/>
              </a:spcAft>
              <a:buClr>
                <a:srgbClr val="FF0000"/>
              </a:buClr>
              <a:buSzPts val="2800"/>
              <a:buChar char="•"/>
            </a:pPr>
            <a:r>
              <a:rPr lang="en-US">
                <a:solidFill>
                  <a:srgbClr val="FF0000"/>
                </a:solidFill>
                <a:latin typeface="Calibri"/>
                <a:ea typeface="Calibri"/>
                <a:cs typeface="Calibri"/>
                <a:sym typeface="Calibri"/>
              </a:rPr>
              <a:t>Booth Recoding:</a:t>
            </a:r>
            <a:endParaRPr/>
          </a:p>
          <a:p>
            <a:pPr marL="495300" lvl="0" indent="-495300" algn="l" rtl="0">
              <a:lnSpc>
                <a:spcPct val="90000"/>
              </a:lnSpc>
              <a:spcBef>
                <a:spcPts val="1400"/>
              </a:spcBef>
              <a:spcAft>
                <a:spcPts val="0"/>
              </a:spcAft>
              <a:buClr>
                <a:srgbClr val="0000FF"/>
              </a:buClr>
              <a:buSzPts val="2800"/>
              <a:buFont typeface="Calibri"/>
              <a:buAutoNum type="romanLcParenBoth"/>
            </a:pPr>
            <a:r>
              <a:rPr lang="en-US">
                <a:solidFill>
                  <a:srgbClr val="0000FF"/>
                </a:solidFill>
                <a:latin typeface="Calibri"/>
                <a:ea typeface="Calibri"/>
                <a:cs typeface="Calibri"/>
                <a:sym typeface="Calibri"/>
              </a:rPr>
              <a:t>30</a:t>
            </a:r>
            <a:r>
              <a:rPr lang="en-US" baseline="-25000">
                <a:solidFill>
                  <a:srgbClr val="0000FF"/>
                </a:solidFill>
                <a:latin typeface="Calibri"/>
                <a:ea typeface="Calibri"/>
                <a:cs typeface="Calibri"/>
                <a:sym typeface="Calibri"/>
              </a:rPr>
              <a:t>10    </a:t>
            </a:r>
            <a:r>
              <a:rPr lang="en-US">
                <a:solidFill>
                  <a:srgbClr val="0000FF"/>
                </a:solidFill>
                <a:latin typeface="Calibri"/>
                <a:ea typeface="Calibri"/>
                <a:cs typeface="Calibri"/>
                <a:sym typeface="Calibri"/>
              </a:rPr>
              <a:t>: 	 0  1  1  1  1  0 </a:t>
            </a:r>
            <a:r>
              <a:rPr lang="en-US">
                <a:solidFill>
                  <a:srgbClr val="FF0000"/>
                </a:solidFill>
                <a:latin typeface="Calibri"/>
                <a:ea typeface="Calibri"/>
                <a:cs typeface="Calibri"/>
                <a:sym typeface="Calibri"/>
              </a:rPr>
              <a:t>0</a:t>
            </a:r>
            <a:endParaRPr/>
          </a:p>
          <a:p>
            <a:pPr marL="495300" lvl="0" indent="-495300" algn="l" rtl="0">
              <a:lnSpc>
                <a:spcPct val="90000"/>
              </a:lnSpc>
              <a:spcBef>
                <a:spcPts val="1400"/>
              </a:spcBef>
              <a:spcAft>
                <a:spcPts val="0"/>
              </a:spcAft>
              <a:buClr>
                <a:srgbClr val="0000FF"/>
              </a:buClr>
              <a:buSzPts val="2800"/>
              <a:buChar char="•"/>
            </a:pPr>
            <a:r>
              <a:rPr lang="en-US">
                <a:solidFill>
                  <a:srgbClr val="0000FF"/>
                </a:solidFill>
                <a:latin typeface="Calibri"/>
                <a:ea typeface="Calibri"/>
                <a:cs typeface="Calibri"/>
                <a:sym typeface="Calibri"/>
              </a:rPr>
              <a:t>		       +1  0  0  0 -1  0</a:t>
            </a:r>
            <a:endParaRPr/>
          </a:p>
          <a:p>
            <a:pPr marL="495300" lvl="0" indent="-495300" algn="l" rtl="0">
              <a:lnSpc>
                <a:spcPct val="90000"/>
              </a:lnSpc>
              <a:spcBef>
                <a:spcPts val="1000"/>
              </a:spcBef>
              <a:spcAft>
                <a:spcPts val="0"/>
              </a:spcAft>
              <a:buClr>
                <a:srgbClr val="0000FF"/>
              </a:buClr>
              <a:buSzPts val="2800"/>
              <a:buChar char="•"/>
            </a:pPr>
            <a:r>
              <a:rPr lang="en-US">
                <a:solidFill>
                  <a:srgbClr val="0000FF"/>
                </a:solidFill>
                <a:latin typeface="Calibri"/>
                <a:ea typeface="Calibri"/>
                <a:cs typeface="Calibri"/>
                <a:sym typeface="Calibri"/>
              </a:rPr>
              <a:t>(ii) 100</a:t>
            </a:r>
            <a:r>
              <a:rPr lang="en-US" baseline="-25000">
                <a:solidFill>
                  <a:srgbClr val="0000FF"/>
                </a:solidFill>
                <a:latin typeface="Calibri"/>
                <a:ea typeface="Calibri"/>
                <a:cs typeface="Calibri"/>
                <a:sym typeface="Calibri"/>
              </a:rPr>
              <a:t>10</a:t>
            </a:r>
            <a:r>
              <a:rPr lang="en-US">
                <a:solidFill>
                  <a:srgbClr val="0000FF"/>
                </a:solidFill>
                <a:latin typeface="Calibri"/>
                <a:ea typeface="Calibri"/>
                <a:cs typeface="Calibri"/>
                <a:sym typeface="Calibri"/>
              </a:rPr>
              <a:t>:  0  1  1  0   0  1  0  0 </a:t>
            </a:r>
            <a:r>
              <a:rPr lang="en-US">
                <a:solidFill>
                  <a:srgbClr val="FF0000"/>
                </a:solidFill>
                <a:latin typeface="Calibri"/>
                <a:ea typeface="Calibri"/>
                <a:cs typeface="Calibri"/>
                <a:sym typeface="Calibri"/>
              </a:rPr>
              <a:t>0</a:t>
            </a:r>
            <a:endParaRPr/>
          </a:p>
          <a:p>
            <a:pPr marL="495300" lvl="0" indent="-495300" algn="l" rtl="0">
              <a:lnSpc>
                <a:spcPct val="90000"/>
              </a:lnSpc>
              <a:spcBef>
                <a:spcPts val="1000"/>
              </a:spcBef>
              <a:spcAft>
                <a:spcPts val="0"/>
              </a:spcAft>
              <a:buClr>
                <a:srgbClr val="0000FF"/>
              </a:buClr>
              <a:buSzPts val="2800"/>
              <a:buChar char="•"/>
            </a:pPr>
            <a:r>
              <a:rPr lang="en-US">
                <a:solidFill>
                  <a:srgbClr val="0000FF"/>
                </a:solidFill>
                <a:latin typeface="Calibri"/>
                <a:ea typeface="Calibri"/>
                <a:cs typeface="Calibri"/>
                <a:sym typeface="Calibri"/>
              </a:rPr>
              <a:t> 	       </a:t>
            </a:r>
            <a:endParaRPr/>
          </a:p>
          <a:p>
            <a:pPr marL="495300" lvl="0" indent="-495300" algn="l" rtl="0">
              <a:lnSpc>
                <a:spcPct val="90000"/>
              </a:lnSpc>
              <a:spcBef>
                <a:spcPts val="1000"/>
              </a:spcBef>
              <a:spcAft>
                <a:spcPts val="0"/>
              </a:spcAft>
              <a:buClr>
                <a:srgbClr val="0000FF"/>
              </a:buClr>
              <a:buSzPts val="2800"/>
              <a:buChar char="•"/>
            </a:pPr>
            <a:r>
              <a:rPr lang="en-US">
                <a:solidFill>
                  <a:srgbClr val="0000FF"/>
                </a:solidFill>
                <a:latin typeface="Calibri"/>
                <a:ea typeface="Calibri"/>
                <a:cs typeface="Calibri"/>
                <a:sym typeface="Calibri"/>
              </a:rPr>
              <a:t>	       +1  0 -1  0 +1 -1  0 0</a:t>
            </a:r>
            <a:endParaRPr/>
          </a:p>
          <a:p>
            <a:pPr marL="495300" lvl="0" indent="-495300" algn="l" rtl="0">
              <a:lnSpc>
                <a:spcPct val="90000"/>
              </a:lnSpc>
              <a:spcBef>
                <a:spcPts val="1400"/>
              </a:spcBef>
              <a:spcAft>
                <a:spcPts val="0"/>
              </a:spcAft>
              <a:buClr>
                <a:srgbClr val="0000FF"/>
              </a:buClr>
              <a:buSzPts val="2800"/>
              <a:buChar char="•"/>
            </a:pPr>
            <a:r>
              <a:rPr lang="en-US">
                <a:solidFill>
                  <a:srgbClr val="0000FF"/>
                </a:solidFill>
                <a:latin typeface="Calibri"/>
                <a:ea typeface="Calibri"/>
                <a:cs typeface="Calibri"/>
                <a:sym typeface="Calibri"/>
              </a:rPr>
              <a:t>(iii) 985</a:t>
            </a:r>
            <a:r>
              <a:rPr lang="en-US" baseline="-25000">
                <a:solidFill>
                  <a:srgbClr val="0000FF"/>
                </a:solidFill>
                <a:latin typeface="Calibri"/>
                <a:ea typeface="Calibri"/>
                <a:cs typeface="Calibri"/>
                <a:sym typeface="Calibri"/>
              </a:rPr>
              <a:t>10</a:t>
            </a:r>
            <a:r>
              <a:rPr lang="en-US">
                <a:solidFill>
                  <a:srgbClr val="0000FF"/>
                </a:solidFill>
                <a:latin typeface="Calibri"/>
                <a:ea typeface="Calibri"/>
                <a:cs typeface="Calibri"/>
                <a:sym typeface="Calibri"/>
              </a:rPr>
              <a:t>:  0   0  1  1   1  1   0   1  1  0   0   1 </a:t>
            </a:r>
            <a:r>
              <a:rPr lang="en-US">
                <a:solidFill>
                  <a:srgbClr val="FF0000"/>
                </a:solidFill>
                <a:latin typeface="Calibri"/>
                <a:ea typeface="Calibri"/>
                <a:cs typeface="Calibri"/>
                <a:sym typeface="Calibri"/>
              </a:rPr>
              <a:t>0</a:t>
            </a:r>
            <a:endParaRPr/>
          </a:p>
          <a:p>
            <a:pPr marL="495300" lvl="0" indent="-495300" algn="l" rtl="0">
              <a:lnSpc>
                <a:spcPct val="90000"/>
              </a:lnSpc>
              <a:spcBef>
                <a:spcPts val="1400"/>
              </a:spcBef>
              <a:spcAft>
                <a:spcPts val="0"/>
              </a:spcAft>
              <a:buClr>
                <a:srgbClr val="0000FF"/>
              </a:buClr>
              <a:buSzPts val="2800"/>
              <a:buChar char="•"/>
            </a:pPr>
            <a:r>
              <a:rPr lang="en-US">
                <a:solidFill>
                  <a:srgbClr val="0000FF"/>
                </a:solidFill>
                <a:latin typeface="Calibri"/>
                <a:ea typeface="Calibri"/>
                <a:cs typeface="Calibri"/>
                <a:sym typeface="Calibri"/>
              </a:rPr>
              <a:t>		         0 +1  0  0   0 -1 +1   0 -1  0 +1  -1</a:t>
            </a:r>
            <a:endParaRPr/>
          </a:p>
          <a:p>
            <a:pPr marL="228600" lvl="0" indent="-50800" algn="just" rtl="0">
              <a:lnSpc>
                <a:spcPct val="90000"/>
              </a:lnSpc>
              <a:spcBef>
                <a:spcPts val="1000"/>
              </a:spcBef>
              <a:spcAft>
                <a:spcPts val="0"/>
              </a:spcAft>
              <a:buClr>
                <a:schemeClr val="dk1"/>
              </a:buClr>
              <a:buSzPts val="2800"/>
              <a:buNone/>
            </a:pP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85"/>
          <p:cNvSpPr txBox="1">
            <a:spLocks noGrp="1"/>
          </p:cNvSpPr>
          <p:nvPr>
            <p:ph type="title"/>
          </p:nvPr>
        </p:nvSpPr>
        <p:spPr>
          <a:xfrm>
            <a:off x="1703512" y="1124744"/>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2800"/>
              <a:buFont typeface="Calibri"/>
              <a:buNone/>
            </a:pPr>
            <a:r>
              <a:rPr lang="en-US" sz="2800">
                <a:solidFill>
                  <a:srgbClr val="C00000"/>
                </a:solidFill>
              </a:rPr>
              <a:t>BOOTH Algorithm</a:t>
            </a:r>
            <a:endParaRPr/>
          </a:p>
        </p:txBody>
      </p:sp>
      <p:sp>
        <p:nvSpPr>
          <p:cNvPr id="589" name="Google Shape;589;p85"/>
          <p:cNvSpPr/>
          <p:nvPr/>
        </p:nvSpPr>
        <p:spPr>
          <a:xfrm>
            <a:off x="1991544" y="2505670"/>
            <a:ext cx="5486400" cy="9233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Booth algorithm treats both +ve &amp; </a:t>
            </a:r>
            <a:endParaRPr/>
          </a:p>
          <a:p>
            <a:pPr marL="0" marR="0" lvl="0" indent="0" algn="l" rtl="0">
              <a:spcBef>
                <a:spcPts val="0"/>
              </a:spcBef>
              <a:spcAft>
                <a:spcPts val="0"/>
              </a:spcAft>
              <a:buNone/>
            </a:pPr>
            <a:r>
              <a:rPr lang="en-US" sz="1800">
                <a:solidFill>
                  <a:srgbClr val="0000FF"/>
                </a:solidFill>
                <a:latin typeface="Calibri"/>
                <a:ea typeface="Calibri"/>
                <a:cs typeface="Calibri"/>
                <a:sym typeface="Calibri"/>
              </a:rPr>
              <a:t>-ve operands equally.</a:t>
            </a:r>
            <a:endParaRPr/>
          </a:p>
          <a:p>
            <a:pPr marL="0" marR="0" lvl="0" indent="0" algn="l" rtl="0">
              <a:spcBef>
                <a:spcPts val="0"/>
              </a:spcBef>
              <a:spcAft>
                <a:spcPts val="0"/>
              </a:spcAft>
              <a:buNone/>
            </a:pPr>
            <a:r>
              <a:rPr lang="en-US" sz="1800">
                <a:solidFill>
                  <a:srgbClr val="0000FF"/>
                </a:solidFill>
                <a:latin typeface="Calibri"/>
                <a:ea typeface="Calibri"/>
                <a:cs typeface="Calibri"/>
                <a:sym typeface="Calibri"/>
              </a:rPr>
              <a:t>(a) + Md X + Mr</a:t>
            </a:r>
            <a:endParaRPr sz="1800">
              <a:solidFill>
                <a:srgbClr val="0000FF"/>
              </a:solidFill>
              <a:latin typeface="Calibri"/>
              <a:ea typeface="Calibri"/>
              <a:cs typeface="Calibri"/>
              <a:sym typeface="Calibri"/>
            </a:endParaRPr>
          </a:p>
        </p:txBody>
      </p:sp>
      <p:pic>
        <p:nvPicPr>
          <p:cNvPr id="590" name="Google Shape;590;p85"/>
          <p:cNvPicPr preferRelativeResize="0"/>
          <p:nvPr/>
        </p:nvPicPr>
        <p:blipFill rotWithShape="1">
          <a:blip r:embed="rId3">
            <a:alphaModFix/>
          </a:blip>
          <a:srcRect/>
          <a:stretch/>
        </p:blipFill>
        <p:spPr>
          <a:xfrm>
            <a:off x="3503713" y="3501009"/>
            <a:ext cx="5029199" cy="294322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86"/>
          <p:cNvSpPr txBox="1">
            <a:spLocks noGrp="1"/>
          </p:cNvSpPr>
          <p:nvPr>
            <p:ph type="title"/>
          </p:nvPr>
        </p:nvSpPr>
        <p:spPr>
          <a:xfrm>
            <a:off x="1703512" y="1052736"/>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2800"/>
              <a:buFont typeface="Calibri"/>
              <a:buNone/>
            </a:pPr>
            <a:r>
              <a:rPr lang="en-US" sz="2800">
                <a:solidFill>
                  <a:srgbClr val="C00000"/>
                </a:solidFill>
              </a:rPr>
              <a:t>BOOTH Algorithm</a:t>
            </a:r>
            <a:endParaRPr/>
          </a:p>
        </p:txBody>
      </p:sp>
      <p:sp>
        <p:nvSpPr>
          <p:cNvPr id="596" name="Google Shape;596;p86"/>
          <p:cNvSpPr/>
          <p:nvPr/>
        </p:nvSpPr>
        <p:spPr>
          <a:xfrm>
            <a:off x="1775520" y="2468865"/>
            <a:ext cx="5486400" cy="9233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Booth algorithm treats both +ve &amp; </a:t>
            </a:r>
            <a:endParaRPr/>
          </a:p>
          <a:p>
            <a:pPr marL="0" marR="0" lvl="0" indent="0" algn="l" rtl="0">
              <a:spcBef>
                <a:spcPts val="0"/>
              </a:spcBef>
              <a:spcAft>
                <a:spcPts val="0"/>
              </a:spcAft>
              <a:buNone/>
            </a:pPr>
            <a:r>
              <a:rPr lang="en-US" sz="1800">
                <a:solidFill>
                  <a:srgbClr val="0000FF"/>
                </a:solidFill>
                <a:latin typeface="Calibri"/>
                <a:ea typeface="Calibri"/>
                <a:cs typeface="Calibri"/>
                <a:sym typeface="Calibri"/>
              </a:rPr>
              <a:t>-ve operands equally.</a:t>
            </a:r>
            <a:endParaRPr/>
          </a:p>
          <a:p>
            <a:pPr marL="0" marR="0" lvl="0" indent="0" algn="l" rtl="0">
              <a:spcBef>
                <a:spcPts val="0"/>
              </a:spcBef>
              <a:spcAft>
                <a:spcPts val="0"/>
              </a:spcAft>
              <a:buNone/>
            </a:pPr>
            <a:r>
              <a:rPr lang="en-US" sz="1800">
                <a:solidFill>
                  <a:srgbClr val="0000FF"/>
                </a:solidFill>
                <a:latin typeface="Calibri"/>
                <a:ea typeface="Calibri"/>
                <a:cs typeface="Calibri"/>
                <a:sym typeface="Calibri"/>
              </a:rPr>
              <a:t>(b) - Md X + Mr</a:t>
            </a:r>
            <a:endParaRPr sz="1800">
              <a:solidFill>
                <a:srgbClr val="0000FF"/>
              </a:solidFill>
              <a:latin typeface="Calibri"/>
              <a:ea typeface="Calibri"/>
              <a:cs typeface="Calibri"/>
              <a:sym typeface="Calibri"/>
            </a:endParaRPr>
          </a:p>
        </p:txBody>
      </p:sp>
      <p:pic>
        <p:nvPicPr>
          <p:cNvPr id="597" name="Google Shape;597;p86"/>
          <p:cNvPicPr preferRelativeResize="0"/>
          <p:nvPr/>
        </p:nvPicPr>
        <p:blipFill rotWithShape="1">
          <a:blip r:embed="rId3">
            <a:alphaModFix/>
          </a:blip>
          <a:srcRect/>
          <a:stretch/>
        </p:blipFill>
        <p:spPr>
          <a:xfrm>
            <a:off x="3215680" y="3458170"/>
            <a:ext cx="5029200" cy="28003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87"/>
          <p:cNvSpPr txBox="1">
            <a:spLocks noGrp="1"/>
          </p:cNvSpPr>
          <p:nvPr>
            <p:ph type="title"/>
          </p:nvPr>
        </p:nvSpPr>
        <p:spPr>
          <a:xfrm>
            <a:off x="1703512" y="1124744"/>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2800"/>
              <a:buFont typeface="Calibri"/>
              <a:buNone/>
            </a:pPr>
            <a:r>
              <a:rPr lang="en-US" sz="2800">
                <a:solidFill>
                  <a:srgbClr val="C00000"/>
                </a:solidFill>
              </a:rPr>
              <a:t>BOOTH Algorithm</a:t>
            </a:r>
            <a:endParaRPr/>
          </a:p>
        </p:txBody>
      </p:sp>
      <p:sp>
        <p:nvSpPr>
          <p:cNvPr id="603" name="Google Shape;603;p87"/>
          <p:cNvSpPr/>
          <p:nvPr/>
        </p:nvSpPr>
        <p:spPr>
          <a:xfrm>
            <a:off x="1919536" y="2607295"/>
            <a:ext cx="5486400" cy="9233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Booth algorithm treats both +ve &amp; </a:t>
            </a:r>
            <a:endParaRPr/>
          </a:p>
          <a:p>
            <a:pPr marL="0" marR="0" lvl="0" indent="0" algn="l" rtl="0">
              <a:spcBef>
                <a:spcPts val="0"/>
              </a:spcBef>
              <a:spcAft>
                <a:spcPts val="0"/>
              </a:spcAft>
              <a:buNone/>
            </a:pPr>
            <a:r>
              <a:rPr lang="en-US" sz="1800">
                <a:solidFill>
                  <a:srgbClr val="0000FF"/>
                </a:solidFill>
                <a:latin typeface="Calibri"/>
                <a:ea typeface="Calibri"/>
                <a:cs typeface="Calibri"/>
                <a:sym typeface="Calibri"/>
              </a:rPr>
              <a:t>-ve operands equally.</a:t>
            </a:r>
            <a:endParaRPr/>
          </a:p>
          <a:p>
            <a:pPr marL="0" marR="0" lvl="0" indent="0" algn="l" rtl="0">
              <a:spcBef>
                <a:spcPts val="0"/>
              </a:spcBef>
              <a:spcAft>
                <a:spcPts val="0"/>
              </a:spcAft>
              <a:buNone/>
            </a:pPr>
            <a:r>
              <a:rPr lang="en-US" sz="1800">
                <a:solidFill>
                  <a:srgbClr val="0000FF"/>
                </a:solidFill>
                <a:latin typeface="Calibri"/>
                <a:ea typeface="Calibri"/>
                <a:cs typeface="Calibri"/>
                <a:sym typeface="Calibri"/>
              </a:rPr>
              <a:t>(c) + Md X - Mr</a:t>
            </a:r>
            <a:endParaRPr sz="1800">
              <a:solidFill>
                <a:srgbClr val="0000FF"/>
              </a:solidFill>
              <a:latin typeface="Calibri"/>
              <a:ea typeface="Calibri"/>
              <a:cs typeface="Calibri"/>
              <a:sym typeface="Calibri"/>
            </a:endParaRPr>
          </a:p>
        </p:txBody>
      </p:sp>
      <p:pic>
        <p:nvPicPr>
          <p:cNvPr id="604" name="Google Shape;604;p87"/>
          <p:cNvPicPr preferRelativeResize="0"/>
          <p:nvPr/>
        </p:nvPicPr>
        <p:blipFill rotWithShape="1">
          <a:blip r:embed="rId3">
            <a:alphaModFix/>
          </a:blip>
          <a:srcRect/>
          <a:stretch/>
        </p:blipFill>
        <p:spPr>
          <a:xfrm>
            <a:off x="3431704" y="3789041"/>
            <a:ext cx="5029200" cy="286702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88"/>
          <p:cNvSpPr txBox="1">
            <a:spLocks noGrp="1"/>
          </p:cNvSpPr>
          <p:nvPr>
            <p:ph type="title"/>
          </p:nvPr>
        </p:nvSpPr>
        <p:spPr>
          <a:xfrm>
            <a:off x="1703512" y="1074638"/>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2800"/>
              <a:buFont typeface="Calibri"/>
              <a:buNone/>
            </a:pPr>
            <a:r>
              <a:rPr lang="en-US" sz="2800">
                <a:solidFill>
                  <a:srgbClr val="C00000"/>
                </a:solidFill>
              </a:rPr>
              <a:t>BOOTH Algorithm</a:t>
            </a:r>
            <a:endParaRPr/>
          </a:p>
        </p:txBody>
      </p:sp>
      <p:sp>
        <p:nvSpPr>
          <p:cNvPr id="610" name="Google Shape;610;p88"/>
          <p:cNvSpPr/>
          <p:nvPr/>
        </p:nvSpPr>
        <p:spPr>
          <a:xfrm>
            <a:off x="2183368" y="2505670"/>
            <a:ext cx="3455433" cy="9233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0000FF"/>
                </a:solidFill>
                <a:latin typeface="Calibri"/>
                <a:ea typeface="Calibri"/>
                <a:cs typeface="Calibri"/>
                <a:sym typeface="Calibri"/>
              </a:rPr>
              <a:t>Booth algorithm treats both +ve &amp; </a:t>
            </a:r>
            <a:endParaRPr/>
          </a:p>
          <a:p>
            <a:pPr marL="0" marR="0" lvl="0" indent="0" algn="l" rtl="0">
              <a:spcBef>
                <a:spcPts val="0"/>
              </a:spcBef>
              <a:spcAft>
                <a:spcPts val="0"/>
              </a:spcAft>
              <a:buNone/>
            </a:pPr>
            <a:r>
              <a:rPr lang="en-US" sz="1800">
                <a:solidFill>
                  <a:srgbClr val="0000FF"/>
                </a:solidFill>
                <a:latin typeface="Calibri"/>
                <a:ea typeface="Calibri"/>
                <a:cs typeface="Calibri"/>
                <a:sym typeface="Calibri"/>
              </a:rPr>
              <a:t>-ve operands equally.</a:t>
            </a:r>
            <a:endParaRPr/>
          </a:p>
          <a:p>
            <a:pPr marL="0" marR="0" lvl="0" indent="0" algn="l" rtl="0">
              <a:spcBef>
                <a:spcPts val="0"/>
              </a:spcBef>
              <a:spcAft>
                <a:spcPts val="0"/>
              </a:spcAft>
              <a:buNone/>
            </a:pPr>
            <a:r>
              <a:rPr lang="en-US" sz="1800">
                <a:solidFill>
                  <a:srgbClr val="0000FF"/>
                </a:solidFill>
                <a:latin typeface="Calibri"/>
                <a:ea typeface="Calibri"/>
                <a:cs typeface="Calibri"/>
                <a:sym typeface="Calibri"/>
              </a:rPr>
              <a:t>(d) - Md X - Mr</a:t>
            </a:r>
            <a:endParaRPr sz="1800">
              <a:solidFill>
                <a:srgbClr val="0000FF"/>
              </a:solidFill>
              <a:latin typeface="Calibri"/>
              <a:ea typeface="Calibri"/>
              <a:cs typeface="Calibri"/>
              <a:sym typeface="Calibri"/>
            </a:endParaRPr>
          </a:p>
        </p:txBody>
      </p:sp>
      <p:pic>
        <p:nvPicPr>
          <p:cNvPr id="611" name="Google Shape;611;p88"/>
          <p:cNvPicPr preferRelativeResize="0"/>
          <p:nvPr/>
        </p:nvPicPr>
        <p:blipFill rotWithShape="1">
          <a:blip r:embed="rId3">
            <a:alphaModFix/>
          </a:blip>
          <a:srcRect/>
          <a:stretch/>
        </p:blipFill>
        <p:spPr>
          <a:xfrm>
            <a:off x="3581400" y="3717033"/>
            <a:ext cx="5029200" cy="286702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89"/>
          <p:cNvSpPr txBox="1">
            <a:spLocks noGrp="1"/>
          </p:cNvSpPr>
          <p:nvPr>
            <p:ph type="title"/>
          </p:nvPr>
        </p:nvSpPr>
        <p:spPr>
          <a:xfrm>
            <a:off x="1395777" y="692696"/>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2800"/>
              <a:buFont typeface="Calibri"/>
              <a:buNone/>
            </a:pPr>
            <a:r>
              <a:rPr lang="en-US" sz="2800">
                <a:solidFill>
                  <a:srgbClr val="C00000"/>
                </a:solidFill>
              </a:rPr>
              <a:t>BOOTH Algorithm</a:t>
            </a:r>
            <a:endParaRPr/>
          </a:p>
        </p:txBody>
      </p:sp>
      <p:pic>
        <p:nvPicPr>
          <p:cNvPr id="617" name="Google Shape;617;p89"/>
          <p:cNvPicPr preferRelativeResize="0"/>
          <p:nvPr/>
        </p:nvPicPr>
        <p:blipFill rotWithShape="1">
          <a:blip r:embed="rId3">
            <a:alphaModFix/>
          </a:blip>
          <a:srcRect/>
          <a:stretch/>
        </p:blipFill>
        <p:spPr>
          <a:xfrm>
            <a:off x="2567608" y="1556792"/>
            <a:ext cx="6400800" cy="51054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pic>
        <p:nvPicPr>
          <p:cNvPr id="622" name="Google Shape;622;p90" descr="CamScanner 07-29-2020 12.04.04_4.jpg"/>
          <p:cNvPicPr preferRelativeResize="0">
            <a:picLocks noGrp="1"/>
          </p:cNvPicPr>
          <p:nvPr>
            <p:ph type="body" idx="1"/>
          </p:nvPr>
        </p:nvPicPr>
        <p:blipFill rotWithShape="1">
          <a:blip r:embed="rId3">
            <a:alphaModFix/>
          </a:blip>
          <a:srcRect/>
          <a:stretch/>
        </p:blipFill>
        <p:spPr>
          <a:xfrm>
            <a:off x="2135560" y="1341438"/>
            <a:ext cx="7391400" cy="489587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91"/>
          <p:cNvSpPr txBox="1">
            <a:spLocks noGrp="1"/>
          </p:cNvSpPr>
          <p:nvPr>
            <p:ph type="title"/>
          </p:nvPr>
        </p:nvSpPr>
        <p:spPr>
          <a:xfrm>
            <a:off x="1673440" y="113606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000"/>
              <a:buFont typeface="Calibri"/>
              <a:buNone/>
            </a:pPr>
            <a:r>
              <a:rPr lang="en-US" sz="4000">
                <a:solidFill>
                  <a:srgbClr val="C00000"/>
                </a:solidFill>
              </a:rPr>
              <a:t>FAST MULTIPLICATION</a:t>
            </a:r>
            <a:endParaRPr/>
          </a:p>
        </p:txBody>
      </p:sp>
      <p:sp>
        <p:nvSpPr>
          <p:cNvPr id="628" name="Google Shape;628;p9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pPr>
            <a:br>
              <a:rPr lang="en-US"/>
            </a:br>
            <a:r>
              <a:rPr lang="en-US"/>
              <a:t>1.BIT PAIR RECODING OF MULTIPLIERS</a:t>
            </a:r>
            <a:br>
              <a:rPr lang="en-US"/>
            </a:br>
            <a:r>
              <a:rPr lang="en-US"/>
              <a:t>2.CARRY SAVE ADDITION OF SUMMANDS</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92"/>
          <p:cNvSpPr txBox="1">
            <a:spLocks noGrp="1"/>
          </p:cNvSpPr>
          <p:nvPr>
            <p:ph type="title"/>
          </p:nvPr>
        </p:nvSpPr>
        <p:spPr>
          <a:xfrm>
            <a:off x="1631504" y="1268760"/>
            <a:ext cx="8229600" cy="838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2800"/>
              <a:buFont typeface="Calibri"/>
              <a:buNone/>
            </a:pPr>
            <a:r>
              <a:rPr lang="en-US" sz="2800">
                <a:solidFill>
                  <a:srgbClr val="C00000"/>
                </a:solidFill>
              </a:rPr>
              <a:t>Fast Multiplication</a:t>
            </a:r>
            <a:endParaRPr/>
          </a:p>
        </p:txBody>
      </p:sp>
      <p:sp>
        <p:nvSpPr>
          <p:cNvPr id="634" name="Google Shape;634;p92"/>
          <p:cNvSpPr txBox="1">
            <a:spLocks noGrp="1"/>
          </p:cNvSpPr>
          <p:nvPr>
            <p:ph type="body" idx="1"/>
          </p:nvPr>
        </p:nvSpPr>
        <p:spPr>
          <a:xfrm>
            <a:off x="1847528" y="2420889"/>
            <a:ext cx="8229600" cy="4830763"/>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1800"/>
              <a:buChar char="•"/>
            </a:pPr>
            <a:r>
              <a:rPr lang="en-US" sz="1800"/>
              <a:t>There are two techniques for speeding up the multiplication operation. </a:t>
            </a:r>
            <a:endParaRPr/>
          </a:p>
          <a:p>
            <a:pPr marL="228600" lvl="0" indent="-114300" algn="just" rtl="0">
              <a:lnSpc>
                <a:spcPct val="90000"/>
              </a:lnSpc>
              <a:spcBef>
                <a:spcPts val="1000"/>
              </a:spcBef>
              <a:spcAft>
                <a:spcPts val="0"/>
              </a:spcAft>
              <a:buClr>
                <a:schemeClr val="dk1"/>
              </a:buClr>
              <a:buSzPts val="1800"/>
              <a:buNone/>
            </a:pPr>
            <a:endParaRPr sz="1800"/>
          </a:p>
          <a:p>
            <a:pPr marL="228600" lvl="0" indent="-228600" algn="just" rtl="0">
              <a:lnSpc>
                <a:spcPct val="90000"/>
              </a:lnSpc>
              <a:spcBef>
                <a:spcPts val="1000"/>
              </a:spcBef>
              <a:spcAft>
                <a:spcPts val="0"/>
              </a:spcAft>
              <a:buClr>
                <a:schemeClr val="dk1"/>
              </a:buClr>
              <a:buSzPts val="1800"/>
              <a:buChar char="•"/>
            </a:pPr>
            <a:r>
              <a:rPr lang="en-US" sz="1800"/>
              <a:t>The first technique guarantees that the maximum number of summands (versions of the multiplicand) that must be added is </a:t>
            </a:r>
            <a:r>
              <a:rPr lang="en-US" sz="1800" i="1"/>
              <a:t>n/2 </a:t>
            </a:r>
            <a:r>
              <a:rPr lang="en-US" sz="1800"/>
              <a:t>for n-bit operands. </a:t>
            </a:r>
            <a:endParaRPr/>
          </a:p>
          <a:p>
            <a:pPr marL="228600" lvl="0" indent="-114300" algn="just" rtl="0">
              <a:lnSpc>
                <a:spcPct val="90000"/>
              </a:lnSpc>
              <a:spcBef>
                <a:spcPts val="1000"/>
              </a:spcBef>
              <a:spcAft>
                <a:spcPts val="0"/>
              </a:spcAft>
              <a:buClr>
                <a:schemeClr val="dk1"/>
              </a:buClr>
              <a:buSzPts val="1800"/>
              <a:buNone/>
            </a:pPr>
            <a:endParaRPr sz="1800"/>
          </a:p>
          <a:p>
            <a:pPr marL="228600" lvl="0" indent="-228600" algn="just" rtl="0">
              <a:lnSpc>
                <a:spcPct val="90000"/>
              </a:lnSpc>
              <a:spcBef>
                <a:spcPts val="1000"/>
              </a:spcBef>
              <a:spcAft>
                <a:spcPts val="0"/>
              </a:spcAft>
              <a:buClr>
                <a:schemeClr val="dk1"/>
              </a:buClr>
              <a:buSzPts val="1800"/>
              <a:buChar char="•"/>
            </a:pPr>
            <a:r>
              <a:rPr lang="en-US" sz="1800"/>
              <a:t>The second technique reduces the time needed to add the summands (carry-save addition of summands method).</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93"/>
          <p:cNvSpPr txBox="1">
            <a:spLocks noGrp="1"/>
          </p:cNvSpPr>
          <p:nvPr>
            <p:ph type="title"/>
          </p:nvPr>
        </p:nvSpPr>
        <p:spPr>
          <a:xfrm>
            <a:off x="1847528" y="1268760"/>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2800"/>
              <a:buFont typeface="Calibri"/>
              <a:buNone/>
            </a:pPr>
            <a:r>
              <a:rPr lang="en-US" sz="2800">
                <a:solidFill>
                  <a:srgbClr val="C00000"/>
                </a:solidFill>
              </a:rPr>
              <a:t>Bit-Pair Recoding of Multipliers</a:t>
            </a:r>
            <a:endParaRPr/>
          </a:p>
        </p:txBody>
      </p:sp>
      <p:sp>
        <p:nvSpPr>
          <p:cNvPr id="640" name="Google Shape;640;p93"/>
          <p:cNvSpPr txBox="1">
            <a:spLocks noGrp="1"/>
          </p:cNvSpPr>
          <p:nvPr>
            <p:ph type="body" idx="1"/>
          </p:nvPr>
        </p:nvSpPr>
        <p:spPr>
          <a:xfrm>
            <a:off x="1958511" y="2332038"/>
            <a:ext cx="8229600" cy="4525963"/>
          </a:xfrm>
          <a:prstGeom prst="rect">
            <a:avLst/>
          </a:prstGeom>
          <a:noFill/>
          <a:ln>
            <a:noFill/>
          </a:ln>
        </p:spPr>
        <p:txBody>
          <a:bodyPr spcFirstLastPara="1" wrap="square" lIns="91425" tIns="45700" rIns="91425" bIns="45700" anchor="t" anchorCtr="0">
            <a:normAutofit/>
          </a:bodyPr>
          <a:lstStyle/>
          <a:p>
            <a:pPr marL="274320" lvl="0" indent="-274320" algn="just" rtl="0">
              <a:lnSpc>
                <a:spcPct val="90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This bit-pair recoding technique halves the maximum number of summands. It is derived from the Booth algorithm. </a:t>
            </a:r>
            <a:endParaRPr/>
          </a:p>
          <a:p>
            <a:pPr marL="274320" lvl="0" indent="-160020" algn="just" rtl="0">
              <a:lnSpc>
                <a:spcPct val="90000"/>
              </a:lnSpc>
              <a:spcBef>
                <a:spcPts val="1000"/>
              </a:spcBef>
              <a:spcAft>
                <a:spcPts val="0"/>
              </a:spcAft>
              <a:buClr>
                <a:schemeClr val="dk1"/>
              </a:buClr>
              <a:buSzPts val="1800"/>
              <a:buNone/>
            </a:pPr>
            <a:endParaRPr sz="1800">
              <a:latin typeface="Times New Roman"/>
              <a:ea typeface="Times New Roman"/>
              <a:cs typeface="Times New Roman"/>
              <a:sym typeface="Times New Roman"/>
            </a:endParaRPr>
          </a:p>
          <a:p>
            <a:pPr marL="274320" lvl="0" indent="-274320" algn="just" rtl="0">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Group the Booth-recoded multiplier bits in pairs, and observe the following: The pair (+1 -1) is equivalent to the pair (0 +1). </a:t>
            </a:r>
            <a:endParaRPr/>
          </a:p>
          <a:p>
            <a:pPr marL="274320" lvl="0" indent="-160020" algn="just" rtl="0">
              <a:lnSpc>
                <a:spcPct val="90000"/>
              </a:lnSpc>
              <a:spcBef>
                <a:spcPts val="1000"/>
              </a:spcBef>
              <a:spcAft>
                <a:spcPts val="0"/>
              </a:spcAft>
              <a:buClr>
                <a:schemeClr val="dk1"/>
              </a:buClr>
              <a:buSzPts val="1800"/>
              <a:buNone/>
            </a:pPr>
            <a:endParaRPr sz="1800">
              <a:latin typeface="Times New Roman"/>
              <a:ea typeface="Times New Roman"/>
              <a:cs typeface="Times New Roman"/>
              <a:sym typeface="Times New Roman"/>
            </a:endParaRPr>
          </a:p>
          <a:p>
            <a:pPr marL="274320" lvl="0" indent="-274320" algn="just" rtl="0">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That is, instead of adding —1 times the multiplicand M at shift position i to + 1 x M at position i + 1, the same result is obtained by adding +1 x M at position I Other examples are: (+1 0) is equivalent to (0 +2),(-l +1) is equivalent to (0 —1). and so on</a:t>
            </a:r>
            <a:endParaRPr/>
          </a:p>
          <a:p>
            <a:pPr marL="274320" lvl="0" indent="-52070" algn="just" rtl="0">
              <a:lnSpc>
                <a:spcPct val="90000"/>
              </a:lnSpc>
              <a:spcBef>
                <a:spcPts val="1000"/>
              </a:spcBef>
              <a:spcAft>
                <a:spcPts val="0"/>
              </a:spcAft>
              <a:buClr>
                <a:schemeClr val="dk1"/>
              </a:buClr>
              <a:buSzPts val="3500"/>
              <a:buNone/>
            </a:pPr>
            <a:endParaRPr sz="3500">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94"/>
          <p:cNvSpPr txBox="1">
            <a:spLocks noGrp="1"/>
          </p:cNvSpPr>
          <p:nvPr>
            <p:ph type="title"/>
          </p:nvPr>
        </p:nvSpPr>
        <p:spPr>
          <a:xfrm>
            <a:off x="1981200" y="764704"/>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2800"/>
              <a:buFont typeface="Calibri"/>
              <a:buNone/>
            </a:pPr>
            <a:r>
              <a:rPr lang="en-US" sz="2800">
                <a:solidFill>
                  <a:srgbClr val="C00000"/>
                </a:solidFill>
              </a:rPr>
              <a:t>Bit-Pair Recoding of Multipliers</a:t>
            </a:r>
            <a:endParaRPr sz="2800"/>
          </a:p>
        </p:txBody>
      </p:sp>
      <p:pic>
        <p:nvPicPr>
          <p:cNvPr id="646" name="Google Shape;646;p94"/>
          <p:cNvPicPr preferRelativeResize="0">
            <a:picLocks noGrp="1"/>
          </p:cNvPicPr>
          <p:nvPr>
            <p:ph type="body" idx="1"/>
          </p:nvPr>
        </p:nvPicPr>
        <p:blipFill rotWithShape="1">
          <a:blip r:embed="rId3">
            <a:alphaModFix/>
          </a:blip>
          <a:srcRect/>
          <a:stretch/>
        </p:blipFill>
        <p:spPr>
          <a:xfrm>
            <a:off x="1981200" y="1660525"/>
            <a:ext cx="3181350" cy="4114800"/>
          </a:xfrm>
          <a:prstGeom prst="rect">
            <a:avLst/>
          </a:prstGeom>
          <a:noFill/>
          <a:ln>
            <a:noFill/>
          </a:ln>
        </p:spPr>
      </p:pic>
      <p:sp>
        <p:nvSpPr>
          <p:cNvPr id="647" name="Google Shape;647;p9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82</a:t>
            </a:fld>
            <a:endParaRPr/>
          </a:p>
        </p:txBody>
      </p:sp>
      <p:pic>
        <p:nvPicPr>
          <p:cNvPr id="648" name="Google Shape;648;p94"/>
          <p:cNvPicPr preferRelativeResize="0"/>
          <p:nvPr/>
        </p:nvPicPr>
        <p:blipFill rotWithShape="1">
          <a:blip r:embed="rId4">
            <a:alphaModFix/>
          </a:blip>
          <a:srcRect/>
          <a:stretch/>
        </p:blipFill>
        <p:spPr>
          <a:xfrm>
            <a:off x="1983168" y="5605462"/>
            <a:ext cx="3179383" cy="933450"/>
          </a:xfrm>
          <a:prstGeom prst="rect">
            <a:avLst/>
          </a:prstGeom>
          <a:noFill/>
          <a:ln>
            <a:noFill/>
          </a:ln>
        </p:spPr>
      </p:pic>
      <p:pic>
        <p:nvPicPr>
          <p:cNvPr id="649" name="Google Shape;649;p94"/>
          <p:cNvPicPr preferRelativeResize="0"/>
          <p:nvPr/>
        </p:nvPicPr>
        <p:blipFill rotWithShape="1">
          <a:blip r:embed="rId5">
            <a:alphaModFix/>
          </a:blip>
          <a:srcRect/>
          <a:stretch/>
        </p:blipFill>
        <p:spPr>
          <a:xfrm>
            <a:off x="6186284" y="1660526"/>
            <a:ext cx="3990975" cy="469582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p95"/>
          <p:cNvSpPr txBox="1">
            <a:spLocks noGrp="1"/>
          </p:cNvSpPr>
          <p:nvPr>
            <p:ph type="title"/>
          </p:nvPr>
        </p:nvSpPr>
        <p:spPr>
          <a:xfrm>
            <a:off x="1981200" y="836712"/>
            <a:ext cx="8229600" cy="914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2800"/>
              <a:buFont typeface="Calibri"/>
              <a:buNone/>
            </a:pPr>
            <a:r>
              <a:rPr lang="en-US" sz="2800">
                <a:solidFill>
                  <a:srgbClr val="C00000"/>
                </a:solidFill>
              </a:rPr>
              <a:t>Bit-Pair Recoding of Multipliers</a:t>
            </a:r>
            <a:endParaRPr/>
          </a:p>
        </p:txBody>
      </p:sp>
      <p:pic>
        <p:nvPicPr>
          <p:cNvPr id="655" name="Google Shape;655;p95"/>
          <p:cNvPicPr preferRelativeResize="0"/>
          <p:nvPr/>
        </p:nvPicPr>
        <p:blipFill rotWithShape="1">
          <a:blip r:embed="rId3">
            <a:alphaModFix/>
          </a:blip>
          <a:srcRect/>
          <a:stretch/>
        </p:blipFill>
        <p:spPr>
          <a:xfrm>
            <a:off x="3647728" y="1845314"/>
            <a:ext cx="4320480" cy="2027815"/>
          </a:xfrm>
          <a:prstGeom prst="rect">
            <a:avLst/>
          </a:prstGeom>
          <a:noFill/>
          <a:ln>
            <a:noFill/>
          </a:ln>
        </p:spPr>
      </p:pic>
      <p:pic>
        <p:nvPicPr>
          <p:cNvPr id="656" name="Google Shape;656;p95"/>
          <p:cNvPicPr preferRelativeResize="0"/>
          <p:nvPr/>
        </p:nvPicPr>
        <p:blipFill rotWithShape="1">
          <a:blip r:embed="rId4">
            <a:alphaModFix/>
          </a:blip>
          <a:srcRect/>
          <a:stretch/>
        </p:blipFill>
        <p:spPr>
          <a:xfrm>
            <a:off x="3287688" y="3861049"/>
            <a:ext cx="5105400" cy="2810209"/>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pic>
        <p:nvPicPr>
          <p:cNvPr id="661" name="Google Shape;661;p96" descr="CamScanner 07-29-2020 12.04.04_5.jpg"/>
          <p:cNvPicPr preferRelativeResize="0"/>
          <p:nvPr/>
        </p:nvPicPr>
        <p:blipFill rotWithShape="1">
          <a:blip r:embed="rId3">
            <a:alphaModFix/>
          </a:blip>
          <a:srcRect/>
          <a:stretch/>
        </p:blipFill>
        <p:spPr>
          <a:xfrm>
            <a:off x="2927648" y="1340768"/>
            <a:ext cx="5357744" cy="522920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97"/>
          <p:cNvSpPr txBox="1">
            <a:spLocks noGrp="1"/>
          </p:cNvSpPr>
          <p:nvPr>
            <p:ph type="title"/>
          </p:nvPr>
        </p:nvSpPr>
        <p:spPr>
          <a:xfrm>
            <a:off x="2063552" y="1052736"/>
            <a:ext cx="8229600" cy="914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2800"/>
              <a:buFont typeface="Calibri"/>
              <a:buNone/>
            </a:pPr>
            <a:r>
              <a:rPr lang="en-US" sz="2800">
                <a:solidFill>
                  <a:srgbClr val="C00000"/>
                </a:solidFill>
              </a:rPr>
              <a:t>Bit-Pair Recoding of Multipliers</a:t>
            </a:r>
            <a:endParaRPr/>
          </a:p>
        </p:txBody>
      </p:sp>
      <p:pic>
        <p:nvPicPr>
          <p:cNvPr id="667" name="Google Shape;667;p97"/>
          <p:cNvPicPr preferRelativeResize="0"/>
          <p:nvPr/>
        </p:nvPicPr>
        <p:blipFill rotWithShape="1">
          <a:blip r:embed="rId3">
            <a:alphaModFix/>
          </a:blip>
          <a:srcRect/>
          <a:stretch/>
        </p:blipFill>
        <p:spPr>
          <a:xfrm>
            <a:off x="3215680" y="2143710"/>
            <a:ext cx="5105400" cy="4298032"/>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98"/>
          <p:cNvSpPr txBox="1">
            <a:spLocks noGrp="1"/>
          </p:cNvSpPr>
          <p:nvPr>
            <p:ph type="title"/>
          </p:nvPr>
        </p:nvSpPr>
        <p:spPr>
          <a:xfrm>
            <a:off x="1981200" y="274638"/>
            <a:ext cx="7391400" cy="56356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C00000"/>
              </a:buClr>
              <a:buSzPct val="100000"/>
              <a:buFont typeface="Calibri"/>
              <a:buNone/>
            </a:pPr>
            <a:r>
              <a:rPr lang="en-US">
                <a:solidFill>
                  <a:srgbClr val="C00000"/>
                </a:solidFill>
              </a:rPr>
              <a:t>Carry-Save Addition of Summands</a:t>
            </a:r>
            <a:endParaRPr/>
          </a:p>
        </p:txBody>
      </p:sp>
      <p:pic>
        <p:nvPicPr>
          <p:cNvPr id="673" name="Google Shape;673;p98"/>
          <p:cNvPicPr preferRelativeResize="0"/>
          <p:nvPr/>
        </p:nvPicPr>
        <p:blipFill rotWithShape="1">
          <a:blip r:embed="rId3">
            <a:alphaModFix/>
          </a:blip>
          <a:srcRect/>
          <a:stretch/>
        </p:blipFill>
        <p:spPr>
          <a:xfrm>
            <a:off x="9334500" y="1"/>
            <a:ext cx="1333500" cy="1247775"/>
          </a:xfrm>
          <a:prstGeom prst="rect">
            <a:avLst/>
          </a:prstGeom>
          <a:noFill/>
          <a:ln>
            <a:noFill/>
          </a:ln>
        </p:spPr>
      </p:pic>
      <p:sp>
        <p:nvSpPr>
          <p:cNvPr id="674" name="Google Shape;674;p98"/>
          <p:cNvSpPr txBox="1">
            <a:spLocks noGrp="1"/>
          </p:cNvSpPr>
          <p:nvPr>
            <p:ph type="body" idx="1"/>
          </p:nvPr>
        </p:nvSpPr>
        <p:spPr>
          <a:xfrm>
            <a:off x="1828800" y="1219200"/>
            <a:ext cx="8534400" cy="5410200"/>
          </a:xfrm>
          <a:prstGeom prst="rect">
            <a:avLst/>
          </a:prstGeom>
          <a:noFill/>
          <a:ln>
            <a:noFill/>
          </a:ln>
        </p:spPr>
        <p:txBody>
          <a:bodyPr spcFirstLastPara="1" wrap="square" lIns="91425" tIns="45700" rIns="91425" bIns="45700" anchor="t" anchorCtr="0">
            <a:normAutofit fontScale="47500" lnSpcReduction="20000"/>
          </a:bodyPr>
          <a:lstStyle/>
          <a:p>
            <a:pPr marL="228600" lvl="0" indent="-228600" algn="just" rtl="0">
              <a:lnSpc>
                <a:spcPct val="90000"/>
              </a:lnSpc>
              <a:spcBef>
                <a:spcPts val="0"/>
              </a:spcBef>
              <a:spcAft>
                <a:spcPts val="0"/>
              </a:spcAft>
              <a:buClr>
                <a:schemeClr val="dk1"/>
              </a:buClr>
              <a:buSzPct val="100000"/>
              <a:buChar char="•"/>
            </a:pPr>
            <a:r>
              <a:rPr lang="en-US" sz="3600"/>
              <a:t>A </a:t>
            </a:r>
            <a:r>
              <a:rPr lang="en-US" sz="3600" b="1"/>
              <a:t>carry-save adder </a:t>
            </a:r>
            <a:r>
              <a:rPr lang="en-US" sz="3600"/>
              <a:t>is a type of digital adder, used to efficiently compute the sum of three or more binary numbers. </a:t>
            </a:r>
            <a:endParaRPr/>
          </a:p>
          <a:p>
            <a:pPr marL="228600" lvl="0" indent="-228600" algn="just" rtl="0">
              <a:lnSpc>
                <a:spcPct val="90000"/>
              </a:lnSpc>
              <a:spcBef>
                <a:spcPts val="1000"/>
              </a:spcBef>
              <a:spcAft>
                <a:spcPts val="0"/>
              </a:spcAft>
              <a:buClr>
                <a:schemeClr val="dk1"/>
              </a:buClr>
              <a:buSzPct val="100000"/>
              <a:buChar char="•"/>
            </a:pPr>
            <a:r>
              <a:rPr lang="en-US" sz="3600"/>
              <a:t>A carry-save adder (CSA), or 3-2 adder, is a very fast and cheap adder that does not propagate carry bits.</a:t>
            </a:r>
            <a:endParaRPr/>
          </a:p>
          <a:p>
            <a:pPr marL="228600" lvl="0" indent="-228600" algn="just" rtl="0">
              <a:lnSpc>
                <a:spcPct val="90000"/>
              </a:lnSpc>
              <a:spcBef>
                <a:spcPts val="1000"/>
              </a:spcBef>
              <a:spcAft>
                <a:spcPts val="0"/>
              </a:spcAft>
              <a:buClr>
                <a:schemeClr val="dk1"/>
              </a:buClr>
              <a:buSzPct val="100000"/>
              <a:buChar char="•"/>
            </a:pPr>
            <a:r>
              <a:rPr lang="en-US" sz="3600"/>
              <a:t>A Carry Save Adder is generally used in binary multiplier, since a binary multiplier involves addition of more than two binary numbers after multiplication. </a:t>
            </a:r>
            <a:endParaRPr/>
          </a:p>
          <a:p>
            <a:pPr marL="228600" lvl="0" indent="-228600" algn="just" rtl="0">
              <a:lnSpc>
                <a:spcPct val="90000"/>
              </a:lnSpc>
              <a:spcBef>
                <a:spcPts val="1000"/>
              </a:spcBef>
              <a:spcAft>
                <a:spcPts val="0"/>
              </a:spcAft>
              <a:buClr>
                <a:schemeClr val="dk1"/>
              </a:buClr>
              <a:buSzPct val="100000"/>
              <a:buChar char="•"/>
            </a:pPr>
            <a:r>
              <a:rPr lang="en-US" sz="3600"/>
              <a:t>It  can be used to speed up addition of the several summands required in multiplication</a:t>
            </a:r>
            <a:endParaRPr/>
          </a:p>
          <a:p>
            <a:pPr marL="228600" lvl="0" indent="-228600" algn="just" rtl="0">
              <a:lnSpc>
                <a:spcPct val="90000"/>
              </a:lnSpc>
              <a:spcBef>
                <a:spcPts val="1000"/>
              </a:spcBef>
              <a:spcAft>
                <a:spcPts val="0"/>
              </a:spcAft>
              <a:buClr>
                <a:schemeClr val="dk1"/>
              </a:buClr>
              <a:buSzPct val="100000"/>
              <a:buChar char="•"/>
            </a:pPr>
            <a:r>
              <a:rPr lang="en-US" sz="3600"/>
              <a:t>It differs from other digital adders in that it outputs two (or more) numbers, and the answer of the original summation can be achieved by adding these outputs together. </a:t>
            </a:r>
            <a:endParaRPr/>
          </a:p>
          <a:p>
            <a:pPr marL="228600" lvl="0" indent="-228600" algn="just" rtl="0">
              <a:lnSpc>
                <a:spcPct val="90000"/>
              </a:lnSpc>
              <a:spcBef>
                <a:spcPts val="1000"/>
              </a:spcBef>
              <a:spcAft>
                <a:spcPts val="0"/>
              </a:spcAft>
              <a:buClr>
                <a:schemeClr val="dk1"/>
              </a:buClr>
              <a:buSzPct val="100000"/>
              <a:buChar char="•"/>
            </a:pPr>
            <a:r>
              <a:rPr lang="en-US" sz="3600"/>
              <a:t>A big adder implemented using this technique will usually be much faster than conventional addition of those numbers.</a:t>
            </a:r>
            <a:endParaRPr/>
          </a:p>
          <a:p>
            <a:pPr marL="228600" lvl="0" indent="-228600" algn="l" rtl="0">
              <a:lnSpc>
                <a:spcPct val="90000"/>
              </a:lnSpc>
              <a:spcBef>
                <a:spcPts val="1000"/>
              </a:spcBef>
              <a:spcAft>
                <a:spcPts val="0"/>
              </a:spcAft>
              <a:buClr>
                <a:schemeClr val="dk1"/>
              </a:buClr>
              <a:buSzPct val="100000"/>
              <a:buNone/>
            </a:pPr>
            <a:endParaRPr sz="3600"/>
          </a:p>
          <a:p>
            <a:pPr marL="228600" lvl="0" indent="-228600" algn="l" rtl="0">
              <a:lnSpc>
                <a:spcPct val="90000"/>
              </a:lnSpc>
              <a:spcBef>
                <a:spcPts val="1000"/>
              </a:spcBef>
              <a:spcAft>
                <a:spcPts val="0"/>
              </a:spcAft>
              <a:buClr>
                <a:schemeClr val="dk1"/>
              </a:buClr>
              <a:buSzPct val="100000"/>
              <a:buNone/>
            </a:pPr>
            <a:r>
              <a:rPr lang="en-US" sz="3600" b="1"/>
              <a:t>Fast Multiplication</a:t>
            </a:r>
            <a:endParaRPr/>
          </a:p>
          <a:p>
            <a:pPr marL="228600" lvl="0" indent="-228600" algn="l" rtl="0">
              <a:lnSpc>
                <a:spcPct val="90000"/>
              </a:lnSpc>
              <a:spcBef>
                <a:spcPts val="1000"/>
              </a:spcBef>
              <a:spcAft>
                <a:spcPts val="0"/>
              </a:spcAft>
              <a:buClr>
                <a:schemeClr val="dk1"/>
              </a:buClr>
              <a:buSzPct val="100000"/>
              <a:buFont typeface="Noto Sans Symbols"/>
              <a:buChar char="⮚"/>
            </a:pPr>
            <a:r>
              <a:rPr lang="en-US" sz="3600"/>
              <a:t>Bit pair recoding reduces summands by a factor of 2</a:t>
            </a:r>
            <a:endParaRPr/>
          </a:p>
          <a:p>
            <a:pPr marL="228600" lvl="0" indent="-228600" algn="l" rtl="0">
              <a:lnSpc>
                <a:spcPct val="90000"/>
              </a:lnSpc>
              <a:spcBef>
                <a:spcPts val="1000"/>
              </a:spcBef>
              <a:spcAft>
                <a:spcPts val="0"/>
              </a:spcAft>
              <a:buClr>
                <a:schemeClr val="dk1"/>
              </a:buClr>
              <a:buSzPct val="100000"/>
              <a:buFont typeface="Noto Sans Symbols"/>
              <a:buChar char="⮚"/>
            </a:pPr>
            <a:r>
              <a:rPr lang="en-US" sz="3600"/>
              <a:t>Summands are reduced by carry save addition</a:t>
            </a:r>
            <a:endParaRPr/>
          </a:p>
          <a:p>
            <a:pPr marL="228600" lvl="0" indent="-228600" algn="l" rtl="0">
              <a:lnSpc>
                <a:spcPct val="90000"/>
              </a:lnSpc>
              <a:spcBef>
                <a:spcPts val="1000"/>
              </a:spcBef>
              <a:spcAft>
                <a:spcPts val="0"/>
              </a:spcAft>
              <a:buClr>
                <a:schemeClr val="dk1"/>
              </a:buClr>
              <a:buSzPct val="100000"/>
              <a:buFont typeface="Noto Sans Symbols"/>
              <a:buChar char="⮚"/>
            </a:pPr>
            <a:r>
              <a:rPr lang="en-US" sz="3600"/>
              <a:t>Final product can be generated by using carry look ahead adder</a:t>
            </a:r>
            <a:endParaRPr/>
          </a:p>
          <a:p>
            <a:pPr marL="228600" lvl="0" indent="-156210" algn="l" rtl="0">
              <a:lnSpc>
                <a:spcPct val="90000"/>
              </a:lnSpc>
              <a:spcBef>
                <a:spcPts val="1000"/>
              </a:spcBef>
              <a:spcAft>
                <a:spcPts val="0"/>
              </a:spcAft>
              <a:buClr>
                <a:schemeClr val="dk1"/>
              </a:buClr>
              <a:buSzPct val="100000"/>
              <a:buNone/>
            </a:pPr>
            <a:endParaRPr sz="24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99"/>
          <p:cNvSpPr txBox="1">
            <a:spLocks noGrp="1"/>
          </p:cNvSpPr>
          <p:nvPr>
            <p:ph type="title"/>
          </p:nvPr>
        </p:nvSpPr>
        <p:spPr>
          <a:xfrm>
            <a:off x="1981200" y="274638"/>
            <a:ext cx="7391400" cy="56356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C00000"/>
              </a:buClr>
              <a:buSzPct val="100000"/>
              <a:buFont typeface="Calibri"/>
              <a:buNone/>
            </a:pPr>
            <a:r>
              <a:rPr lang="en-US">
                <a:solidFill>
                  <a:srgbClr val="C00000"/>
                </a:solidFill>
              </a:rPr>
              <a:t>Carry-Save Addition of Summands</a:t>
            </a:r>
            <a:endParaRPr/>
          </a:p>
        </p:txBody>
      </p:sp>
      <p:pic>
        <p:nvPicPr>
          <p:cNvPr id="681" name="Google Shape;681;p99"/>
          <p:cNvPicPr preferRelativeResize="0"/>
          <p:nvPr/>
        </p:nvPicPr>
        <p:blipFill rotWithShape="1">
          <a:blip r:embed="rId3">
            <a:alphaModFix/>
          </a:blip>
          <a:srcRect/>
          <a:stretch/>
        </p:blipFill>
        <p:spPr>
          <a:xfrm>
            <a:off x="9334500" y="1"/>
            <a:ext cx="1333500" cy="1247775"/>
          </a:xfrm>
          <a:prstGeom prst="rect">
            <a:avLst/>
          </a:prstGeom>
          <a:noFill/>
          <a:ln>
            <a:noFill/>
          </a:ln>
        </p:spPr>
      </p:pic>
      <p:sp>
        <p:nvSpPr>
          <p:cNvPr id="682" name="Google Shape;682;p99"/>
          <p:cNvSpPr txBox="1">
            <a:spLocks noGrp="1"/>
          </p:cNvSpPr>
          <p:nvPr>
            <p:ph type="body" idx="1"/>
          </p:nvPr>
        </p:nvSpPr>
        <p:spPr>
          <a:xfrm>
            <a:off x="1828800" y="1219200"/>
            <a:ext cx="8534400" cy="5410200"/>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400"/>
              <a:buChar char="•"/>
            </a:pPr>
            <a:r>
              <a:rPr lang="en-US" sz="2400" b="1"/>
              <a:t>Disadvantage</a:t>
            </a:r>
            <a:r>
              <a:rPr lang="en-US" sz="2400"/>
              <a:t> of the </a:t>
            </a:r>
            <a:r>
              <a:rPr lang="en-US" sz="2400" b="1"/>
              <a:t>Ripple Carry Adder - </a:t>
            </a:r>
            <a:r>
              <a:rPr lang="en-US" sz="2400">
                <a:solidFill>
                  <a:srgbClr val="FF0000"/>
                </a:solidFill>
              </a:rPr>
              <a:t>Each full adder has to wait for its carry-in from its previous stage full adder. This increase propagation time. </a:t>
            </a:r>
            <a:r>
              <a:rPr lang="en-US" sz="2400"/>
              <a:t>This causes a delay and makes ripple carry adder extremely slow. RCAr is </a:t>
            </a:r>
            <a:r>
              <a:rPr lang="en-US" sz="2400">
                <a:solidFill>
                  <a:srgbClr val="FF0000"/>
                </a:solidFill>
              </a:rPr>
              <a:t>very slow</a:t>
            </a:r>
            <a:r>
              <a:rPr lang="en-US" sz="2400" b="1"/>
              <a:t> </a:t>
            </a:r>
            <a:r>
              <a:rPr lang="en-US" sz="2400"/>
              <a:t>when adding many bits. </a:t>
            </a:r>
            <a:endParaRPr/>
          </a:p>
          <a:p>
            <a:pPr marL="228600" lvl="0" indent="-228600" algn="just" rtl="0">
              <a:lnSpc>
                <a:spcPct val="90000"/>
              </a:lnSpc>
              <a:spcBef>
                <a:spcPts val="1000"/>
              </a:spcBef>
              <a:spcAft>
                <a:spcPts val="0"/>
              </a:spcAft>
              <a:buClr>
                <a:schemeClr val="dk1"/>
              </a:buClr>
              <a:buSzPts val="2400"/>
              <a:buChar char="•"/>
            </a:pPr>
            <a:r>
              <a:rPr lang="en-US" sz="2400" b="1"/>
              <a:t>Advantage of the Carry Look ahead Adder - </a:t>
            </a:r>
            <a:r>
              <a:rPr lang="en-US" sz="2400"/>
              <a:t>This is an improved version of the Ripple Carry Adder. Fast parallel adder. It generates the carry-in of each full adder simultaneously without causing any delay. So, CLAr is faster (because of reduced propagation delay) than RCAr.</a:t>
            </a:r>
            <a:endParaRPr/>
          </a:p>
          <a:p>
            <a:pPr marL="228600" lvl="0" indent="-228600" algn="just" rtl="0">
              <a:lnSpc>
                <a:spcPct val="90000"/>
              </a:lnSpc>
              <a:spcBef>
                <a:spcPts val="1000"/>
              </a:spcBef>
              <a:spcAft>
                <a:spcPts val="0"/>
              </a:spcAft>
              <a:buClr>
                <a:schemeClr val="dk1"/>
              </a:buClr>
              <a:buSzPts val="2400"/>
              <a:buChar char="•"/>
            </a:pPr>
            <a:r>
              <a:rPr lang="en-US" sz="2400" b="1"/>
              <a:t>Disadvantage the Carry Look-ahead Adder</a:t>
            </a:r>
            <a:r>
              <a:rPr lang="en-US" sz="2400"/>
              <a:t> - It is </a:t>
            </a:r>
            <a:r>
              <a:rPr lang="en-US" sz="2400">
                <a:solidFill>
                  <a:srgbClr val="FF0000"/>
                </a:solidFill>
              </a:rPr>
              <a:t>costlier</a:t>
            </a:r>
            <a:r>
              <a:rPr lang="en-US" sz="2400"/>
              <a:t> as it reduces the propagation delay by more </a:t>
            </a:r>
            <a:r>
              <a:rPr lang="en-US" sz="2400">
                <a:solidFill>
                  <a:srgbClr val="FF0000"/>
                </a:solidFill>
              </a:rPr>
              <a:t>complex hardware. </a:t>
            </a:r>
            <a:r>
              <a:rPr lang="en-US" sz="2400"/>
              <a:t>It gets more complicated as the number of bits increases.</a:t>
            </a:r>
            <a:endParaRPr sz="2400">
              <a:solidFill>
                <a:srgbClr val="FF0000"/>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100"/>
          <p:cNvSpPr txBox="1">
            <a:spLocks noGrp="1"/>
          </p:cNvSpPr>
          <p:nvPr>
            <p:ph type="title"/>
          </p:nvPr>
        </p:nvSpPr>
        <p:spPr>
          <a:xfrm>
            <a:off x="1981200" y="274638"/>
            <a:ext cx="7391400" cy="56356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C00000"/>
              </a:buClr>
              <a:buSzPct val="100000"/>
              <a:buFont typeface="Calibri"/>
              <a:buNone/>
            </a:pPr>
            <a:r>
              <a:rPr lang="en-US">
                <a:solidFill>
                  <a:srgbClr val="C00000"/>
                </a:solidFill>
              </a:rPr>
              <a:t>Ripple Carry Array</a:t>
            </a:r>
            <a:endParaRPr/>
          </a:p>
        </p:txBody>
      </p:sp>
      <p:pic>
        <p:nvPicPr>
          <p:cNvPr id="688" name="Google Shape;688;p100"/>
          <p:cNvPicPr preferRelativeResize="0"/>
          <p:nvPr/>
        </p:nvPicPr>
        <p:blipFill rotWithShape="1">
          <a:blip r:embed="rId3">
            <a:alphaModFix/>
          </a:blip>
          <a:srcRect/>
          <a:stretch/>
        </p:blipFill>
        <p:spPr>
          <a:xfrm>
            <a:off x="9334500" y="1"/>
            <a:ext cx="1333500" cy="1247775"/>
          </a:xfrm>
          <a:prstGeom prst="rect">
            <a:avLst/>
          </a:prstGeom>
          <a:noFill/>
          <a:ln>
            <a:noFill/>
          </a:ln>
        </p:spPr>
      </p:pic>
      <p:pic>
        <p:nvPicPr>
          <p:cNvPr id="689" name="Google Shape;689;p100"/>
          <p:cNvPicPr preferRelativeResize="0"/>
          <p:nvPr/>
        </p:nvPicPr>
        <p:blipFill rotWithShape="1">
          <a:blip r:embed="rId4">
            <a:alphaModFix/>
          </a:blip>
          <a:srcRect/>
          <a:stretch/>
        </p:blipFill>
        <p:spPr>
          <a:xfrm>
            <a:off x="1981200" y="1219200"/>
            <a:ext cx="8229600" cy="541020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101"/>
          <p:cNvSpPr txBox="1">
            <a:spLocks noGrp="1"/>
          </p:cNvSpPr>
          <p:nvPr>
            <p:ph type="title"/>
          </p:nvPr>
        </p:nvSpPr>
        <p:spPr>
          <a:xfrm>
            <a:off x="1981200" y="274638"/>
            <a:ext cx="7391400" cy="563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C00000"/>
              </a:buClr>
              <a:buSzPts val="4000"/>
              <a:buFont typeface="Calibri"/>
              <a:buNone/>
            </a:pPr>
            <a:r>
              <a:rPr lang="en-US" sz="4000">
                <a:solidFill>
                  <a:srgbClr val="C00000"/>
                </a:solidFill>
              </a:rPr>
              <a:t>Carry Save Array </a:t>
            </a:r>
            <a:endParaRPr/>
          </a:p>
        </p:txBody>
      </p:sp>
      <p:pic>
        <p:nvPicPr>
          <p:cNvPr id="695" name="Google Shape;695;p101"/>
          <p:cNvPicPr preferRelativeResize="0"/>
          <p:nvPr/>
        </p:nvPicPr>
        <p:blipFill rotWithShape="1">
          <a:blip r:embed="rId3">
            <a:alphaModFix/>
          </a:blip>
          <a:srcRect/>
          <a:stretch/>
        </p:blipFill>
        <p:spPr>
          <a:xfrm>
            <a:off x="9334500" y="1"/>
            <a:ext cx="1333500" cy="1247775"/>
          </a:xfrm>
          <a:prstGeom prst="rect">
            <a:avLst/>
          </a:prstGeom>
          <a:noFill/>
          <a:ln>
            <a:noFill/>
          </a:ln>
        </p:spPr>
      </p:pic>
      <p:pic>
        <p:nvPicPr>
          <p:cNvPr id="696" name="Google Shape;696;p101"/>
          <p:cNvPicPr preferRelativeResize="0"/>
          <p:nvPr/>
        </p:nvPicPr>
        <p:blipFill rotWithShape="1">
          <a:blip r:embed="rId4">
            <a:alphaModFix/>
          </a:blip>
          <a:srcRect/>
          <a:stretch/>
        </p:blipFill>
        <p:spPr>
          <a:xfrm>
            <a:off x="1981200" y="1295400"/>
            <a:ext cx="8229600" cy="541020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102"/>
          <p:cNvSpPr txBox="1">
            <a:spLocks noGrp="1"/>
          </p:cNvSpPr>
          <p:nvPr>
            <p:ph type="title"/>
          </p:nvPr>
        </p:nvSpPr>
        <p:spPr>
          <a:xfrm>
            <a:off x="1981200" y="274638"/>
            <a:ext cx="7391400" cy="56356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C00000"/>
              </a:buClr>
              <a:buSzPct val="100000"/>
              <a:buFont typeface="Calibri"/>
              <a:buNone/>
            </a:pPr>
            <a:r>
              <a:rPr lang="en-US">
                <a:solidFill>
                  <a:srgbClr val="C00000"/>
                </a:solidFill>
              </a:rPr>
              <a:t>Carry-Save Addition of Summands</a:t>
            </a:r>
            <a:endParaRPr/>
          </a:p>
        </p:txBody>
      </p:sp>
      <p:pic>
        <p:nvPicPr>
          <p:cNvPr id="702" name="Google Shape;702;p102"/>
          <p:cNvPicPr preferRelativeResize="0"/>
          <p:nvPr/>
        </p:nvPicPr>
        <p:blipFill rotWithShape="1">
          <a:blip r:embed="rId3">
            <a:alphaModFix/>
          </a:blip>
          <a:srcRect/>
          <a:stretch/>
        </p:blipFill>
        <p:spPr>
          <a:xfrm>
            <a:off x="9334500" y="1"/>
            <a:ext cx="1333500" cy="1247775"/>
          </a:xfrm>
          <a:prstGeom prst="rect">
            <a:avLst/>
          </a:prstGeom>
          <a:noFill/>
          <a:ln>
            <a:noFill/>
          </a:ln>
        </p:spPr>
      </p:pic>
      <p:sp>
        <p:nvSpPr>
          <p:cNvPr id="703" name="Google Shape;703;p102"/>
          <p:cNvSpPr txBox="1">
            <a:spLocks noGrp="1"/>
          </p:cNvSpPr>
          <p:nvPr>
            <p:ph type="body" idx="1"/>
          </p:nvPr>
        </p:nvSpPr>
        <p:spPr>
          <a:xfrm>
            <a:off x="1828800" y="1219200"/>
            <a:ext cx="8534400" cy="5410200"/>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400"/>
              <a:buChar char="•"/>
            </a:pPr>
            <a:r>
              <a:rPr lang="en-US" sz="2400"/>
              <a:t>Consider the addition of many summands, We can:</a:t>
            </a:r>
            <a:endParaRPr/>
          </a:p>
          <a:p>
            <a:pPr marL="179388" lvl="0" indent="-179388" algn="just" rtl="0">
              <a:lnSpc>
                <a:spcPct val="90000"/>
              </a:lnSpc>
              <a:spcBef>
                <a:spcPts val="1000"/>
              </a:spcBef>
              <a:spcAft>
                <a:spcPts val="0"/>
              </a:spcAft>
              <a:buClr>
                <a:schemeClr val="dk1"/>
              </a:buClr>
              <a:buSzPts val="2400"/>
              <a:buFont typeface="Noto Sans Symbols"/>
              <a:buChar char="⮚"/>
            </a:pPr>
            <a:r>
              <a:rPr lang="en-US" sz="2400"/>
              <a:t>Group the summands in threes and perform carry-save addition  on each of these groups in parallel to generate a set of S and C vectors in one full-adder delay</a:t>
            </a:r>
            <a:endParaRPr/>
          </a:p>
          <a:p>
            <a:pPr marL="179388" lvl="0" indent="-179388" algn="just" rtl="0">
              <a:lnSpc>
                <a:spcPct val="90000"/>
              </a:lnSpc>
              <a:spcBef>
                <a:spcPts val="1000"/>
              </a:spcBef>
              <a:spcAft>
                <a:spcPts val="0"/>
              </a:spcAft>
              <a:buClr>
                <a:schemeClr val="dk1"/>
              </a:buClr>
              <a:buSzPts val="2400"/>
              <a:buFont typeface="Noto Sans Symbols"/>
              <a:buChar char="⮚"/>
            </a:pPr>
            <a:r>
              <a:rPr lang="en-US" sz="2400"/>
              <a:t>Group all of the S and C vectors into threes, and perform carry-save addition of them, generating a further set of S and C vectors in one more full-adder delay</a:t>
            </a:r>
            <a:endParaRPr/>
          </a:p>
          <a:p>
            <a:pPr marL="179388" lvl="0" indent="-179388" algn="just" rtl="0">
              <a:lnSpc>
                <a:spcPct val="90000"/>
              </a:lnSpc>
              <a:spcBef>
                <a:spcPts val="1000"/>
              </a:spcBef>
              <a:spcAft>
                <a:spcPts val="0"/>
              </a:spcAft>
              <a:buClr>
                <a:schemeClr val="dk1"/>
              </a:buClr>
              <a:buSzPts val="2400"/>
              <a:buFont typeface="Noto Sans Symbols"/>
              <a:buChar char="⮚"/>
            </a:pPr>
            <a:r>
              <a:rPr lang="en-US" sz="2400"/>
              <a:t>Continue with this process until there are only two vectors remaining</a:t>
            </a:r>
            <a:endParaRPr/>
          </a:p>
          <a:p>
            <a:pPr marL="179388" lvl="0" indent="-179388" algn="just" rtl="0">
              <a:lnSpc>
                <a:spcPct val="90000"/>
              </a:lnSpc>
              <a:spcBef>
                <a:spcPts val="1000"/>
              </a:spcBef>
              <a:spcAft>
                <a:spcPts val="0"/>
              </a:spcAft>
              <a:buClr>
                <a:schemeClr val="dk1"/>
              </a:buClr>
              <a:buSzPts val="2400"/>
              <a:buFont typeface="Noto Sans Symbols"/>
              <a:buChar char="⮚"/>
            </a:pPr>
            <a:r>
              <a:rPr lang="en-US" sz="2400"/>
              <a:t>They can be added in a Ripple Carry Adder (RPA) or Carry Look-ahead Adder (CLA) to produce the desired product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10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709" name="Google Shape;709;p103"/>
          <p:cNvPicPr preferRelativeResize="0">
            <a:picLocks noGrp="1"/>
          </p:cNvPicPr>
          <p:nvPr>
            <p:ph type="body" idx="1"/>
          </p:nvPr>
        </p:nvPicPr>
        <p:blipFill rotWithShape="1">
          <a:blip r:embed="rId3">
            <a:alphaModFix/>
          </a:blip>
          <a:srcRect/>
          <a:stretch/>
        </p:blipFill>
        <p:spPr>
          <a:xfrm>
            <a:off x="2133601" y="1752601"/>
            <a:ext cx="6205537" cy="3420269"/>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10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715" name="Google Shape;715;p104"/>
          <p:cNvPicPr preferRelativeResize="0">
            <a:picLocks noGrp="1"/>
          </p:cNvPicPr>
          <p:nvPr>
            <p:ph type="body" idx="1"/>
          </p:nvPr>
        </p:nvPicPr>
        <p:blipFill rotWithShape="1">
          <a:blip r:embed="rId3">
            <a:alphaModFix/>
          </a:blip>
          <a:srcRect/>
          <a:stretch/>
        </p:blipFill>
        <p:spPr>
          <a:xfrm>
            <a:off x="2286000" y="914401"/>
            <a:ext cx="7543800" cy="5211763"/>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10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721" name="Google Shape;721;p105"/>
          <p:cNvPicPr preferRelativeResize="0">
            <a:picLocks noGrp="1"/>
          </p:cNvPicPr>
          <p:nvPr>
            <p:ph type="body" idx="1"/>
          </p:nvPr>
        </p:nvPicPr>
        <p:blipFill rotWithShape="1">
          <a:blip r:embed="rId3">
            <a:alphaModFix/>
          </a:blip>
          <a:srcRect/>
          <a:stretch/>
        </p:blipFill>
        <p:spPr>
          <a:xfrm>
            <a:off x="3124201" y="1828801"/>
            <a:ext cx="4357687" cy="3067844"/>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106"/>
          <p:cNvSpPr txBox="1"/>
          <p:nvPr/>
        </p:nvSpPr>
        <p:spPr>
          <a:xfrm>
            <a:off x="623392" y="908720"/>
            <a:ext cx="11089232" cy="5472608"/>
          </a:xfrm>
          <a:prstGeom prst="rect">
            <a:avLst/>
          </a:prstGeom>
          <a:noFill/>
          <a:ln w="2857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727" name="Google Shape;727;p106"/>
          <p:cNvSpPr txBox="1">
            <a:spLocks noGrp="1"/>
          </p:cNvSpPr>
          <p:nvPr>
            <p:ph type="ctrTitle"/>
          </p:nvPr>
        </p:nvSpPr>
        <p:spPr>
          <a:xfrm>
            <a:off x="1738282" y="2307771"/>
            <a:ext cx="9144000" cy="1665515"/>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00000"/>
              <a:buFont typeface="Palatino Linotype"/>
              <a:buNone/>
            </a:pPr>
            <a:br>
              <a:rPr lang="en-US" sz="4800" b="1" i="0" u="none" strike="noStrike" cap="none">
                <a:solidFill>
                  <a:schemeClr val="dk1"/>
                </a:solidFill>
                <a:latin typeface="Palatino Linotype"/>
                <a:ea typeface="Palatino Linotype"/>
                <a:cs typeface="Palatino Linotype"/>
                <a:sym typeface="Palatino Linotype"/>
              </a:rPr>
            </a:br>
            <a:br>
              <a:rPr lang="en-US" sz="4800" b="1" i="0" u="none" strike="noStrike" cap="none">
                <a:solidFill>
                  <a:schemeClr val="dk1"/>
                </a:solidFill>
                <a:latin typeface="Palatino Linotype"/>
                <a:ea typeface="Palatino Linotype"/>
                <a:cs typeface="Palatino Linotype"/>
                <a:sym typeface="Palatino Linotype"/>
              </a:rPr>
            </a:br>
            <a:br>
              <a:rPr lang="en-US" sz="4800" b="1" i="0" u="none" strike="noStrike" cap="none">
                <a:solidFill>
                  <a:schemeClr val="dk1"/>
                </a:solidFill>
                <a:latin typeface="Palatino Linotype"/>
                <a:ea typeface="Palatino Linotype"/>
                <a:cs typeface="Palatino Linotype"/>
                <a:sym typeface="Palatino Linotype"/>
              </a:rPr>
            </a:br>
            <a:br>
              <a:rPr lang="en-US" sz="4800" b="1" i="0" u="none" strike="noStrike" cap="none">
                <a:solidFill>
                  <a:schemeClr val="dk1"/>
                </a:solidFill>
                <a:latin typeface="Palatino Linotype"/>
                <a:ea typeface="Palatino Linotype"/>
                <a:cs typeface="Palatino Linotype"/>
                <a:sym typeface="Palatino Linotype"/>
              </a:rPr>
            </a:br>
            <a:br>
              <a:rPr lang="en-US" sz="4800" b="1" i="0" u="none" strike="noStrike" cap="none">
                <a:solidFill>
                  <a:schemeClr val="dk1"/>
                </a:solidFill>
                <a:latin typeface="Palatino Linotype"/>
                <a:ea typeface="Palatino Linotype"/>
                <a:cs typeface="Palatino Linotype"/>
                <a:sym typeface="Palatino Linotype"/>
              </a:rPr>
            </a:br>
            <a:br>
              <a:rPr lang="en-US" sz="4800" b="1" i="0" u="none" strike="noStrike" cap="none">
                <a:solidFill>
                  <a:schemeClr val="dk1"/>
                </a:solidFill>
                <a:latin typeface="Palatino Linotype"/>
                <a:ea typeface="Palatino Linotype"/>
                <a:cs typeface="Palatino Linotype"/>
                <a:sym typeface="Palatino Linotype"/>
              </a:rPr>
            </a:br>
            <a:br>
              <a:rPr lang="en-US" sz="4800" b="1" i="0" u="none" strike="noStrike" cap="none">
                <a:solidFill>
                  <a:schemeClr val="dk1"/>
                </a:solidFill>
                <a:latin typeface="Palatino Linotype"/>
                <a:ea typeface="Palatino Linotype"/>
                <a:cs typeface="Palatino Linotype"/>
                <a:sym typeface="Palatino Linotype"/>
              </a:rPr>
            </a:br>
            <a:r>
              <a:rPr lang="en-US" sz="4800" b="1" i="0" u="none" strike="noStrike" cap="none">
                <a:solidFill>
                  <a:schemeClr val="dk1"/>
                </a:solidFill>
                <a:latin typeface="Palatino Linotype"/>
                <a:ea typeface="Palatino Linotype"/>
                <a:cs typeface="Palatino Linotype"/>
                <a:sym typeface="Palatino Linotype"/>
              </a:rPr>
              <a:t>Division – Restoring and </a:t>
            </a:r>
            <a:br>
              <a:rPr lang="en-US" sz="4800" b="1" i="0" u="none" strike="noStrike" cap="none">
                <a:solidFill>
                  <a:schemeClr val="dk1"/>
                </a:solidFill>
                <a:latin typeface="Palatino Linotype"/>
                <a:ea typeface="Palatino Linotype"/>
                <a:cs typeface="Palatino Linotype"/>
                <a:sym typeface="Palatino Linotype"/>
              </a:rPr>
            </a:br>
            <a:r>
              <a:rPr lang="en-US" sz="4800" b="1" i="0" u="none" strike="noStrike" cap="none">
                <a:solidFill>
                  <a:schemeClr val="dk1"/>
                </a:solidFill>
                <a:latin typeface="Palatino Linotype"/>
                <a:ea typeface="Palatino Linotype"/>
                <a:cs typeface="Palatino Linotype"/>
                <a:sym typeface="Palatino Linotype"/>
              </a:rPr>
              <a:t>Non—Restoring </a:t>
            </a:r>
            <a:endParaRPr sz="4800" b="1" i="0" u="none" strike="noStrike" cap="none">
              <a:solidFill>
                <a:schemeClr val="dk1"/>
              </a:solidFill>
              <a:latin typeface="Palatino Linotype"/>
              <a:ea typeface="Palatino Linotype"/>
              <a:cs typeface="Palatino Linotype"/>
              <a:sym typeface="Palatino Linotype"/>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p107"/>
          <p:cNvSpPr txBox="1">
            <a:spLocks noGrp="1"/>
          </p:cNvSpPr>
          <p:nvPr>
            <p:ph type="title"/>
          </p:nvPr>
        </p:nvSpPr>
        <p:spPr>
          <a:xfrm>
            <a:off x="838200" y="305661"/>
            <a:ext cx="10515600" cy="63973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Palatino Linotype"/>
              <a:buNone/>
            </a:pPr>
            <a:r>
              <a:rPr lang="en-US" sz="4000" b="1" i="0" u="none" strike="noStrike" cap="none">
                <a:solidFill>
                  <a:schemeClr val="dk1"/>
                </a:solidFill>
                <a:latin typeface="Palatino Linotype"/>
                <a:ea typeface="Palatino Linotype"/>
                <a:cs typeface="Palatino Linotype"/>
                <a:sym typeface="Palatino Linotype"/>
              </a:rPr>
              <a:t>Integer Division </a:t>
            </a:r>
            <a:endParaRPr sz="4000" b="1" i="0" u="none" strike="noStrike" cap="none">
              <a:solidFill>
                <a:schemeClr val="dk1"/>
              </a:solidFill>
              <a:latin typeface="Palatino Linotype"/>
              <a:ea typeface="Palatino Linotype"/>
              <a:cs typeface="Palatino Linotype"/>
              <a:sym typeface="Palatino Linotype"/>
            </a:endParaRPr>
          </a:p>
        </p:txBody>
      </p:sp>
      <p:sp>
        <p:nvSpPr>
          <p:cNvPr id="733" name="Google Shape;733;p107"/>
          <p:cNvSpPr txBox="1">
            <a:spLocks noGrp="1"/>
          </p:cNvSpPr>
          <p:nvPr>
            <p:ph type="body" idx="1"/>
          </p:nvPr>
        </p:nvSpPr>
        <p:spPr>
          <a:xfrm>
            <a:off x="838200" y="1133934"/>
            <a:ext cx="10515600" cy="5231565"/>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b="0" i="0" u="none" strike="noStrike" cap="none">
                <a:solidFill>
                  <a:schemeClr val="dk1"/>
                </a:solidFill>
                <a:latin typeface="Calibri"/>
                <a:ea typeface="Calibri"/>
                <a:cs typeface="Calibri"/>
                <a:sym typeface="Calibri"/>
              </a:rPr>
              <a:t>More complex than multiplication</a:t>
            </a:r>
            <a:endParaRPr/>
          </a:p>
          <a:p>
            <a:pPr marL="228600" lvl="0" indent="-228600" algn="l" rtl="0">
              <a:lnSpc>
                <a:spcPct val="90000"/>
              </a:lnSpc>
              <a:spcBef>
                <a:spcPts val="1000"/>
              </a:spcBef>
              <a:spcAft>
                <a:spcPts val="0"/>
              </a:spcAft>
              <a:buClr>
                <a:schemeClr val="dk1"/>
              </a:buClr>
              <a:buSzPts val="2400"/>
              <a:buChar char="•"/>
            </a:pPr>
            <a:r>
              <a:rPr lang="en-US" sz="2400" b="0" i="0" u="none" strike="noStrike" cap="none">
                <a:solidFill>
                  <a:schemeClr val="dk1"/>
                </a:solidFill>
                <a:latin typeface="Calibri"/>
                <a:ea typeface="Calibri"/>
                <a:cs typeface="Calibri"/>
                <a:sym typeface="Calibri"/>
              </a:rPr>
              <a:t>Negative numbers are really bad!</a:t>
            </a:r>
            <a:endParaRPr/>
          </a:p>
          <a:p>
            <a:pPr marL="228600" lvl="0" indent="-228600" algn="l" rtl="0">
              <a:lnSpc>
                <a:spcPct val="90000"/>
              </a:lnSpc>
              <a:spcBef>
                <a:spcPts val="1000"/>
              </a:spcBef>
              <a:spcAft>
                <a:spcPts val="0"/>
              </a:spcAft>
              <a:buClr>
                <a:schemeClr val="dk1"/>
              </a:buClr>
              <a:buSzPts val="2400"/>
              <a:buChar char="•"/>
            </a:pPr>
            <a:r>
              <a:rPr lang="en-US" sz="2400" b="0" i="0" u="none" strike="noStrike" cap="none">
                <a:solidFill>
                  <a:schemeClr val="dk1"/>
                </a:solidFill>
                <a:latin typeface="Calibri"/>
                <a:ea typeface="Calibri"/>
                <a:cs typeface="Calibri"/>
                <a:sym typeface="Calibri"/>
              </a:rPr>
              <a:t>Based on long division</a:t>
            </a:r>
            <a:endParaRPr/>
          </a:p>
          <a:p>
            <a:pPr marL="685800" marR="0" lvl="1" indent="-228600" algn="just" rtl="0">
              <a:lnSpc>
                <a:spcPct val="100000"/>
              </a:lnSpc>
              <a:spcBef>
                <a:spcPts val="500"/>
              </a:spcBef>
              <a:spcAft>
                <a:spcPts val="0"/>
              </a:spcAft>
              <a:buClr>
                <a:schemeClr val="dk1"/>
              </a:buClr>
              <a:buSzPts val="2000"/>
              <a:buFont typeface="Arial"/>
              <a:buNone/>
            </a:pPr>
            <a:endParaRPr sz="2000" b="0" i="0" u="none" strike="noStrike" cap="none">
              <a:solidFill>
                <a:schemeClr val="dk1"/>
              </a:solidFill>
              <a:latin typeface="Palatino Linotype"/>
              <a:ea typeface="Palatino Linotype"/>
              <a:cs typeface="Palatino Linotype"/>
              <a:sym typeface="Palatino Linotype"/>
            </a:endParaRPr>
          </a:p>
        </p:txBody>
      </p:sp>
      <p:pic>
        <p:nvPicPr>
          <p:cNvPr id="734" name="Google Shape;734;p107"/>
          <p:cNvPicPr preferRelativeResize="0"/>
          <p:nvPr/>
        </p:nvPicPr>
        <p:blipFill rotWithShape="1">
          <a:blip r:embed="rId3">
            <a:alphaModFix/>
          </a:blip>
          <a:srcRect/>
          <a:stretch/>
        </p:blipFill>
        <p:spPr>
          <a:xfrm>
            <a:off x="3309918" y="3143248"/>
            <a:ext cx="5842000" cy="2681288"/>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108"/>
          <p:cNvSpPr txBox="1">
            <a:spLocks noGrp="1"/>
          </p:cNvSpPr>
          <p:nvPr>
            <p:ph type="title"/>
          </p:nvPr>
        </p:nvSpPr>
        <p:spPr>
          <a:xfrm>
            <a:off x="838200" y="365125"/>
            <a:ext cx="10515600" cy="56354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b="1"/>
              <a:t>Integer Division</a:t>
            </a:r>
            <a:endParaRPr b="1"/>
          </a:p>
        </p:txBody>
      </p:sp>
      <p:sp>
        <p:nvSpPr>
          <p:cNvPr id="740" name="Google Shape;740;p108"/>
          <p:cNvSpPr txBox="1">
            <a:spLocks noGrp="1"/>
          </p:cNvSpPr>
          <p:nvPr>
            <p:ph type="body" idx="1"/>
          </p:nvPr>
        </p:nvSpPr>
        <p:spPr>
          <a:xfrm>
            <a:off x="838200" y="1142984"/>
            <a:ext cx="10515600" cy="5033979"/>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Decimal Division</a:t>
            </a:r>
            <a:endParaRPr/>
          </a:p>
          <a:p>
            <a:pPr marL="228600" lvl="0" indent="-228600" algn="l" rtl="0">
              <a:lnSpc>
                <a:spcPct val="90000"/>
              </a:lnSpc>
              <a:spcBef>
                <a:spcPts val="1000"/>
              </a:spcBef>
              <a:spcAft>
                <a:spcPts val="0"/>
              </a:spcAft>
              <a:buClr>
                <a:schemeClr val="dk1"/>
              </a:buClr>
              <a:buSzPts val="2800"/>
              <a:buChar char="•"/>
            </a:pPr>
            <a:r>
              <a:rPr lang="en-US"/>
              <a:t>Binary Division</a:t>
            </a:r>
            <a:endParaRPr/>
          </a:p>
        </p:txBody>
      </p:sp>
      <p:pic>
        <p:nvPicPr>
          <p:cNvPr id="741" name="Google Shape;741;p108"/>
          <p:cNvPicPr preferRelativeResize="0"/>
          <p:nvPr/>
        </p:nvPicPr>
        <p:blipFill rotWithShape="1">
          <a:blip r:embed="rId3">
            <a:alphaModFix/>
          </a:blip>
          <a:srcRect/>
          <a:stretch/>
        </p:blipFill>
        <p:spPr>
          <a:xfrm>
            <a:off x="2238348" y="2214554"/>
            <a:ext cx="7620000" cy="2143125"/>
          </a:xfrm>
          <a:prstGeom prst="rect">
            <a:avLst/>
          </a:prstGeom>
          <a:noFill/>
          <a:ln>
            <a:noFill/>
          </a:ln>
        </p:spPr>
      </p:pic>
      <p:sp>
        <p:nvSpPr>
          <p:cNvPr id="742" name="Google Shape;742;p108"/>
          <p:cNvSpPr txBox="1"/>
          <p:nvPr/>
        </p:nvSpPr>
        <p:spPr>
          <a:xfrm>
            <a:off x="4238612" y="4429132"/>
            <a:ext cx="3966407"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Calibri"/>
              <a:buNone/>
            </a:pPr>
            <a:r>
              <a:rPr lang="en-US" sz="2000" b="1">
                <a:solidFill>
                  <a:schemeClr val="dk1"/>
                </a:solidFill>
                <a:latin typeface="Calibri"/>
                <a:ea typeface="Calibri"/>
                <a:cs typeface="Calibri"/>
                <a:sym typeface="Calibri"/>
              </a:rPr>
              <a:t>Figure: Longhand division examples</a:t>
            </a:r>
            <a:endParaRPr sz="1800">
              <a:solidFill>
                <a:schemeClr val="dk1"/>
              </a:solidFill>
              <a:latin typeface="Calibri"/>
              <a:ea typeface="Calibri"/>
              <a:cs typeface="Calibri"/>
              <a:sym typeface="Calibri"/>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109"/>
          <p:cNvSpPr txBox="1">
            <a:spLocks noGrp="1"/>
          </p:cNvSpPr>
          <p:nvPr>
            <p:ph type="title"/>
          </p:nvPr>
        </p:nvSpPr>
        <p:spPr>
          <a:xfrm>
            <a:off x="838200" y="365125"/>
            <a:ext cx="10515600" cy="9207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Long Hand Division</a:t>
            </a:r>
            <a:endParaRPr b="1"/>
          </a:p>
        </p:txBody>
      </p:sp>
      <p:sp>
        <p:nvSpPr>
          <p:cNvPr id="748" name="Google Shape;748;p109"/>
          <p:cNvSpPr txBox="1">
            <a:spLocks noGrp="1"/>
          </p:cNvSpPr>
          <p:nvPr>
            <p:ph type="body" idx="1"/>
          </p:nvPr>
        </p:nvSpPr>
        <p:spPr>
          <a:xfrm>
            <a:off x="838200" y="1214422"/>
            <a:ext cx="10515600" cy="4962541"/>
          </a:xfrm>
          <a:prstGeom prst="rect">
            <a:avLst/>
          </a:prstGeom>
          <a:noFill/>
          <a:ln>
            <a:noFill/>
          </a:ln>
        </p:spPr>
        <p:txBody>
          <a:bodyPr spcFirstLastPara="1" wrap="square" lIns="91425" tIns="45700" rIns="91425" bIns="45700" anchor="t" anchorCtr="0">
            <a:normAutofit/>
          </a:bodyPr>
          <a:lstStyle/>
          <a:p>
            <a:pPr marL="228600" lvl="0" indent="-228600" algn="just" rtl="0">
              <a:lnSpc>
                <a:spcPct val="80000"/>
              </a:lnSpc>
              <a:spcBef>
                <a:spcPts val="0"/>
              </a:spcBef>
              <a:spcAft>
                <a:spcPts val="0"/>
              </a:spcAft>
              <a:buClr>
                <a:schemeClr val="dk1"/>
              </a:buClr>
              <a:buSzPts val="2800"/>
              <a:buNone/>
            </a:pPr>
            <a:r>
              <a:rPr lang="en-US"/>
              <a:t>Longhand Division operates as follows:</a:t>
            </a:r>
            <a:endParaRPr/>
          </a:p>
          <a:p>
            <a:pPr marL="228600" lvl="0" indent="-228600" algn="just" rtl="0">
              <a:lnSpc>
                <a:spcPct val="80000"/>
              </a:lnSpc>
              <a:spcBef>
                <a:spcPts val="1000"/>
              </a:spcBef>
              <a:spcAft>
                <a:spcPts val="0"/>
              </a:spcAft>
              <a:buClr>
                <a:schemeClr val="dk1"/>
              </a:buClr>
              <a:buSzPts val="2800"/>
              <a:buChar char="•"/>
            </a:pPr>
            <a:r>
              <a:rPr lang="en-US"/>
              <a:t>Position the divisor appropriately with respect to the dividend and performs a subtraction.</a:t>
            </a:r>
            <a:endParaRPr/>
          </a:p>
          <a:p>
            <a:pPr marL="228600" lvl="0" indent="-228600" algn="just" rtl="0">
              <a:lnSpc>
                <a:spcPct val="80000"/>
              </a:lnSpc>
              <a:spcBef>
                <a:spcPts val="1000"/>
              </a:spcBef>
              <a:spcAft>
                <a:spcPts val="0"/>
              </a:spcAft>
              <a:buClr>
                <a:schemeClr val="dk1"/>
              </a:buClr>
              <a:buSzPts val="2800"/>
              <a:buChar char="•"/>
            </a:pPr>
            <a:r>
              <a:rPr lang="en-US"/>
              <a:t> If the remainder is zero or positive, a quotient bit of 1 is determined, the remainder is extended by another bit of the dividend, the divisor is repositioned, and another subtraction is performed.</a:t>
            </a:r>
            <a:endParaRPr/>
          </a:p>
          <a:p>
            <a:pPr marL="228600" lvl="0" indent="-228600" algn="just" rtl="0">
              <a:lnSpc>
                <a:spcPct val="80000"/>
              </a:lnSpc>
              <a:spcBef>
                <a:spcPts val="1000"/>
              </a:spcBef>
              <a:spcAft>
                <a:spcPts val="0"/>
              </a:spcAft>
              <a:buClr>
                <a:schemeClr val="dk1"/>
              </a:buClr>
              <a:buSzPts val="2800"/>
              <a:buChar char="•"/>
            </a:pPr>
            <a:r>
              <a:rPr lang="en-US"/>
              <a:t> If the remainder is negative, a quotient bit of 0 is determined, the dividend is restored by adding back the divisor, and the divisor is repositioned  for another subtraction</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110"/>
          <p:cNvSpPr txBox="1">
            <a:spLocks noGrp="1"/>
          </p:cNvSpPr>
          <p:nvPr>
            <p:ph type="title"/>
          </p:nvPr>
        </p:nvSpPr>
        <p:spPr>
          <a:xfrm>
            <a:off x="838200" y="365125"/>
            <a:ext cx="10515600" cy="84929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Restoring Division</a:t>
            </a:r>
            <a:endParaRPr b="1"/>
          </a:p>
        </p:txBody>
      </p:sp>
      <p:sp>
        <p:nvSpPr>
          <p:cNvPr id="754" name="Google Shape;754;p110"/>
          <p:cNvSpPr txBox="1">
            <a:spLocks noGrp="1"/>
          </p:cNvSpPr>
          <p:nvPr>
            <p:ph type="body" idx="1"/>
          </p:nvPr>
        </p:nvSpPr>
        <p:spPr>
          <a:xfrm>
            <a:off x="809588" y="1428736"/>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80000"/>
              </a:lnSpc>
              <a:spcBef>
                <a:spcPts val="0"/>
              </a:spcBef>
              <a:spcAft>
                <a:spcPts val="0"/>
              </a:spcAft>
              <a:buClr>
                <a:schemeClr val="dk1"/>
              </a:buClr>
              <a:buSzPts val="2800"/>
              <a:buChar char="•"/>
            </a:pPr>
            <a:r>
              <a:rPr lang="en-US"/>
              <a:t>Similar to multiplication circuit </a:t>
            </a:r>
            <a:endParaRPr/>
          </a:p>
          <a:p>
            <a:pPr marL="228600" lvl="0" indent="-228600" algn="just" rtl="0">
              <a:lnSpc>
                <a:spcPct val="80000"/>
              </a:lnSpc>
              <a:spcBef>
                <a:spcPts val="1000"/>
              </a:spcBef>
              <a:spcAft>
                <a:spcPts val="0"/>
              </a:spcAft>
              <a:buClr>
                <a:schemeClr val="dk1"/>
              </a:buClr>
              <a:buSzPts val="2800"/>
              <a:buChar char="•"/>
            </a:pPr>
            <a:r>
              <a:rPr lang="en-US"/>
              <a:t> An </a:t>
            </a:r>
            <a:r>
              <a:rPr lang="en-US">
                <a:solidFill>
                  <a:srgbClr val="FF0000"/>
                </a:solidFill>
              </a:rPr>
              <a:t>n-bit positive divisor is loaded into register M and an n-bit positive  dividend is loaded into register Q </a:t>
            </a:r>
            <a:r>
              <a:rPr lang="en-US"/>
              <a:t>at the start of the operation.</a:t>
            </a:r>
            <a:endParaRPr/>
          </a:p>
          <a:p>
            <a:pPr marL="228600" lvl="0" indent="-228600" algn="just" rtl="0">
              <a:lnSpc>
                <a:spcPct val="80000"/>
              </a:lnSpc>
              <a:spcBef>
                <a:spcPts val="1000"/>
              </a:spcBef>
              <a:spcAft>
                <a:spcPts val="0"/>
              </a:spcAft>
              <a:buClr>
                <a:srgbClr val="FF0000"/>
              </a:buClr>
              <a:buSzPts val="2800"/>
              <a:buChar char="•"/>
            </a:pPr>
            <a:r>
              <a:rPr lang="en-US">
                <a:solidFill>
                  <a:srgbClr val="FF0000"/>
                </a:solidFill>
              </a:rPr>
              <a:t>Register A is set to 0</a:t>
            </a:r>
            <a:endParaRPr/>
          </a:p>
          <a:p>
            <a:pPr marL="228600" lvl="0" indent="-228600" algn="just" rtl="0">
              <a:lnSpc>
                <a:spcPct val="90000"/>
              </a:lnSpc>
              <a:spcBef>
                <a:spcPts val="1000"/>
              </a:spcBef>
              <a:spcAft>
                <a:spcPts val="0"/>
              </a:spcAft>
              <a:buClr>
                <a:schemeClr val="dk1"/>
              </a:buClr>
              <a:buSzPts val="2800"/>
              <a:buChar char="•"/>
            </a:pPr>
            <a:r>
              <a:rPr lang="en-US"/>
              <a:t>After the division operation is complete, the </a:t>
            </a:r>
            <a:r>
              <a:rPr lang="en-US">
                <a:solidFill>
                  <a:srgbClr val="FF0000"/>
                </a:solidFill>
              </a:rPr>
              <a:t>n-bit quotient is in register Q and the remainder is in register A.</a:t>
            </a:r>
            <a:endParaRPr/>
          </a:p>
          <a:p>
            <a:pPr marL="228600" lvl="0" indent="-228600" algn="just" rtl="0">
              <a:lnSpc>
                <a:spcPct val="90000"/>
              </a:lnSpc>
              <a:spcBef>
                <a:spcPts val="1000"/>
              </a:spcBef>
              <a:spcAft>
                <a:spcPts val="0"/>
              </a:spcAft>
              <a:buClr>
                <a:schemeClr val="dk1"/>
              </a:buClr>
              <a:buSzPts val="2800"/>
              <a:buChar char="•"/>
            </a:pPr>
            <a:r>
              <a:rPr lang="en-US"/>
              <a:t>The required subtractions are facilitated by using 2’s complement arithmetic.</a:t>
            </a:r>
            <a:endParaRPr/>
          </a:p>
          <a:p>
            <a:pPr marL="228600" lvl="0" indent="-228600" algn="just" rtl="0">
              <a:lnSpc>
                <a:spcPct val="90000"/>
              </a:lnSpc>
              <a:spcBef>
                <a:spcPts val="1000"/>
              </a:spcBef>
              <a:spcAft>
                <a:spcPts val="0"/>
              </a:spcAft>
              <a:buClr>
                <a:schemeClr val="dk1"/>
              </a:buClr>
              <a:buSzPts val="2800"/>
              <a:buChar char="•"/>
            </a:pPr>
            <a:r>
              <a:rPr lang="en-US"/>
              <a:t>The extra bit position at the left end of both A and M accommodates the sign bit during subtractions.</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111"/>
          <p:cNvSpPr txBox="1">
            <a:spLocks noGrp="1"/>
          </p:cNvSpPr>
          <p:nvPr>
            <p:ph type="title"/>
          </p:nvPr>
        </p:nvSpPr>
        <p:spPr>
          <a:xfrm>
            <a:off x="838200" y="365125"/>
            <a:ext cx="8829700" cy="7778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Restoring Division</a:t>
            </a:r>
            <a:endParaRPr b="1"/>
          </a:p>
        </p:txBody>
      </p:sp>
      <p:pic>
        <p:nvPicPr>
          <p:cNvPr id="760" name="Google Shape;760;p111"/>
          <p:cNvPicPr preferRelativeResize="0">
            <a:picLocks noGrp="1"/>
          </p:cNvPicPr>
          <p:nvPr>
            <p:ph type="body" idx="1"/>
          </p:nvPr>
        </p:nvPicPr>
        <p:blipFill rotWithShape="1">
          <a:blip r:embed="rId3">
            <a:alphaModFix/>
          </a:blip>
          <a:srcRect/>
          <a:stretch/>
        </p:blipFill>
        <p:spPr>
          <a:xfrm>
            <a:off x="595274" y="1857364"/>
            <a:ext cx="4357718" cy="3929090"/>
          </a:xfrm>
          <a:prstGeom prst="rect">
            <a:avLst/>
          </a:prstGeom>
          <a:noFill/>
          <a:ln>
            <a:noFill/>
          </a:ln>
        </p:spPr>
      </p:pic>
      <p:pic>
        <p:nvPicPr>
          <p:cNvPr id="761" name="Google Shape;761;p111"/>
          <p:cNvPicPr preferRelativeResize="0"/>
          <p:nvPr/>
        </p:nvPicPr>
        <p:blipFill rotWithShape="1">
          <a:blip r:embed="rId4">
            <a:alphaModFix/>
          </a:blip>
          <a:srcRect/>
          <a:stretch/>
        </p:blipFill>
        <p:spPr>
          <a:xfrm>
            <a:off x="5595934" y="1500174"/>
            <a:ext cx="5924565" cy="4310066"/>
          </a:xfrm>
          <a:prstGeom prst="rect">
            <a:avLst/>
          </a:prstGeom>
          <a:noFill/>
          <a:ln>
            <a:noFill/>
          </a:ln>
        </p:spPr>
      </p:pic>
      <p:sp>
        <p:nvSpPr>
          <p:cNvPr id="762" name="Google Shape;762;p111"/>
          <p:cNvSpPr txBox="1"/>
          <p:nvPr/>
        </p:nvSpPr>
        <p:spPr>
          <a:xfrm>
            <a:off x="5881686" y="6000768"/>
            <a:ext cx="5786478"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Calibri"/>
              <a:buNone/>
            </a:pPr>
            <a:r>
              <a:rPr lang="en-US" sz="2000" b="1">
                <a:solidFill>
                  <a:schemeClr val="dk1"/>
                </a:solidFill>
                <a:latin typeface="Calibri"/>
                <a:ea typeface="Calibri"/>
                <a:cs typeface="Calibri"/>
                <a:sym typeface="Calibri"/>
              </a:rPr>
              <a:t>Figure: Logic Circuit arrangement for binary Division (Restoring)  </a:t>
            </a:r>
            <a:endParaRPr sz="1800">
              <a:solidFill>
                <a:schemeClr val="dk1"/>
              </a:solidFill>
              <a:latin typeface="Calibri"/>
              <a:ea typeface="Calibri"/>
              <a:cs typeface="Calibri"/>
              <a:sym typeface="Calibri"/>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112"/>
          <p:cNvSpPr txBox="1">
            <a:spLocks noGrp="1"/>
          </p:cNvSpPr>
          <p:nvPr>
            <p:ph type="title"/>
          </p:nvPr>
        </p:nvSpPr>
        <p:spPr>
          <a:xfrm>
            <a:off x="838200" y="365125"/>
            <a:ext cx="10515600" cy="849297"/>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Calibri"/>
              <a:buNone/>
            </a:pPr>
            <a:r>
              <a:rPr lang="en-US" b="1"/>
              <a:t>Flowchart for Restoring Division</a:t>
            </a:r>
            <a:br>
              <a:rPr lang="en-US" b="1"/>
            </a:br>
            <a:endParaRPr/>
          </a:p>
        </p:txBody>
      </p:sp>
      <p:pic>
        <p:nvPicPr>
          <p:cNvPr id="768" name="Google Shape;768;p112"/>
          <p:cNvPicPr preferRelativeResize="0">
            <a:picLocks noGrp="1"/>
          </p:cNvPicPr>
          <p:nvPr>
            <p:ph type="body" idx="1"/>
          </p:nvPr>
        </p:nvPicPr>
        <p:blipFill rotWithShape="1">
          <a:blip r:embed="rId3">
            <a:alphaModFix/>
          </a:blip>
          <a:srcRect/>
          <a:stretch/>
        </p:blipFill>
        <p:spPr>
          <a:xfrm>
            <a:off x="3452794" y="1000108"/>
            <a:ext cx="4419619" cy="5044300"/>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113"/>
          <p:cNvSpPr txBox="1">
            <a:spLocks noGrp="1"/>
          </p:cNvSpPr>
          <p:nvPr>
            <p:ph type="title"/>
          </p:nvPr>
        </p:nvSpPr>
        <p:spPr>
          <a:xfrm>
            <a:off x="838200" y="365125"/>
            <a:ext cx="10515600" cy="84929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Restoring Division – Example </a:t>
            </a:r>
            <a:endParaRPr/>
          </a:p>
        </p:txBody>
      </p:sp>
      <p:pic>
        <p:nvPicPr>
          <p:cNvPr id="774" name="Google Shape;774;p113"/>
          <p:cNvPicPr preferRelativeResize="0">
            <a:picLocks noGrp="1"/>
          </p:cNvPicPr>
          <p:nvPr>
            <p:ph type="body" idx="1"/>
          </p:nvPr>
        </p:nvPicPr>
        <p:blipFill rotWithShape="1">
          <a:blip r:embed="rId3">
            <a:alphaModFix/>
          </a:blip>
          <a:srcRect/>
          <a:stretch/>
        </p:blipFill>
        <p:spPr>
          <a:xfrm>
            <a:off x="933610" y="1500174"/>
            <a:ext cx="5172075" cy="4515660"/>
          </a:xfrm>
          <a:prstGeom prst="rect">
            <a:avLst/>
          </a:prstGeom>
          <a:noFill/>
          <a:ln>
            <a:noFill/>
          </a:ln>
        </p:spPr>
      </p:pic>
      <p:pic>
        <p:nvPicPr>
          <p:cNvPr id="775" name="Google Shape;775;p113"/>
          <p:cNvPicPr preferRelativeResize="0"/>
          <p:nvPr/>
        </p:nvPicPr>
        <p:blipFill rotWithShape="1">
          <a:blip r:embed="rId4">
            <a:alphaModFix/>
          </a:blip>
          <a:srcRect/>
          <a:stretch/>
        </p:blipFill>
        <p:spPr>
          <a:xfrm>
            <a:off x="6596066" y="1428735"/>
            <a:ext cx="4786346" cy="4675909"/>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114"/>
          <p:cNvSpPr txBox="1">
            <a:spLocks noGrp="1"/>
          </p:cNvSpPr>
          <p:nvPr>
            <p:ph type="title"/>
          </p:nvPr>
        </p:nvSpPr>
        <p:spPr>
          <a:xfrm>
            <a:off x="838200" y="365125"/>
            <a:ext cx="10515600" cy="77785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a:t>Non-Restoring Division</a:t>
            </a:r>
            <a:endParaRPr b="1"/>
          </a:p>
        </p:txBody>
      </p:sp>
      <p:sp>
        <p:nvSpPr>
          <p:cNvPr id="781" name="Google Shape;781;p114"/>
          <p:cNvSpPr txBox="1">
            <a:spLocks noGrp="1"/>
          </p:cNvSpPr>
          <p:nvPr>
            <p:ph type="body" idx="1"/>
          </p:nvPr>
        </p:nvSpPr>
        <p:spPr>
          <a:xfrm>
            <a:off x="738150" y="1214422"/>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15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Initially  Dividend is loaded into register Q,</a:t>
            </a:r>
            <a:endParaRPr/>
          </a:p>
          <a:p>
            <a:pPr marL="228600" lvl="0" indent="-228600" algn="just" rtl="0">
              <a:lnSpc>
                <a:spcPct val="150000"/>
              </a:lnSpc>
              <a:spcBef>
                <a:spcPts val="0"/>
              </a:spcBef>
              <a:spcAft>
                <a:spcPts val="0"/>
              </a:spcAft>
              <a:buClr>
                <a:schemeClr val="dk1"/>
              </a:buClr>
              <a:buSzPts val="2400"/>
              <a:buNone/>
            </a:pPr>
            <a:r>
              <a:rPr lang="en-US" sz="2400">
                <a:latin typeface="Times New Roman"/>
                <a:ea typeface="Times New Roman"/>
                <a:cs typeface="Times New Roman"/>
                <a:sym typeface="Times New Roman"/>
              </a:rPr>
              <a:t>	and n-bit Divisor is loaded into register M</a:t>
            </a:r>
            <a:endParaRPr/>
          </a:p>
          <a:p>
            <a:pPr marL="228600" lvl="0" indent="-228600" algn="just" rtl="0">
              <a:lnSpc>
                <a:spcPct val="15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Let M’ is 2’s complement of M</a:t>
            </a:r>
            <a:endParaRPr/>
          </a:p>
          <a:p>
            <a:pPr marL="228600" lvl="0" indent="-228600" algn="just" rtl="0">
              <a:lnSpc>
                <a:spcPct val="15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Set Register A to 0</a:t>
            </a:r>
            <a:endParaRPr/>
          </a:p>
          <a:p>
            <a:pPr marL="228600" lvl="0" indent="-228600" algn="just" rtl="0">
              <a:lnSpc>
                <a:spcPct val="15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Set count to n</a:t>
            </a:r>
            <a:endParaRPr/>
          </a:p>
          <a:p>
            <a:pPr marL="228600" lvl="0" indent="-228600" algn="just" rtl="0">
              <a:lnSpc>
                <a:spcPct val="15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SHL AQ denotes shift left AQ by one position leaving Q</a:t>
            </a:r>
            <a:r>
              <a:rPr lang="en-US" sz="2400" baseline="-25000">
                <a:latin typeface="Times New Roman"/>
                <a:ea typeface="Times New Roman"/>
                <a:cs typeface="Times New Roman"/>
                <a:sym typeface="Times New Roman"/>
              </a:rPr>
              <a:t>0</a:t>
            </a:r>
            <a:r>
              <a:rPr lang="en-US" sz="2400">
                <a:latin typeface="Times New Roman"/>
                <a:ea typeface="Times New Roman"/>
                <a:cs typeface="Times New Roman"/>
                <a:sym typeface="Times New Roman"/>
              </a:rPr>
              <a:t> blank.</a:t>
            </a:r>
            <a:endParaRPr/>
          </a:p>
          <a:p>
            <a:pPr marL="228600" lvl="0" indent="-228600" algn="just" rtl="0">
              <a:lnSpc>
                <a:spcPct val="15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Similarly, a square symbol in Q</a:t>
            </a:r>
            <a:r>
              <a:rPr lang="en-US" sz="2400" baseline="-25000">
                <a:latin typeface="Times New Roman"/>
                <a:ea typeface="Times New Roman"/>
                <a:cs typeface="Times New Roman"/>
                <a:sym typeface="Times New Roman"/>
              </a:rPr>
              <a:t>0 </a:t>
            </a:r>
            <a:r>
              <a:rPr lang="en-US" sz="2400">
                <a:latin typeface="Times New Roman"/>
                <a:ea typeface="Times New Roman"/>
                <a:cs typeface="Times New Roman"/>
                <a:sym typeface="Times New Roman"/>
              </a:rPr>
              <a:t>position denote, it is to be calculated later</a:t>
            </a:r>
            <a:endParaRPr/>
          </a:p>
          <a:p>
            <a:pPr marL="228600" lvl="0" indent="-228600" algn="l" rtl="0">
              <a:lnSpc>
                <a:spcPct val="80000"/>
              </a:lnSpc>
              <a:spcBef>
                <a:spcPts val="1000"/>
              </a:spcBef>
              <a:spcAft>
                <a:spcPts val="0"/>
              </a:spcAft>
              <a:buClr>
                <a:schemeClr val="dk1"/>
              </a:buClr>
              <a:buSzPts val="2400"/>
              <a:buNone/>
            </a:pPr>
            <a:endParaRPr sz="2400">
              <a:latin typeface="Calibri"/>
              <a:ea typeface="Calibri"/>
              <a:cs typeface="Calibri"/>
              <a:sym typeface="Calibri"/>
            </a:endParaRPr>
          </a:p>
          <a:p>
            <a:pPr marL="228600" lvl="0" indent="-76200" algn="just" rtl="0">
              <a:lnSpc>
                <a:spcPct val="80000"/>
              </a:lnSpc>
              <a:spcBef>
                <a:spcPts val="1000"/>
              </a:spcBef>
              <a:spcAft>
                <a:spcPts val="0"/>
              </a:spcAft>
              <a:buClr>
                <a:schemeClr val="dk1"/>
              </a:buClr>
              <a:buSzPts val="2400"/>
              <a:buNone/>
            </a:pPr>
            <a:endParaRPr sz="2400">
              <a:latin typeface="Calibri"/>
              <a:ea typeface="Calibri"/>
              <a:cs typeface="Calibri"/>
              <a:sym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p1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Flowchart for Non-Restoring Division</a:t>
            </a:r>
            <a:br>
              <a:rPr lang="en-US" b="1"/>
            </a:br>
            <a:endParaRPr/>
          </a:p>
        </p:txBody>
      </p:sp>
      <p:pic>
        <p:nvPicPr>
          <p:cNvPr id="787" name="Google Shape;787;p115" descr="enter image description here"/>
          <p:cNvPicPr preferRelativeResize="0"/>
          <p:nvPr/>
        </p:nvPicPr>
        <p:blipFill rotWithShape="1">
          <a:blip r:embed="rId3">
            <a:alphaModFix/>
          </a:blip>
          <a:srcRect/>
          <a:stretch/>
        </p:blipFill>
        <p:spPr>
          <a:xfrm>
            <a:off x="3309918" y="1142984"/>
            <a:ext cx="4857784" cy="502920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116"/>
          <p:cNvSpPr txBox="1">
            <a:spLocks noGrp="1"/>
          </p:cNvSpPr>
          <p:nvPr>
            <p:ph type="title"/>
          </p:nvPr>
        </p:nvSpPr>
        <p:spPr>
          <a:xfrm>
            <a:off x="881026" y="214291"/>
            <a:ext cx="10515600" cy="78581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Non-Restoring Division</a:t>
            </a:r>
            <a:endParaRPr b="1"/>
          </a:p>
        </p:txBody>
      </p:sp>
      <p:pic>
        <p:nvPicPr>
          <p:cNvPr id="793" name="Google Shape;793;p116"/>
          <p:cNvPicPr preferRelativeResize="0">
            <a:picLocks noGrp="1"/>
          </p:cNvPicPr>
          <p:nvPr>
            <p:ph type="body" idx="1"/>
          </p:nvPr>
        </p:nvPicPr>
        <p:blipFill rotWithShape="1">
          <a:blip r:embed="rId3">
            <a:alphaModFix/>
          </a:blip>
          <a:srcRect/>
          <a:stretch/>
        </p:blipFill>
        <p:spPr>
          <a:xfrm>
            <a:off x="1166778" y="1000109"/>
            <a:ext cx="9485379" cy="2500330"/>
          </a:xfrm>
          <a:prstGeom prst="rect">
            <a:avLst/>
          </a:prstGeom>
          <a:noFill/>
          <a:ln>
            <a:noFill/>
          </a:ln>
        </p:spPr>
      </p:pic>
      <p:pic>
        <p:nvPicPr>
          <p:cNvPr id="794" name="Google Shape;794;p116"/>
          <p:cNvPicPr preferRelativeResize="0"/>
          <p:nvPr/>
        </p:nvPicPr>
        <p:blipFill rotWithShape="1">
          <a:blip r:embed="rId4">
            <a:alphaModFix/>
          </a:blip>
          <a:srcRect/>
          <a:stretch/>
        </p:blipFill>
        <p:spPr>
          <a:xfrm>
            <a:off x="1309654" y="3571876"/>
            <a:ext cx="8714364" cy="2933704"/>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117"/>
          <p:cNvSpPr txBox="1">
            <a:spLocks noGrp="1"/>
          </p:cNvSpPr>
          <p:nvPr>
            <p:ph type="title"/>
          </p:nvPr>
        </p:nvSpPr>
        <p:spPr>
          <a:xfrm>
            <a:off x="838200" y="365125"/>
            <a:ext cx="10515600" cy="63498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b="1"/>
              <a:t>Non-Restoring Division - Example</a:t>
            </a:r>
            <a:endParaRPr b="1"/>
          </a:p>
        </p:txBody>
      </p:sp>
      <p:pic>
        <p:nvPicPr>
          <p:cNvPr id="800" name="Google Shape;800;p117"/>
          <p:cNvPicPr preferRelativeResize="0">
            <a:picLocks noGrp="1"/>
          </p:cNvPicPr>
          <p:nvPr>
            <p:ph type="body" idx="1"/>
          </p:nvPr>
        </p:nvPicPr>
        <p:blipFill rotWithShape="1">
          <a:blip r:embed="rId3">
            <a:alphaModFix/>
          </a:blip>
          <a:srcRect/>
          <a:stretch/>
        </p:blipFill>
        <p:spPr>
          <a:xfrm>
            <a:off x="881026" y="1285860"/>
            <a:ext cx="5072099" cy="4643470"/>
          </a:xfrm>
          <a:prstGeom prst="rect">
            <a:avLst/>
          </a:prstGeom>
          <a:noFill/>
          <a:ln>
            <a:noFill/>
          </a:ln>
        </p:spPr>
      </p:pic>
      <p:pic>
        <p:nvPicPr>
          <p:cNvPr id="801" name="Google Shape;801;p117"/>
          <p:cNvPicPr preferRelativeResize="0"/>
          <p:nvPr/>
        </p:nvPicPr>
        <p:blipFill rotWithShape="1">
          <a:blip r:embed="rId4">
            <a:alphaModFix/>
          </a:blip>
          <a:srcRect/>
          <a:stretch/>
        </p:blipFill>
        <p:spPr>
          <a:xfrm>
            <a:off x="6310314" y="1285860"/>
            <a:ext cx="5507653" cy="4643446"/>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118"/>
          <p:cNvSpPr txBox="1">
            <a:spLocks noGrp="1"/>
          </p:cNvSpPr>
          <p:nvPr>
            <p:ph type="title"/>
          </p:nvPr>
        </p:nvSpPr>
        <p:spPr>
          <a:xfrm>
            <a:off x="2251329" y="1598230"/>
            <a:ext cx="7689215" cy="2616101"/>
          </a:xfrm>
          <a:prstGeom prst="rect">
            <a:avLst/>
          </a:prstGeom>
          <a:noFill/>
          <a:ln>
            <a:noFill/>
          </a:ln>
        </p:spPr>
        <p:txBody>
          <a:bodyPr spcFirstLastPara="1" wrap="square" lIns="0" tIns="12700" rIns="0" bIns="0" anchor="ctr" anchorCtr="0">
            <a:spAutoFit/>
          </a:bodyPr>
          <a:lstStyle/>
          <a:p>
            <a:pPr marL="635" lvl="0" indent="0" algn="ctr" rtl="0">
              <a:lnSpc>
                <a:spcPct val="114000"/>
              </a:lnSpc>
              <a:spcBef>
                <a:spcPts val="0"/>
              </a:spcBef>
              <a:spcAft>
                <a:spcPts val="0"/>
              </a:spcAft>
              <a:buClr>
                <a:schemeClr val="dk1"/>
              </a:buClr>
              <a:buSzPts val="6000"/>
              <a:buFont typeface="Calibri"/>
              <a:buNone/>
            </a:pPr>
            <a:r>
              <a:rPr lang="en-US" sz="6000" b="1"/>
              <a:t>IEEE 754</a:t>
            </a:r>
            <a:endParaRPr/>
          </a:p>
          <a:p>
            <a:pPr marL="12065" marR="5080" lvl="0" indent="0" algn="ctr" rtl="0">
              <a:lnSpc>
                <a:spcPct val="108000"/>
              </a:lnSpc>
              <a:spcBef>
                <a:spcPts val="459"/>
              </a:spcBef>
              <a:spcAft>
                <a:spcPts val="0"/>
              </a:spcAft>
              <a:buClr>
                <a:schemeClr val="dk1"/>
              </a:buClr>
              <a:buSzPts val="6000"/>
              <a:buFont typeface="Calibri"/>
              <a:buNone/>
            </a:pPr>
            <a:r>
              <a:rPr lang="en-US" sz="6000" b="1"/>
              <a:t>Floating point	numbers  and operations.</a:t>
            </a:r>
            <a:endParaRPr sz="6000" b="1"/>
          </a:p>
        </p:txBody>
      </p:sp>
      <p:pic>
        <p:nvPicPr>
          <p:cNvPr id="807" name="Google Shape;807;p118"/>
          <p:cNvPicPr preferRelativeResize="0"/>
          <p:nvPr/>
        </p:nvPicPr>
        <p:blipFill rotWithShape="1">
          <a:blip r:embed="rId3">
            <a:alphaModFix/>
          </a:blip>
          <a:srcRect/>
          <a:stretch/>
        </p:blipFill>
        <p:spPr>
          <a:xfrm>
            <a:off x="10054840" y="142215"/>
            <a:ext cx="1945944" cy="661109"/>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119"/>
          <p:cNvSpPr txBox="1">
            <a:spLocks noGrp="1"/>
          </p:cNvSpPr>
          <p:nvPr>
            <p:ph type="title"/>
          </p:nvPr>
        </p:nvSpPr>
        <p:spPr>
          <a:xfrm>
            <a:off x="916939" y="626440"/>
            <a:ext cx="9015730" cy="697230"/>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1"/>
              </a:buClr>
              <a:buSzPts val="4400"/>
              <a:buFont typeface="Calibri"/>
              <a:buNone/>
            </a:pPr>
            <a:r>
              <a:rPr lang="en-US"/>
              <a:t>Floating-Point Arithmetic (IEEE 754)</a:t>
            </a:r>
            <a:endParaRPr/>
          </a:p>
        </p:txBody>
      </p:sp>
      <p:sp>
        <p:nvSpPr>
          <p:cNvPr id="813" name="Google Shape;813;p119"/>
          <p:cNvSpPr txBox="1"/>
          <p:nvPr/>
        </p:nvSpPr>
        <p:spPr>
          <a:xfrm>
            <a:off x="916939" y="1647443"/>
            <a:ext cx="10637520" cy="4670425"/>
          </a:xfrm>
          <a:prstGeom prst="rect">
            <a:avLst/>
          </a:prstGeom>
          <a:noFill/>
          <a:ln>
            <a:noFill/>
          </a:ln>
        </p:spPr>
        <p:txBody>
          <a:bodyPr spcFirstLastPara="1" wrap="square" lIns="0" tIns="12700" rIns="0" bIns="0" anchor="t" anchorCtr="0">
            <a:spAutoFit/>
          </a:bodyPr>
          <a:lstStyle/>
          <a:p>
            <a:pPr marL="370840" marR="5080" lvl="0" indent="-358775" algn="l" rtl="0">
              <a:lnSpc>
                <a:spcPct val="150100"/>
              </a:lnSpc>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The IEEE Standard for Floating-Point Arithmetic (IEEE 754) is a technical standard  for floating-point computation which was established in 1985 by the Institute of  Electrical and Electronics Engineers (IEEE).</a:t>
            </a:r>
            <a:endParaRPr sz="2400">
              <a:solidFill>
                <a:schemeClr val="dk1"/>
              </a:solidFill>
              <a:latin typeface="Times New Roman"/>
              <a:ea typeface="Times New Roman"/>
              <a:cs typeface="Times New Roman"/>
              <a:sym typeface="Times New Roman"/>
            </a:endParaRPr>
          </a:p>
          <a:p>
            <a:pPr marL="370840" marR="1209675" lvl="0" indent="-358775" algn="just" rtl="0">
              <a:lnSpc>
                <a:spcPct val="150000"/>
              </a:lnSpc>
              <a:spcBef>
                <a:spcPts val="994"/>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The standard addressed many problems found in the diverse floating point  implementations that made them difficult to use reliably and reduced their  portability.</a:t>
            </a:r>
            <a:endParaRPr sz="2400">
              <a:solidFill>
                <a:schemeClr val="dk1"/>
              </a:solidFill>
              <a:latin typeface="Times New Roman"/>
              <a:ea typeface="Times New Roman"/>
              <a:cs typeface="Times New Roman"/>
              <a:sym typeface="Times New Roman"/>
            </a:endParaRPr>
          </a:p>
          <a:p>
            <a:pPr marL="370840" marR="22860" lvl="0" indent="-358775" algn="just" rtl="0">
              <a:lnSpc>
                <a:spcPct val="150000"/>
              </a:lnSpc>
              <a:spcBef>
                <a:spcPts val="101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IEEE Standard 754 floating point is the most common representation today for real  numbers on computers, including Intel-based PC’s, Macs, and most Unix platforms.</a:t>
            </a:r>
            <a:endParaRPr sz="2400">
              <a:solidFill>
                <a:schemeClr val="dk1"/>
              </a:solidFill>
              <a:latin typeface="Times New Roman"/>
              <a:ea typeface="Times New Roman"/>
              <a:cs typeface="Times New Roman"/>
              <a:sym typeface="Times New Roman"/>
            </a:endParaRPr>
          </a:p>
        </p:txBody>
      </p:sp>
      <p:pic>
        <p:nvPicPr>
          <p:cNvPr id="814" name="Google Shape;814;p119"/>
          <p:cNvPicPr preferRelativeResize="0"/>
          <p:nvPr/>
        </p:nvPicPr>
        <p:blipFill rotWithShape="1">
          <a:blip r:embed="rId3">
            <a:alphaModFix/>
          </a:blip>
          <a:srcRect/>
          <a:stretch/>
        </p:blipFill>
        <p:spPr>
          <a:xfrm>
            <a:off x="10054840" y="142215"/>
            <a:ext cx="1945944" cy="661109"/>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p120"/>
          <p:cNvSpPr txBox="1">
            <a:spLocks noGrp="1"/>
          </p:cNvSpPr>
          <p:nvPr>
            <p:ph type="title"/>
          </p:nvPr>
        </p:nvSpPr>
        <p:spPr>
          <a:xfrm>
            <a:off x="916939" y="77470"/>
            <a:ext cx="7078980" cy="69659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400"/>
              <a:buFont typeface="Calibri"/>
              <a:buNone/>
            </a:pPr>
            <a:r>
              <a:rPr lang="en-US"/>
              <a:t>IEEE 754 - Basic components</a:t>
            </a:r>
            <a:endParaRPr/>
          </a:p>
        </p:txBody>
      </p:sp>
      <p:sp>
        <p:nvSpPr>
          <p:cNvPr id="820" name="Google Shape;820;p120"/>
          <p:cNvSpPr txBox="1"/>
          <p:nvPr/>
        </p:nvSpPr>
        <p:spPr>
          <a:xfrm>
            <a:off x="916939" y="853998"/>
            <a:ext cx="10670540" cy="5685155"/>
          </a:xfrm>
          <a:prstGeom prst="rect">
            <a:avLst/>
          </a:prstGeom>
          <a:noFill/>
          <a:ln>
            <a:noFill/>
          </a:ln>
        </p:spPr>
        <p:txBody>
          <a:bodyPr spcFirstLastPara="1" wrap="square" lIns="0" tIns="138425" rIns="0" bIns="0" anchor="t" anchorCtr="0">
            <a:spAutoFit/>
          </a:bodyPr>
          <a:lstStyle/>
          <a:p>
            <a:pPr marL="12700" marR="0"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IEEE 754 has 3 basic components:</a:t>
            </a:r>
            <a:endParaRPr sz="2400">
              <a:solidFill>
                <a:schemeClr val="dk1"/>
              </a:solidFill>
              <a:latin typeface="Times New Roman"/>
              <a:ea typeface="Times New Roman"/>
              <a:cs typeface="Times New Roman"/>
              <a:sym typeface="Times New Roman"/>
            </a:endParaRPr>
          </a:p>
          <a:p>
            <a:pPr marL="311150" marR="0" lvl="0" indent="-299085" algn="l" rtl="0">
              <a:lnSpc>
                <a:spcPct val="100000"/>
              </a:lnSpc>
              <a:spcBef>
                <a:spcPts val="994"/>
              </a:spcBef>
              <a:spcAft>
                <a:spcPts val="0"/>
              </a:spcAft>
              <a:buClr>
                <a:schemeClr val="dk1"/>
              </a:buClr>
              <a:buSzPts val="2400"/>
              <a:buFont typeface="Times New Roman"/>
              <a:buAutoNum type="arabicPeriod"/>
            </a:pPr>
            <a:r>
              <a:rPr lang="en-US" sz="2400" b="1">
                <a:solidFill>
                  <a:schemeClr val="dk1"/>
                </a:solidFill>
                <a:latin typeface="Times New Roman"/>
                <a:ea typeface="Times New Roman"/>
                <a:cs typeface="Times New Roman"/>
                <a:sym typeface="Times New Roman"/>
              </a:rPr>
              <a:t>The Sign of Mantissa</a:t>
            </a:r>
            <a:endParaRPr sz="2400">
              <a:solidFill>
                <a:schemeClr val="dk1"/>
              </a:solidFill>
              <a:latin typeface="Times New Roman"/>
              <a:ea typeface="Times New Roman"/>
              <a:cs typeface="Times New Roman"/>
              <a:sym typeface="Times New Roman"/>
            </a:endParaRPr>
          </a:p>
          <a:p>
            <a:pPr marL="727710" marR="0" lvl="1" indent="-358775" algn="l" rtl="0">
              <a:lnSpc>
                <a:spcPct val="100000"/>
              </a:lnSpc>
              <a:spcBef>
                <a:spcPts val="1010"/>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0 represents a positive number while</a:t>
            </a:r>
            <a:endParaRPr sz="2400" b="0" i="0" u="none" strike="noStrike" cap="none">
              <a:solidFill>
                <a:schemeClr val="dk1"/>
              </a:solidFill>
              <a:latin typeface="Times New Roman"/>
              <a:ea typeface="Times New Roman"/>
              <a:cs typeface="Times New Roman"/>
              <a:sym typeface="Times New Roman"/>
            </a:endParaRPr>
          </a:p>
          <a:p>
            <a:pPr marL="727710" marR="0" lvl="1" indent="-358775" algn="l" rtl="0">
              <a:lnSpc>
                <a:spcPct val="100000"/>
              </a:lnSpc>
              <a:spcBef>
                <a:spcPts val="1000"/>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1 represents a negative number.</a:t>
            </a:r>
            <a:endParaRPr sz="2400" b="0" i="0" u="none" strike="noStrike" cap="none">
              <a:solidFill>
                <a:schemeClr val="dk1"/>
              </a:solidFill>
              <a:latin typeface="Times New Roman"/>
              <a:ea typeface="Times New Roman"/>
              <a:cs typeface="Times New Roman"/>
              <a:sym typeface="Times New Roman"/>
            </a:endParaRPr>
          </a:p>
          <a:p>
            <a:pPr marL="311150" marR="0" lvl="0" indent="-299085" algn="l" rtl="0">
              <a:lnSpc>
                <a:spcPct val="100000"/>
              </a:lnSpc>
              <a:spcBef>
                <a:spcPts val="994"/>
              </a:spcBef>
              <a:spcAft>
                <a:spcPts val="0"/>
              </a:spcAft>
              <a:buClr>
                <a:schemeClr val="dk1"/>
              </a:buClr>
              <a:buSzPts val="2400"/>
              <a:buFont typeface="Times New Roman"/>
              <a:buAutoNum type="arabicPeriod"/>
            </a:pPr>
            <a:r>
              <a:rPr lang="en-US" sz="2400" b="1">
                <a:solidFill>
                  <a:schemeClr val="dk1"/>
                </a:solidFill>
                <a:latin typeface="Times New Roman"/>
                <a:ea typeface="Times New Roman"/>
                <a:cs typeface="Times New Roman"/>
                <a:sym typeface="Times New Roman"/>
              </a:rPr>
              <a:t>The Biased exponent</a:t>
            </a:r>
            <a:endParaRPr sz="2400">
              <a:solidFill>
                <a:schemeClr val="dk1"/>
              </a:solidFill>
              <a:latin typeface="Times New Roman"/>
              <a:ea typeface="Times New Roman"/>
              <a:cs typeface="Times New Roman"/>
              <a:sym typeface="Times New Roman"/>
            </a:endParaRPr>
          </a:p>
          <a:p>
            <a:pPr marL="727710" marR="0" lvl="1" indent="-358775" algn="l" rtl="0">
              <a:lnSpc>
                <a:spcPct val="100000"/>
              </a:lnSpc>
              <a:spcBef>
                <a:spcPts val="1010"/>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The exponent field needs to represent both positive and negative exponents.</a:t>
            </a:r>
            <a:endParaRPr sz="2400" b="0" i="0" u="none" strike="noStrike" cap="none">
              <a:solidFill>
                <a:schemeClr val="dk1"/>
              </a:solidFill>
              <a:latin typeface="Times New Roman"/>
              <a:ea typeface="Times New Roman"/>
              <a:cs typeface="Times New Roman"/>
              <a:sym typeface="Times New Roman"/>
            </a:endParaRPr>
          </a:p>
          <a:p>
            <a:pPr marL="727710" marR="0" lvl="1" indent="-358775" algn="l" rtl="0">
              <a:lnSpc>
                <a:spcPct val="100000"/>
              </a:lnSpc>
              <a:spcBef>
                <a:spcPts val="994"/>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A bias is added to the actual exponent in order to get the stored exponent.</a:t>
            </a:r>
            <a:endParaRPr sz="2400" b="0" i="0" u="none" strike="noStrike" cap="none">
              <a:solidFill>
                <a:schemeClr val="dk1"/>
              </a:solidFill>
              <a:latin typeface="Times New Roman"/>
              <a:ea typeface="Times New Roman"/>
              <a:cs typeface="Times New Roman"/>
              <a:sym typeface="Times New Roman"/>
            </a:endParaRPr>
          </a:p>
          <a:p>
            <a:pPr marL="311150" marR="0" lvl="0" indent="-299085" algn="l" rtl="0">
              <a:lnSpc>
                <a:spcPct val="100000"/>
              </a:lnSpc>
              <a:spcBef>
                <a:spcPts val="994"/>
              </a:spcBef>
              <a:spcAft>
                <a:spcPts val="0"/>
              </a:spcAft>
              <a:buClr>
                <a:schemeClr val="dk1"/>
              </a:buClr>
              <a:buSzPts val="2400"/>
              <a:buFont typeface="Times New Roman"/>
              <a:buAutoNum type="arabicPeriod"/>
            </a:pPr>
            <a:r>
              <a:rPr lang="en-US" sz="2400" b="1">
                <a:solidFill>
                  <a:schemeClr val="dk1"/>
                </a:solidFill>
                <a:latin typeface="Times New Roman"/>
                <a:ea typeface="Times New Roman"/>
                <a:cs typeface="Times New Roman"/>
                <a:sym typeface="Times New Roman"/>
              </a:rPr>
              <a:t>The Normalised Mantissa</a:t>
            </a:r>
            <a:endParaRPr sz="2400">
              <a:solidFill>
                <a:schemeClr val="dk1"/>
              </a:solidFill>
              <a:latin typeface="Times New Roman"/>
              <a:ea typeface="Times New Roman"/>
              <a:cs typeface="Times New Roman"/>
              <a:sym typeface="Times New Roman"/>
            </a:endParaRPr>
          </a:p>
          <a:p>
            <a:pPr marL="727710" marR="5080" lvl="1" indent="-358140" algn="l" rtl="0">
              <a:lnSpc>
                <a:spcPct val="100000"/>
              </a:lnSpc>
              <a:spcBef>
                <a:spcPts val="1010"/>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The mantissa is part of a number in scientific notation or a floating-point number,  consisting of its significant digits.</a:t>
            </a:r>
            <a:endParaRPr sz="2400" b="0" i="0" u="none" strike="noStrike" cap="none">
              <a:solidFill>
                <a:schemeClr val="dk1"/>
              </a:solidFill>
              <a:latin typeface="Times New Roman"/>
              <a:ea typeface="Times New Roman"/>
              <a:cs typeface="Times New Roman"/>
              <a:sym typeface="Times New Roman"/>
            </a:endParaRPr>
          </a:p>
          <a:p>
            <a:pPr marL="727710" marR="426719" lvl="1" indent="-358140" algn="l" rtl="0">
              <a:lnSpc>
                <a:spcPct val="100000"/>
              </a:lnSpc>
              <a:spcBef>
                <a:spcPts val="1000"/>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Here we have only 2 digits, i.e. O and 1. So a normalised mantissa is one with  only one 1 to the left of the decimal.</a:t>
            </a:r>
            <a:endParaRPr sz="2400" b="0" i="0" u="none" strike="noStrike" cap="none">
              <a:solidFill>
                <a:schemeClr val="dk1"/>
              </a:solidFill>
              <a:latin typeface="Times New Roman"/>
              <a:ea typeface="Times New Roman"/>
              <a:cs typeface="Times New Roman"/>
              <a:sym typeface="Times New Roman"/>
            </a:endParaRPr>
          </a:p>
        </p:txBody>
      </p:sp>
      <p:pic>
        <p:nvPicPr>
          <p:cNvPr id="821" name="Google Shape;821;p120"/>
          <p:cNvPicPr preferRelativeResize="0"/>
          <p:nvPr/>
        </p:nvPicPr>
        <p:blipFill rotWithShape="1">
          <a:blip r:embed="rId3">
            <a:alphaModFix/>
          </a:blip>
          <a:srcRect/>
          <a:stretch/>
        </p:blipFill>
        <p:spPr>
          <a:xfrm>
            <a:off x="10054840" y="142215"/>
            <a:ext cx="1945944" cy="661109"/>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p121"/>
          <p:cNvSpPr txBox="1">
            <a:spLocks noGrp="1"/>
          </p:cNvSpPr>
          <p:nvPr>
            <p:ph type="title"/>
          </p:nvPr>
        </p:nvSpPr>
        <p:spPr>
          <a:xfrm>
            <a:off x="916939" y="77470"/>
            <a:ext cx="5000625" cy="69659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400"/>
              <a:buFont typeface="Calibri"/>
              <a:buNone/>
            </a:pPr>
            <a:r>
              <a:rPr lang="en-US"/>
              <a:t>IEEE 754 - Precision</a:t>
            </a:r>
            <a:endParaRPr/>
          </a:p>
        </p:txBody>
      </p:sp>
      <p:sp>
        <p:nvSpPr>
          <p:cNvPr id="827" name="Google Shape;827;p121"/>
          <p:cNvSpPr txBox="1"/>
          <p:nvPr/>
        </p:nvSpPr>
        <p:spPr>
          <a:xfrm>
            <a:off x="916939" y="853998"/>
            <a:ext cx="9578975" cy="1995805"/>
          </a:xfrm>
          <a:prstGeom prst="rect">
            <a:avLst/>
          </a:prstGeom>
          <a:noFill/>
          <a:ln>
            <a:noFill/>
          </a:ln>
        </p:spPr>
        <p:txBody>
          <a:bodyPr spcFirstLastPara="1" wrap="square" lIns="0" tIns="138425" rIns="0" bIns="0" anchor="t" anchorCtr="0">
            <a:spAutoFit/>
          </a:bodyPr>
          <a:lstStyle/>
          <a:p>
            <a:pPr marL="12700" marR="0"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IEEE 754 numbers are divided into two based on the above three components:</a:t>
            </a:r>
            <a:endParaRPr sz="2400">
              <a:solidFill>
                <a:schemeClr val="dk1"/>
              </a:solidFill>
              <a:latin typeface="Times New Roman"/>
              <a:ea typeface="Times New Roman"/>
              <a:cs typeface="Times New Roman"/>
              <a:sym typeface="Times New Roman"/>
            </a:endParaRPr>
          </a:p>
          <a:p>
            <a:pPr marL="727710" marR="0" lvl="0" indent="-358775" algn="l" rtl="0">
              <a:lnSpc>
                <a:spcPct val="100000"/>
              </a:lnSpc>
              <a:spcBef>
                <a:spcPts val="994"/>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Single precision and</a:t>
            </a:r>
            <a:endParaRPr sz="2400">
              <a:solidFill>
                <a:schemeClr val="dk1"/>
              </a:solidFill>
              <a:latin typeface="Times New Roman"/>
              <a:ea typeface="Times New Roman"/>
              <a:cs typeface="Times New Roman"/>
              <a:sym typeface="Times New Roman"/>
            </a:endParaRPr>
          </a:p>
          <a:p>
            <a:pPr marL="727710" marR="0" lvl="0" indent="-358775" algn="l" rtl="0">
              <a:lnSpc>
                <a:spcPct val="100000"/>
              </a:lnSpc>
              <a:spcBef>
                <a:spcPts val="101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Double precision.</a:t>
            </a:r>
            <a:endParaRPr sz="2400">
              <a:solidFill>
                <a:schemeClr val="dk1"/>
              </a:solidFill>
              <a:latin typeface="Times New Roman"/>
              <a:ea typeface="Times New Roman"/>
              <a:cs typeface="Times New Roman"/>
              <a:sym typeface="Times New Roman"/>
            </a:endParaRPr>
          </a:p>
          <a:p>
            <a:pPr marL="12700" marR="0" lvl="0" indent="0" algn="l" rtl="0">
              <a:lnSpc>
                <a:spcPct val="100000"/>
              </a:lnSpc>
              <a:spcBef>
                <a:spcPts val="1000"/>
              </a:spcBef>
              <a:spcAft>
                <a:spcPts val="0"/>
              </a:spcAft>
              <a:buNone/>
            </a:pPr>
            <a:r>
              <a:rPr lang="en-US" sz="2400" b="1">
                <a:solidFill>
                  <a:schemeClr val="dk1"/>
                </a:solidFill>
                <a:latin typeface="Times New Roman"/>
                <a:ea typeface="Times New Roman"/>
                <a:cs typeface="Times New Roman"/>
                <a:sym typeface="Times New Roman"/>
              </a:rPr>
              <a:t>1. Single precision</a:t>
            </a:r>
            <a:endParaRPr sz="2400">
              <a:solidFill>
                <a:schemeClr val="dk1"/>
              </a:solidFill>
              <a:latin typeface="Times New Roman"/>
              <a:ea typeface="Times New Roman"/>
              <a:cs typeface="Times New Roman"/>
              <a:sym typeface="Times New Roman"/>
            </a:endParaRPr>
          </a:p>
        </p:txBody>
      </p:sp>
      <p:sp>
        <p:nvSpPr>
          <p:cNvPr id="828" name="Google Shape;828;p121"/>
          <p:cNvSpPr txBox="1"/>
          <p:nvPr/>
        </p:nvSpPr>
        <p:spPr>
          <a:xfrm>
            <a:off x="916939" y="4429505"/>
            <a:ext cx="2517775"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2. Double precision</a:t>
            </a:r>
            <a:endParaRPr sz="2400">
              <a:solidFill>
                <a:schemeClr val="dk1"/>
              </a:solidFill>
              <a:latin typeface="Times New Roman"/>
              <a:ea typeface="Times New Roman"/>
              <a:cs typeface="Times New Roman"/>
              <a:sym typeface="Times New Roman"/>
            </a:endParaRPr>
          </a:p>
        </p:txBody>
      </p:sp>
      <p:pic>
        <p:nvPicPr>
          <p:cNvPr id="829" name="Google Shape;829;p121"/>
          <p:cNvPicPr preferRelativeResize="0"/>
          <p:nvPr/>
        </p:nvPicPr>
        <p:blipFill rotWithShape="1">
          <a:blip r:embed="rId3">
            <a:alphaModFix/>
          </a:blip>
          <a:srcRect/>
          <a:stretch/>
        </p:blipFill>
        <p:spPr>
          <a:xfrm>
            <a:off x="10054840" y="142215"/>
            <a:ext cx="1945944" cy="661109"/>
          </a:xfrm>
          <a:prstGeom prst="rect">
            <a:avLst/>
          </a:prstGeom>
          <a:noFill/>
          <a:ln>
            <a:noFill/>
          </a:ln>
        </p:spPr>
      </p:pic>
      <p:pic>
        <p:nvPicPr>
          <p:cNvPr id="830" name="Google Shape;830;p121"/>
          <p:cNvPicPr preferRelativeResize="0"/>
          <p:nvPr/>
        </p:nvPicPr>
        <p:blipFill rotWithShape="1">
          <a:blip r:embed="rId4">
            <a:alphaModFix/>
          </a:blip>
          <a:srcRect/>
          <a:stretch/>
        </p:blipFill>
        <p:spPr>
          <a:xfrm>
            <a:off x="2252472" y="2770632"/>
            <a:ext cx="7144511" cy="1591056"/>
          </a:xfrm>
          <a:prstGeom prst="rect">
            <a:avLst/>
          </a:prstGeom>
          <a:noFill/>
          <a:ln>
            <a:noFill/>
          </a:ln>
        </p:spPr>
      </p:pic>
      <p:pic>
        <p:nvPicPr>
          <p:cNvPr id="831" name="Google Shape;831;p121"/>
          <p:cNvPicPr preferRelativeResize="0"/>
          <p:nvPr/>
        </p:nvPicPr>
        <p:blipFill rotWithShape="1">
          <a:blip r:embed="rId5">
            <a:alphaModFix/>
          </a:blip>
          <a:srcRect/>
          <a:stretch/>
        </p:blipFill>
        <p:spPr>
          <a:xfrm>
            <a:off x="1103188" y="5056854"/>
            <a:ext cx="9975577" cy="1279305"/>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122"/>
          <p:cNvSpPr txBox="1">
            <a:spLocks noGrp="1"/>
          </p:cNvSpPr>
          <p:nvPr>
            <p:ph type="title"/>
          </p:nvPr>
        </p:nvSpPr>
        <p:spPr>
          <a:xfrm>
            <a:off x="916939" y="244220"/>
            <a:ext cx="6490970" cy="69659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400"/>
              <a:buFont typeface="Times New Roman"/>
              <a:buNone/>
            </a:pPr>
            <a:r>
              <a:rPr lang="en-US" b="0">
                <a:latin typeface="Times New Roman"/>
                <a:ea typeface="Times New Roman"/>
                <a:cs typeface="Times New Roman"/>
                <a:sym typeface="Times New Roman"/>
              </a:rPr>
              <a:t>Example 1: </a:t>
            </a:r>
            <a:r>
              <a:rPr lang="en-US"/>
              <a:t>Single precision</a:t>
            </a:r>
            <a:endParaRPr/>
          </a:p>
        </p:txBody>
      </p:sp>
      <p:sp>
        <p:nvSpPr>
          <p:cNvPr id="837" name="Google Shape;837;p122"/>
          <p:cNvSpPr txBox="1"/>
          <p:nvPr/>
        </p:nvSpPr>
        <p:spPr>
          <a:xfrm>
            <a:off x="916939" y="1340358"/>
            <a:ext cx="6392545" cy="502983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Biased exponent 127+6=133</a:t>
            </a: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None/>
            </a:pPr>
            <a:endParaRPr sz="21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133 = 10000101</a:t>
            </a: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30"/>
              </a:spcBef>
              <a:spcAft>
                <a:spcPts val="0"/>
              </a:spcAft>
              <a:buNone/>
            </a:pPr>
            <a:endParaRPr sz="2100">
              <a:solidFill>
                <a:schemeClr val="dk1"/>
              </a:solidFill>
              <a:latin typeface="Times New Roman"/>
              <a:ea typeface="Times New Roman"/>
              <a:cs typeface="Times New Roman"/>
              <a:sym typeface="Times New Roman"/>
            </a:endParaRPr>
          </a:p>
          <a:p>
            <a:pPr marL="12700" marR="0" lvl="0" indent="0" algn="l" rtl="0">
              <a:lnSpc>
                <a:spcPct val="100000"/>
              </a:lnSpc>
              <a:spcBef>
                <a:spcPts val="5"/>
              </a:spcBef>
              <a:spcAft>
                <a:spcPts val="0"/>
              </a:spcAft>
              <a:buNone/>
            </a:pPr>
            <a:r>
              <a:rPr lang="en-US" sz="2400">
                <a:solidFill>
                  <a:schemeClr val="dk1"/>
                </a:solidFill>
                <a:latin typeface="Times New Roman"/>
                <a:ea typeface="Times New Roman"/>
                <a:cs typeface="Times New Roman"/>
                <a:sym typeface="Times New Roman"/>
              </a:rPr>
              <a:t>Normalised mantisa = 010101001</a:t>
            </a: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None/>
            </a:pPr>
            <a:endParaRPr sz="21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we will add 0's to complete the 23 bits</a:t>
            </a: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600">
              <a:solidFill>
                <a:schemeClr val="dk1"/>
              </a:solidFill>
              <a:latin typeface="Times New Roman"/>
              <a:ea typeface="Times New Roman"/>
              <a:cs typeface="Times New Roman"/>
              <a:sym typeface="Times New Roman"/>
            </a:endParaRPr>
          </a:p>
          <a:p>
            <a:pPr marL="0" marR="0" lvl="0" indent="0" algn="l" rtl="0">
              <a:lnSpc>
                <a:spcPct val="100000"/>
              </a:lnSpc>
              <a:spcBef>
                <a:spcPts val="30"/>
              </a:spcBef>
              <a:spcAft>
                <a:spcPts val="0"/>
              </a:spcAft>
              <a:buNone/>
            </a:pPr>
            <a:endParaRPr sz="3500">
              <a:solidFill>
                <a:schemeClr val="dk1"/>
              </a:solidFill>
              <a:latin typeface="Times New Roman"/>
              <a:ea typeface="Times New Roman"/>
              <a:cs typeface="Times New Roman"/>
              <a:sym typeface="Times New Roman"/>
            </a:endParaRPr>
          </a:p>
          <a:p>
            <a:pPr marL="12700" marR="0" lvl="0" indent="0" algn="l" rtl="0">
              <a:lnSpc>
                <a:spcPct val="100000"/>
              </a:lnSpc>
              <a:spcBef>
                <a:spcPts val="5"/>
              </a:spcBef>
              <a:spcAft>
                <a:spcPts val="0"/>
              </a:spcAft>
              <a:buNone/>
            </a:pPr>
            <a:r>
              <a:rPr lang="en-US" sz="2400" b="1">
                <a:solidFill>
                  <a:schemeClr val="dk1"/>
                </a:solidFill>
                <a:latin typeface="Times New Roman"/>
                <a:ea typeface="Times New Roman"/>
                <a:cs typeface="Times New Roman"/>
                <a:sym typeface="Times New Roman"/>
              </a:rPr>
              <a:t>The IEEE 754 Single precision is:</a:t>
            </a: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None/>
            </a:pPr>
            <a:endParaRPr sz="2100">
              <a:solidFill>
                <a:schemeClr val="dk1"/>
              </a:solidFill>
              <a:latin typeface="Times New Roman"/>
              <a:ea typeface="Times New Roman"/>
              <a:cs typeface="Times New Roman"/>
              <a:sym typeface="Times New Roman"/>
            </a:endParaRPr>
          </a:p>
          <a:p>
            <a:pPr marL="88900" marR="0"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0 10000101 01010100100000000000000</a:t>
            </a: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None/>
            </a:pPr>
            <a:endParaRPr sz="2100">
              <a:solidFill>
                <a:schemeClr val="dk1"/>
              </a:solidFill>
              <a:latin typeface="Times New Roman"/>
              <a:ea typeface="Times New Roman"/>
              <a:cs typeface="Times New Roman"/>
              <a:sym typeface="Times New Roman"/>
            </a:endParaRPr>
          </a:p>
          <a:p>
            <a:pPr marL="12700" marR="0" lvl="0" indent="0" algn="l" rtl="0">
              <a:lnSpc>
                <a:spcPct val="100000"/>
              </a:lnSpc>
              <a:spcBef>
                <a:spcPts val="5"/>
              </a:spcBef>
              <a:spcAft>
                <a:spcPts val="0"/>
              </a:spcAft>
              <a:buNone/>
            </a:pPr>
            <a:r>
              <a:rPr lang="en-US" sz="2400">
                <a:solidFill>
                  <a:schemeClr val="dk1"/>
                </a:solidFill>
                <a:latin typeface="Times New Roman"/>
                <a:ea typeface="Times New Roman"/>
                <a:cs typeface="Times New Roman"/>
                <a:sym typeface="Times New Roman"/>
              </a:rPr>
              <a:t>This can be written in hexadecimal form </a:t>
            </a:r>
            <a:r>
              <a:rPr lang="en-US" sz="2400" b="1">
                <a:solidFill>
                  <a:schemeClr val="dk1"/>
                </a:solidFill>
                <a:latin typeface="Times New Roman"/>
                <a:ea typeface="Times New Roman"/>
                <a:cs typeface="Times New Roman"/>
                <a:sym typeface="Times New Roman"/>
              </a:rPr>
              <a:t>42AA4000</a:t>
            </a:r>
            <a:endParaRPr sz="2400">
              <a:solidFill>
                <a:schemeClr val="dk1"/>
              </a:solidFill>
              <a:latin typeface="Times New Roman"/>
              <a:ea typeface="Times New Roman"/>
              <a:cs typeface="Times New Roman"/>
              <a:sym typeface="Times New Roman"/>
            </a:endParaRPr>
          </a:p>
        </p:txBody>
      </p:sp>
      <p:pic>
        <p:nvPicPr>
          <p:cNvPr id="838" name="Google Shape;838;p122"/>
          <p:cNvPicPr preferRelativeResize="0"/>
          <p:nvPr/>
        </p:nvPicPr>
        <p:blipFill rotWithShape="1">
          <a:blip r:embed="rId3">
            <a:alphaModFix/>
          </a:blip>
          <a:srcRect/>
          <a:stretch/>
        </p:blipFill>
        <p:spPr>
          <a:xfrm>
            <a:off x="10054840" y="142215"/>
            <a:ext cx="1945944" cy="661109"/>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123"/>
          <p:cNvSpPr txBox="1">
            <a:spLocks noGrp="1"/>
          </p:cNvSpPr>
          <p:nvPr>
            <p:ph type="title"/>
          </p:nvPr>
        </p:nvSpPr>
        <p:spPr>
          <a:xfrm>
            <a:off x="916939" y="215341"/>
            <a:ext cx="6739255" cy="697230"/>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1"/>
              </a:buClr>
              <a:buSzPts val="4400"/>
              <a:buFont typeface="Times New Roman"/>
              <a:buNone/>
            </a:pPr>
            <a:r>
              <a:rPr lang="en-US" b="0">
                <a:latin typeface="Times New Roman"/>
                <a:ea typeface="Times New Roman"/>
                <a:cs typeface="Times New Roman"/>
                <a:sym typeface="Times New Roman"/>
              </a:rPr>
              <a:t>Example 2: </a:t>
            </a:r>
            <a:r>
              <a:rPr lang="en-US"/>
              <a:t>Double precision</a:t>
            </a:r>
            <a:endParaRPr/>
          </a:p>
        </p:txBody>
      </p:sp>
      <p:sp>
        <p:nvSpPr>
          <p:cNvPr id="844" name="Google Shape;844;p123"/>
          <p:cNvSpPr txBox="1"/>
          <p:nvPr/>
        </p:nvSpPr>
        <p:spPr>
          <a:xfrm>
            <a:off x="916939" y="1282953"/>
            <a:ext cx="4697095" cy="24187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Biased exponent 1023+6=1029</a:t>
            </a: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None/>
            </a:pPr>
            <a:endParaRPr sz="21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1029 = 10000000101</a:t>
            </a: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35"/>
              </a:spcBef>
              <a:spcAft>
                <a:spcPts val="0"/>
              </a:spcAft>
              <a:buNone/>
            </a:pPr>
            <a:endParaRPr sz="21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Normalised mantisa = 010101001</a:t>
            </a: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None/>
            </a:pPr>
            <a:endParaRPr sz="21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we will add 0's to complete the 52 bits</a:t>
            </a:r>
            <a:endParaRPr sz="2400">
              <a:solidFill>
                <a:schemeClr val="dk1"/>
              </a:solidFill>
              <a:latin typeface="Times New Roman"/>
              <a:ea typeface="Times New Roman"/>
              <a:cs typeface="Times New Roman"/>
              <a:sym typeface="Times New Roman"/>
            </a:endParaRPr>
          </a:p>
        </p:txBody>
      </p:sp>
      <p:sp>
        <p:nvSpPr>
          <p:cNvPr id="845" name="Google Shape;845;p123"/>
          <p:cNvSpPr txBox="1"/>
          <p:nvPr/>
        </p:nvSpPr>
        <p:spPr>
          <a:xfrm>
            <a:off x="916939" y="4662296"/>
            <a:ext cx="9931400" cy="174180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The IEEE 754 Double precision is:</a:t>
            </a: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None/>
            </a:pPr>
            <a:endParaRPr sz="21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0 10000000101 0101010010000000000000000000000000000000000000000000</a:t>
            </a: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25"/>
              </a:spcBef>
              <a:spcAft>
                <a:spcPts val="0"/>
              </a:spcAft>
              <a:buNone/>
            </a:pPr>
            <a:endParaRPr sz="21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This can be written in hexadecimal form </a:t>
            </a:r>
            <a:r>
              <a:rPr lang="en-US" sz="2400" b="1">
                <a:solidFill>
                  <a:schemeClr val="dk1"/>
                </a:solidFill>
                <a:latin typeface="Times New Roman"/>
                <a:ea typeface="Times New Roman"/>
                <a:cs typeface="Times New Roman"/>
                <a:sym typeface="Times New Roman"/>
              </a:rPr>
              <a:t>4055480000000000</a:t>
            </a:r>
            <a:endParaRPr sz="2400">
              <a:solidFill>
                <a:schemeClr val="dk1"/>
              </a:solidFill>
              <a:latin typeface="Times New Roman"/>
              <a:ea typeface="Times New Roman"/>
              <a:cs typeface="Times New Roman"/>
              <a:sym typeface="Times New Roman"/>
            </a:endParaRPr>
          </a:p>
        </p:txBody>
      </p:sp>
      <p:pic>
        <p:nvPicPr>
          <p:cNvPr id="846" name="Google Shape;846;p123"/>
          <p:cNvPicPr preferRelativeResize="0"/>
          <p:nvPr/>
        </p:nvPicPr>
        <p:blipFill rotWithShape="1">
          <a:blip r:embed="rId3">
            <a:alphaModFix/>
          </a:blip>
          <a:srcRect/>
          <a:stretch/>
        </p:blipFill>
        <p:spPr>
          <a:xfrm>
            <a:off x="10054840" y="142215"/>
            <a:ext cx="1945944" cy="661109"/>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p124"/>
          <p:cNvSpPr txBox="1">
            <a:spLocks noGrp="1"/>
          </p:cNvSpPr>
          <p:nvPr>
            <p:ph type="title"/>
          </p:nvPr>
        </p:nvSpPr>
        <p:spPr>
          <a:xfrm>
            <a:off x="916939" y="77470"/>
            <a:ext cx="6207125" cy="69659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400"/>
              <a:buFont typeface="Calibri"/>
              <a:buNone/>
            </a:pPr>
            <a:r>
              <a:rPr lang="en-US"/>
              <a:t>IEEE 754 - Special Values</a:t>
            </a:r>
            <a:endParaRPr/>
          </a:p>
        </p:txBody>
      </p:sp>
      <p:sp>
        <p:nvSpPr>
          <p:cNvPr id="852" name="Google Shape;852;p124"/>
          <p:cNvSpPr txBox="1"/>
          <p:nvPr/>
        </p:nvSpPr>
        <p:spPr>
          <a:xfrm>
            <a:off x="916939" y="824483"/>
            <a:ext cx="10542270" cy="6051550"/>
          </a:xfrm>
          <a:prstGeom prst="rect">
            <a:avLst/>
          </a:prstGeom>
          <a:noFill/>
          <a:ln>
            <a:noFill/>
          </a:ln>
        </p:spPr>
        <p:txBody>
          <a:bodyPr spcFirstLastPara="1" wrap="square" lIns="0" tIns="139700" rIns="0" bIns="0" anchor="t" anchorCtr="0">
            <a:spAutoFit/>
          </a:bodyPr>
          <a:lstStyle/>
          <a:p>
            <a:pPr marL="12700" marR="0"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EEE has reserved some values that can ambiguity.</a:t>
            </a:r>
            <a:endParaRPr sz="2400">
              <a:solidFill>
                <a:schemeClr val="dk1"/>
              </a:solidFill>
              <a:latin typeface="Times New Roman"/>
              <a:ea typeface="Times New Roman"/>
              <a:cs typeface="Times New Roman"/>
              <a:sym typeface="Times New Roman"/>
            </a:endParaRPr>
          </a:p>
          <a:p>
            <a:pPr marL="317500" marR="0" lvl="0" indent="-304800" algn="l" rtl="0">
              <a:lnSpc>
                <a:spcPct val="100000"/>
              </a:lnSpc>
              <a:spcBef>
                <a:spcPts val="994"/>
              </a:spcBef>
              <a:spcAft>
                <a:spcPts val="0"/>
              </a:spcAft>
              <a:buClr>
                <a:schemeClr val="dk1"/>
              </a:buClr>
              <a:buSzPts val="2400"/>
              <a:buFont typeface="Times New Roman"/>
              <a:buAutoNum type="arabicPeriod"/>
            </a:pPr>
            <a:r>
              <a:rPr lang="en-US" sz="2400" b="1">
                <a:solidFill>
                  <a:schemeClr val="dk1"/>
                </a:solidFill>
                <a:latin typeface="Times New Roman"/>
                <a:ea typeface="Times New Roman"/>
                <a:cs typeface="Times New Roman"/>
                <a:sym typeface="Times New Roman"/>
              </a:rPr>
              <a:t>Zero</a:t>
            </a:r>
            <a:endParaRPr sz="2400">
              <a:solidFill>
                <a:schemeClr val="dk1"/>
              </a:solidFill>
              <a:latin typeface="Times New Roman"/>
              <a:ea typeface="Times New Roman"/>
              <a:cs typeface="Times New Roman"/>
              <a:sym typeface="Times New Roman"/>
            </a:endParaRPr>
          </a:p>
          <a:p>
            <a:pPr marL="727710" marR="0" lvl="1" indent="-358775" algn="l" rtl="0">
              <a:lnSpc>
                <a:spcPct val="100000"/>
              </a:lnSpc>
              <a:spcBef>
                <a:spcPts val="1010"/>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Zero is a special value denoted with an exponent and mantissa of 0.</a:t>
            </a:r>
            <a:endParaRPr sz="2400" b="0" i="0" u="none" strike="noStrike" cap="none">
              <a:solidFill>
                <a:schemeClr val="dk1"/>
              </a:solidFill>
              <a:latin typeface="Times New Roman"/>
              <a:ea typeface="Times New Roman"/>
              <a:cs typeface="Times New Roman"/>
              <a:sym typeface="Times New Roman"/>
            </a:endParaRPr>
          </a:p>
          <a:p>
            <a:pPr marL="727710" marR="0" lvl="1" indent="-358775" algn="l" rtl="0">
              <a:lnSpc>
                <a:spcPct val="100000"/>
              </a:lnSpc>
              <a:spcBef>
                <a:spcPts val="994"/>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-0 and +0 are distinct values, though they both are equal.</a:t>
            </a:r>
            <a:endParaRPr sz="2400" b="0" i="0" u="none" strike="noStrike" cap="none">
              <a:solidFill>
                <a:schemeClr val="dk1"/>
              </a:solidFill>
              <a:latin typeface="Times New Roman"/>
              <a:ea typeface="Times New Roman"/>
              <a:cs typeface="Times New Roman"/>
              <a:sym typeface="Times New Roman"/>
            </a:endParaRPr>
          </a:p>
          <a:p>
            <a:pPr marL="317500" marR="0" lvl="0" indent="-305435" algn="l" rtl="0">
              <a:lnSpc>
                <a:spcPct val="100000"/>
              </a:lnSpc>
              <a:spcBef>
                <a:spcPts val="1000"/>
              </a:spcBef>
              <a:spcAft>
                <a:spcPts val="0"/>
              </a:spcAft>
              <a:buClr>
                <a:schemeClr val="dk1"/>
              </a:buClr>
              <a:buSzPts val="2400"/>
              <a:buFont typeface="Times New Roman"/>
              <a:buAutoNum type="arabicPeriod"/>
            </a:pPr>
            <a:r>
              <a:rPr lang="en-US" sz="2400" b="1">
                <a:solidFill>
                  <a:schemeClr val="dk1"/>
                </a:solidFill>
                <a:latin typeface="Times New Roman"/>
                <a:ea typeface="Times New Roman"/>
                <a:cs typeface="Times New Roman"/>
                <a:sym typeface="Times New Roman"/>
              </a:rPr>
              <a:t>Denormalised</a:t>
            </a:r>
            <a:endParaRPr sz="2400">
              <a:solidFill>
                <a:schemeClr val="dk1"/>
              </a:solidFill>
              <a:latin typeface="Times New Roman"/>
              <a:ea typeface="Times New Roman"/>
              <a:cs typeface="Times New Roman"/>
              <a:sym typeface="Times New Roman"/>
            </a:endParaRPr>
          </a:p>
          <a:p>
            <a:pPr marL="727710" marR="1438275" lvl="1" indent="-358140" algn="l" rtl="0">
              <a:lnSpc>
                <a:spcPct val="100000"/>
              </a:lnSpc>
              <a:spcBef>
                <a:spcPts val="1005"/>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If the exponent is all zeros, but the mantissa is not then the value is a  denormalized number.</a:t>
            </a:r>
            <a:endParaRPr sz="2400" b="0" i="0" u="none" strike="noStrike" cap="none">
              <a:solidFill>
                <a:schemeClr val="dk1"/>
              </a:solidFill>
              <a:latin typeface="Times New Roman"/>
              <a:ea typeface="Times New Roman"/>
              <a:cs typeface="Times New Roman"/>
              <a:sym typeface="Times New Roman"/>
            </a:endParaRPr>
          </a:p>
          <a:p>
            <a:pPr marL="727710" marR="0" lvl="1" indent="-358775" algn="l" rtl="0">
              <a:lnSpc>
                <a:spcPct val="100000"/>
              </a:lnSpc>
              <a:spcBef>
                <a:spcPts val="1000"/>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This means this number does not have an assumed leading one before the binary</a:t>
            </a:r>
            <a:endParaRPr sz="2400" b="0" i="0" u="none" strike="noStrike" cap="none">
              <a:solidFill>
                <a:schemeClr val="dk1"/>
              </a:solidFill>
              <a:latin typeface="Times New Roman"/>
              <a:ea typeface="Times New Roman"/>
              <a:cs typeface="Times New Roman"/>
              <a:sym typeface="Times New Roman"/>
            </a:endParaRPr>
          </a:p>
          <a:p>
            <a:pPr marL="727710" marR="0"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point.</a:t>
            </a:r>
            <a:endParaRPr sz="2400">
              <a:solidFill>
                <a:schemeClr val="dk1"/>
              </a:solidFill>
              <a:latin typeface="Times New Roman"/>
              <a:ea typeface="Times New Roman"/>
              <a:cs typeface="Times New Roman"/>
              <a:sym typeface="Times New Roman"/>
            </a:endParaRPr>
          </a:p>
          <a:p>
            <a:pPr marL="317500" marR="0" lvl="0" indent="-304800" algn="l" rtl="0">
              <a:lnSpc>
                <a:spcPct val="100000"/>
              </a:lnSpc>
              <a:spcBef>
                <a:spcPts val="994"/>
              </a:spcBef>
              <a:spcAft>
                <a:spcPts val="0"/>
              </a:spcAft>
              <a:buClr>
                <a:schemeClr val="dk1"/>
              </a:buClr>
              <a:buSzPts val="2400"/>
              <a:buFont typeface="Times New Roman"/>
              <a:buAutoNum type="arabicPeriod" startAt="3"/>
            </a:pPr>
            <a:r>
              <a:rPr lang="en-US" sz="2400" b="1">
                <a:solidFill>
                  <a:schemeClr val="dk1"/>
                </a:solidFill>
                <a:latin typeface="Times New Roman"/>
                <a:ea typeface="Times New Roman"/>
                <a:cs typeface="Times New Roman"/>
                <a:sym typeface="Times New Roman"/>
              </a:rPr>
              <a:t>Infinity</a:t>
            </a:r>
            <a:endParaRPr sz="2400">
              <a:solidFill>
                <a:schemeClr val="dk1"/>
              </a:solidFill>
              <a:latin typeface="Times New Roman"/>
              <a:ea typeface="Times New Roman"/>
              <a:cs typeface="Times New Roman"/>
              <a:sym typeface="Times New Roman"/>
            </a:endParaRPr>
          </a:p>
          <a:p>
            <a:pPr marL="727710" marR="16510" lvl="1" indent="-358140" algn="l" rtl="0">
              <a:lnSpc>
                <a:spcPct val="100000"/>
              </a:lnSpc>
              <a:spcBef>
                <a:spcPts val="1010"/>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The values +infinity and -infinity are denoted with an exponent of all ones and a  mantissa of all zeros.</a:t>
            </a:r>
            <a:endParaRPr sz="2400" b="0" i="0" u="none" strike="noStrike" cap="none">
              <a:solidFill>
                <a:schemeClr val="dk1"/>
              </a:solidFill>
              <a:latin typeface="Times New Roman"/>
              <a:ea typeface="Times New Roman"/>
              <a:cs typeface="Times New Roman"/>
              <a:sym typeface="Times New Roman"/>
            </a:endParaRPr>
          </a:p>
          <a:p>
            <a:pPr marL="727710" marR="0" lvl="1" indent="-358775" algn="l" rtl="0">
              <a:lnSpc>
                <a:spcPct val="100000"/>
              </a:lnSpc>
              <a:spcBef>
                <a:spcPts val="994"/>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The sign bit distinguishes between negative infinity and positive infinity.</a:t>
            </a:r>
            <a:endParaRPr sz="2400" b="0" i="0" u="none" strike="noStrike" cap="none">
              <a:solidFill>
                <a:schemeClr val="dk1"/>
              </a:solidFill>
              <a:latin typeface="Times New Roman"/>
              <a:ea typeface="Times New Roman"/>
              <a:cs typeface="Times New Roman"/>
              <a:sym typeface="Times New Roman"/>
            </a:endParaRPr>
          </a:p>
        </p:txBody>
      </p:sp>
      <p:pic>
        <p:nvPicPr>
          <p:cNvPr id="853" name="Google Shape;853;p124"/>
          <p:cNvPicPr preferRelativeResize="0"/>
          <p:nvPr/>
        </p:nvPicPr>
        <p:blipFill rotWithShape="1">
          <a:blip r:embed="rId3">
            <a:alphaModFix/>
          </a:blip>
          <a:srcRect/>
          <a:stretch/>
        </p:blipFill>
        <p:spPr>
          <a:xfrm>
            <a:off x="10054840" y="142215"/>
            <a:ext cx="1945944" cy="661109"/>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p125"/>
          <p:cNvSpPr txBox="1">
            <a:spLocks noGrp="1"/>
          </p:cNvSpPr>
          <p:nvPr>
            <p:ph type="title"/>
          </p:nvPr>
        </p:nvSpPr>
        <p:spPr>
          <a:xfrm>
            <a:off x="838200" y="365125"/>
            <a:ext cx="10515600" cy="1325563"/>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400"/>
              <a:buFont typeface="Calibri"/>
              <a:buNone/>
            </a:pPr>
            <a:r>
              <a:rPr lang="en-US"/>
              <a:t>IEEE 754 - Special Values</a:t>
            </a:r>
            <a:endParaRPr/>
          </a:p>
        </p:txBody>
      </p:sp>
      <p:sp>
        <p:nvSpPr>
          <p:cNvPr id="859" name="Google Shape;859;p125"/>
          <p:cNvSpPr txBox="1"/>
          <p:nvPr/>
        </p:nvSpPr>
        <p:spPr>
          <a:xfrm>
            <a:off x="916939" y="695832"/>
            <a:ext cx="10158730" cy="2728595"/>
          </a:xfrm>
          <a:prstGeom prst="rect">
            <a:avLst/>
          </a:prstGeom>
          <a:noFill/>
          <a:ln>
            <a:noFill/>
          </a:ln>
        </p:spPr>
        <p:txBody>
          <a:bodyPr spcFirstLastPara="1" wrap="square" lIns="0" tIns="139700" rIns="0" bIns="0" anchor="t" anchorCtr="0">
            <a:spAutoFit/>
          </a:bodyPr>
          <a:lstStyle/>
          <a:p>
            <a:pPr marL="317500" marR="0" lvl="0" indent="-304800" algn="l" rtl="0">
              <a:lnSpc>
                <a:spcPct val="100000"/>
              </a:lnSpc>
              <a:spcBef>
                <a:spcPts val="0"/>
              </a:spcBef>
              <a:spcAft>
                <a:spcPts val="0"/>
              </a:spcAft>
              <a:buClr>
                <a:schemeClr val="dk1"/>
              </a:buClr>
              <a:buSzPts val="2400"/>
              <a:buFont typeface="Times New Roman"/>
              <a:buAutoNum type="arabicPeriod" startAt="4"/>
            </a:pPr>
            <a:r>
              <a:rPr lang="en-US" sz="2400" b="1">
                <a:solidFill>
                  <a:schemeClr val="dk1"/>
                </a:solidFill>
                <a:latin typeface="Times New Roman"/>
                <a:ea typeface="Times New Roman"/>
                <a:cs typeface="Times New Roman"/>
                <a:sym typeface="Times New Roman"/>
              </a:rPr>
              <a:t>Not A Number (NAN)</a:t>
            </a:r>
            <a:endParaRPr sz="2400">
              <a:solidFill>
                <a:schemeClr val="dk1"/>
              </a:solidFill>
              <a:latin typeface="Times New Roman"/>
              <a:ea typeface="Times New Roman"/>
              <a:cs typeface="Times New Roman"/>
              <a:sym typeface="Times New Roman"/>
            </a:endParaRPr>
          </a:p>
          <a:p>
            <a:pPr marL="727710" marR="0" lvl="1" indent="-358775" algn="l" rtl="0">
              <a:lnSpc>
                <a:spcPct val="100000"/>
              </a:lnSpc>
              <a:spcBef>
                <a:spcPts val="994"/>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The value NAN is used to represent a value that is an error.</a:t>
            </a:r>
            <a:endParaRPr sz="2400" b="0" i="0" u="none" strike="noStrike" cap="none">
              <a:solidFill>
                <a:schemeClr val="dk1"/>
              </a:solidFill>
              <a:latin typeface="Times New Roman"/>
              <a:ea typeface="Times New Roman"/>
              <a:cs typeface="Times New Roman"/>
              <a:sym typeface="Times New Roman"/>
            </a:endParaRPr>
          </a:p>
          <a:p>
            <a:pPr marL="727710" marR="316865" lvl="1" indent="-358140" algn="l" rtl="0">
              <a:lnSpc>
                <a:spcPct val="100000"/>
              </a:lnSpc>
              <a:spcBef>
                <a:spcPts val="1010"/>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This is represented when exponent field is all ones with a zero sign bit or a  mantissa that it not 1 followed by zeros.</a:t>
            </a:r>
            <a:endParaRPr/>
          </a:p>
          <a:p>
            <a:pPr marL="727710" marR="0" lvl="1" indent="-358775" algn="l" rtl="0">
              <a:lnSpc>
                <a:spcPct val="100000"/>
              </a:lnSpc>
              <a:spcBef>
                <a:spcPts val="994"/>
              </a:spcBef>
              <a:spcAft>
                <a:spcPts val="0"/>
              </a:spcAft>
              <a:buClr>
                <a:schemeClr val="dk1"/>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This is a special value that might be used to denote a variable that doesn’t yet</a:t>
            </a:r>
            <a:endParaRPr/>
          </a:p>
          <a:p>
            <a:pPr marL="727710" marR="0"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hold a value.</a:t>
            </a:r>
            <a:endParaRPr/>
          </a:p>
        </p:txBody>
      </p:sp>
      <p:pic>
        <p:nvPicPr>
          <p:cNvPr id="860" name="Google Shape;860;p125"/>
          <p:cNvPicPr preferRelativeResize="0"/>
          <p:nvPr/>
        </p:nvPicPr>
        <p:blipFill rotWithShape="1">
          <a:blip r:embed="rId3">
            <a:alphaModFix/>
          </a:blip>
          <a:srcRect/>
          <a:stretch/>
        </p:blipFill>
        <p:spPr>
          <a:xfrm>
            <a:off x="10054840" y="142215"/>
            <a:ext cx="1945944" cy="661109"/>
          </a:xfrm>
          <a:prstGeom prst="rect">
            <a:avLst/>
          </a:prstGeom>
          <a:noFill/>
          <a:ln>
            <a:noFill/>
          </a:ln>
        </p:spPr>
      </p:pic>
      <p:graphicFrame>
        <p:nvGraphicFramePr>
          <p:cNvPr id="861" name="Google Shape;861;p125"/>
          <p:cNvGraphicFramePr/>
          <p:nvPr/>
        </p:nvGraphicFramePr>
        <p:xfrm>
          <a:off x="422275" y="3514090"/>
          <a:ext cx="5570850" cy="3337550"/>
        </p:xfrm>
        <a:graphic>
          <a:graphicData uri="http://schemas.openxmlformats.org/drawingml/2006/table">
            <a:tbl>
              <a:tblPr firstRow="1" bandRow="1">
                <a:noFill/>
                <a:tableStyleId>{7B4984F8-A8F8-455D-BC84-363041B57BD0}</a:tableStyleId>
              </a:tblPr>
              <a:tblGrid>
                <a:gridCol w="1511300">
                  <a:extLst>
                    <a:ext uri="{9D8B030D-6E8A-4147-A177-3AD203B41FA5}">
                      <a16:colId xmlns:a16="http://schemas.microsoft.com/office/drawing/2014/main" val="20000"/>
                    </a:ext>
                  </a:extLst>
                </a:gridCol>
                <a:gridCol w="1689100">
                  <a:extLst>
                    <a:ext uri="{9D8B030D-6E8A-4147-A177-3AD203B41FA5}">
                      <a16:colId xmlns:a16="http://schemas.microsoft.com/office/drawing/2014/main" val="20001"/>
                    </a:ext>
                  </a:extLst>
                </a:gridCol>
                <a:gridCol w="2370450">
                  <a:extLst>
                    <a:ext uri="{9D8B030D-6E8A-4147-A177-3AD203B41FA5}">
                      <a16:colId xmlns:a16="http://schemas.microsoft.com/office/drawing/2014/main" val="20002"/>
                    </a:ext>
                  </a:extLst>
                </a:gridCol>
              </a:tblGrid>
              <a:tr h="556250">
                <a:tc gridSpan="3">
                  <a:txBody>
                    <a:bodyPr/>
                    <a:lstStyle/>
                    <a:p>
                      <a:pPr marL="0" marR="0" lvl="0" indent="0" algn="ctr" rtl="0">
                        <a:lnSpc>
                          <a:spcPct val="100000"/>
                        </a:lnSpc>
                        <a:spcBef>
                          <a:spcPts val="0"/>
                        </a:spcBef>
                        <a:spcAft>
                          <a:spcPts val="0"/>
                        </a:spcAft>
                        <a:buNone/>
                      </a:pPr>
                      <a:r>
                        <a:rPr lang="en-US" sz="2400" b="1" u="none" strike="noStrike" cap="none">
                          <a:latin typeface="Times New Roman"/>
                          <a:ea typeface="Times New Roman"/>
                          <a:cs typeface="Times New Roman"/>
                          <a:sym typeface="Times New Roman"/>
                        </a:rPr>
                        <a:t>Single Precision</a:t>
                      </a:r>
                      <a:endParaRPr sz="2400" u="none" strike="noStrike" cap="none">
                        <a:latin typeface="Times New Roman"/>
                        <a:ea typeface="Times New Roman"/>
                        <a:cs typeface="Times New Roman"/>
                        <a:sym typeface="Times New Roman"/>
                      </a:endParaRPr>
                    </a:p>
                  </a:txBody>
                  <a:tcPr marL="0" marR="0" marT="85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95300">
                <a:tc>
                  <a:txBody>
                    <a:bodyPr/>
                    <a:lstStyle/>
                    <a:p>
                      <a:pPr marL="0" marR="0" lvl="0" indent="0" algn="ctr" rtl="0">
                        <a:lnSpc>
                          <a:spcPct val="100000"/>
                        </a:lnSpc>
                        <a:spcBef>
                          <a:spcPts val="0"/>
                        </a:spcBef>
                        <a:spcAft>
                          <a:spcPts val="0"/>
                        </a:spcAft>
                        <a:buNone/>
                      </a:pPr>
                      <a:r>
                        <a:rPr lang="en-US" sz="2000" b="1" u="none" strike="noStrike" cap="none">
                          <a:latin typeface="Times New Roman"/>
                          <a:ea typeface="Times New Roman"/>
                          <a:cs typeface="Times New Roman"/>
                          <a:sym typeface="Times New Roman"/>
                        </a:rPr>
                        <a:t>Exponent</a:t>
                      </a:r>
                      <a:endParaRPr sz="2000" u="none" strike="noStrike" cap="none">
                        <a:latin typeface="Times New Roman"/>
                        <a:ea typeface="Times New Roman"/>
                        <a:cs typeface="Times New Roman"/>
                        <a:sym typeface="Times New Roman"/>
                      </a:endParaRPr>
                    </a:p>
                  </a:txBody>
                  <a:tcPr marL="0" marR="0" marT="87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2000" b="1" u="none" strike="noStrike" cap="none">
                          <a:latin typeface="Times New Roman"/>
                          <a:ea typeface="Times New Roman"/>
                          <a:cs typeface="Times New Roman"/>
                          <a:sym typeface="Times New Roman"/>
                        </a:rPr>
                        <a:t>Mantisa</a:t>
                      </a:r>
                      <a:endParaRPr sz="2000" u="none" strike="noStrike" cap="none">
                        <a:latin typeface="Times New Roman"/>
                        <a:ea typeface="Times New Roman"/>
                        <a:cs typeface="Times New Roman"/>
                        <a:sym typeface="Times New Roman"/>
                      </a:endParaRPr>
                    </a:p>
                  </a:txBody>
                  <a:tcPr marL="0" marR="0" marT="87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a:latin typeface="Times New Roman"/>
                          <a:ea typeface="Times New Roman"/>
                          <a:cs typeface="Times New Roman"/>
                          <a:sym typeface="Times New Roman"/>
                        </a:rPr>
                        <a:t>Value</a:t>
                      </a:r>
                      <a:endParaRPr sz="2000" u="none" strike="noStrike" cap="none">
                        <a:latin typeface="Times New Roman"/>
                        <a:ea typeface="Times New Roman"/>
                        <a:cs typeface="Times New Roman"/>
                        <a:sym typeface="Times New Roman"/>
                      </a:endParaRPr>
                    </a:p>
                  </a:txBody>
                  <a:tcPr marL="0" marR="0" marT="87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71500">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0</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0</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exact 0</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71500">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255</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0</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Infinity</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71500">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0</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not 0</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denormalised</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71500">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255</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not 0</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905"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Not a number (NAN)</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862" name="Google Shape;862;p125"/>
          <p:cNvGraphicFramePr/>
          <p:nvPr/>
        </p:nvGraphicFramePr>
        <p:xfrm>
          <a:off x="6313804" y="3514090"/>
          <a:ext cx="5573375" cy="3337550"/>
        </p:xfrm>
        <a:graphic>
          <a:graphicData uri="http://schemas.openxmlformats.org/drawingml/2006/table">
            <a:tbl>
              <a:tblPr firstRow="1" bandRow="1">
                <a:noFill/>
                <a:tableStyleId>{7B4984F8-A8F8-455D-BC84-363041B57BD0}</a:tableStyleId>
              </a:tblPr>
              <a:tblGrid>
                <a:gridCol w="1511925">
                  <a:extLst>
                    <a:ext uri="{9D8B030D-6E8A-4147-A177-3AD203B41FA5}">
                      <a16:colId xmlns:a16="http://schemas.microsoft.com/office/drawing/2014/main" val="20000"/>
                    </a:ext>
                  </a:extLst>
                </a:gridCol>
                <a:gridCol w="1689725">
                  <a:extLst>
                    <a:ext uri="{9D8B030D-6E8A-4147-A177-3AD203B41FA5}">
                      <a16:colId xmlns:a16="http://schemas.microsoft.com/office/drawing/2014/main" val="20001"/>
                    </a:ext>
                  </a:extLst>
                </a:gridCol>
                <a:gridCol w="2371725">
                  <a:extLst>
                    <a:ext uri="{9D8B030D-6E8A-4147-A177-3AD203B41FA5}">
                      <a16:colId xmlns:a16="http://schemas.microsoft.com/office/drawing/2014/main" val="20002"/>
                    </a:ext>
                  </a:extLst>
                </a:gridCol>
              </a:tblGrid>
              <a:tr h="556250">
                <a:tc gridSpan="3">
                  <a:txBody>
                    <a:bodyPr/>
                    <a:lstStyle/>
                    <a:p>
                      <a:pPr marL="0" marR="0" lvl="0" indent="0" algn="ctr" rtl="0">
                        <a:lnSpc>
                          <a:spcPct val="100000"/>
                        </a:lnSpc>
                        <a:spcBef>
                          <a:spcPts val="0"/>
                        </a:spcBef>
                        <a:spcAft>
                          <a:spcPts val="0"/>
                        </a:spcAft>
                        <a:buNone/>
                      </a:pPr>
                      <a:r>
                        <a:rPr lang="en-US" sz="2400" b="1" u="none" strike="noStrike" cap="none">
                          <a:latin typeface="Times New Roman"/>
                          <a:ea typeface="Times New Roman"/>
                          <a:cs typeface="Times New Roman"/>
                          <a:sym typeface="Times New Roman"/>
                        </a:rPr>
                        <a:t>Double Precision</a:t>
                      </a:r>
                      <a:endParaRPr sz="2400" u="none" strike="noStrike" cap="none">
                        <a:latin typeface="Times New Roman"/>
                        <a:ea typeface="Times New Roman"/>
                        <a:cs typeface="Times New Roman"/>
                        <a:sym typeface="Times New Roman"/>
                      </a:endParaRPr>
                    </a:p>
                  </a:txBody>
                  <a:tcPr marL="0" marR="0" marT="85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95300">
                <a:tc>
                  <a:txBody>
                    <a:bodyPr/>
                    <a:lstStyle/>
                    <a:p>
                      <a:pPr marL="1270" marR="0" lvl="0" indent="0" algn="ctr" rtl="0">
                        <a:lnSpc>
                          <a:spcPct val="100000"/>
                        </a:lnSpc>
                        <a:spcBef>
                          <a:spcPts val="0"/>
                        </a:spcBef>
                        <a:spcAft>
                          <a:spcPts val="0"/>
                        </a:spcAft>
                        <a:buNone/>
                      </a:pPr>
                      <a:r>
                        <a:rPr lang="en-US" sz="2000" b="1" u="none" strike="noStrike" cap="none">
                          <a:latin typeface="Times New Roman"/>
                          <a:ea typeface="Times New Roman"/>
                          <a:cs typeface="Times New Roman"/>
                          <a:sym typeface="Times New Roman"/>
                        </a:rPr>
                        <a:t>Exponent</a:t>
                      </a:r>
                      <a:endParaRPr sz="2000" u="none" strike="noStrike" cap="none">
                        <a:latin typeface="Times New Roman"/>
                        <a:ea typeface="Times New Roman"/>
                        <a:cs typeface="Times New Roman"/>
                        <a:sym typeface="Times New Roman"/>
                      </a:endParaRPr>
                    </a:p>
                  </a:txBody>
                  <a:tcPr marL="0" marR="0" marT="87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None/>
                      </a:pPr>
                      <a:r>
                        <a:rPr lang="en-US" sz="2000" b="1" u="none" strike="noStrike" cap="none">
                          <a:latin typeface="Times New Roman"/>
                          <a:ea typeface="Times New Roman"/>
                          <a:cs typeface="Times New Roman"/>
                          <a:sym typeface="Times New Roman"/>
                        </a:rPr>
                        <a:t>Mantisa</a:t>
                      </a:r>
                      <a:endParaRPr sz="2000" u="none" strike="noStrike" cap="none">
                        <a:latin typeface="Times New Roman"/>
                        <a:ea typeface="Times New Roman"/>
                        <a:cs typeface="Times New Roman"/>
                        <a:sym typeface="Times New Roman"/>
                      </a:endParaRPr>
                    </a:p>
                  </a:txBody>
                  <a:tcPr marL="0" marR="0" marT="87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2000" b="1" u="none" strike="noStrike" cap="none">
                          <a:latin typeface="Times New Roman"/>
                          <a:ea typeface="Times New Roman"/>
                          <a:cs typeface="Times New Roman"/>
                          <a:sym typeface="Times New Roman"/>
                        </a:rPr>
                        <a:t>Value</a:t>
                      </a:r>
                      <a:endParaRPr sz="2000" u="none" strike="noStrike" cap="none">
                        <a:latin typeface="Times New Roman"/>
                        <a:ea typeface="Times New Roman"/>
                        <a:cs typeface="Times New Roman"/>
                        <a:sym typeface="Times New Roman"/>
                      </a:endParaRPr>
                    </a:p>
                  </a:txBody>
                  <a:tcPr marL="0" marR="0" marT="87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71500">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0</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0</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exact 0</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71500">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2049</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0</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Infinity</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71500">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0</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not 0</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denormalised</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71500">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2049</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not 0</a:t>
                      </a:r>
                      <a:endParaRPr sz="2000" u="none" strike="noStrike" cap="none">
                        <a:latin typeface="Times New Roman"/>
                        <a:ea typeface="Times New Roman"/>
                        <a:cs typeface="Times New Roman"/>
                        <a:sym typeface="Times New Roman"/>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175" marR="0" lvl="0" indent="0" algn="ctr"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Not a number (NAN)</a:t>
                      </a:r>
                      <a:endParaRPr/>
                    </a:p>
                  </a:txBody>
                  <a:tcPr marL="0" marR="0" marT="11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126"/>
          <p:cNvSpPr txBox="1">
            <a:spLocks noGrp="1"/>
          </p:cNvSpPr>
          <p:nvPr>
            <p:ph type="title"/>
          </p:nvPr>
        </p:nvSpPr>
        <p:spPr>
          <a:xfrm>
            <a:off x="616712" y="0"/>
            <a:ext cx="8131809" cy="69659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400"/>
              <a:buFont typeface="Calibri"/>
              <a:buNone/>
            </a:pPr>
            <a:r>
              <a:rPr lang="en-US"/>
              <a:t>Ranges of Floating point numbers</a:t>
            </a:r>
            <a:endParaRPr/>
          </a:p>
        </p:txBody>
      </p:sp>
      <p:sp>
        <p:nvSpPr>
          <p:cNvPr id="868" name="Google Shape;868;p126"/>
          <p:cNvSpPr txBox="1"/>
          <p:nvPr/>
        </p:nvSpPr>
        <p:spPr>
          <a:xfrm>
            <a:off x="924255" y="684738"/>
            <a:ext cx="10654665" cy="6102350"/>
          </a:xfrm>
          <a:prstGeom prst="rect">
            <a:avLst/>
          </a:prstGeom>
          <a:noFill/>
          <a:ln>
            <a:noFill/>
          </a:ln>
        </p:spPr>
        <p:txBody>
          <a:bodyPr spcFirstLastPara="1" wrap="square" lIns="0" tIns="196200" rIns="0" bIns="0" anchor="t" anchorCtr="0">
            <a:spAutoFit/>
          </a:bodyPr>
          <a:lstStyle/>
          <a:p>
            <a:pPr marL="370840" marR="0" lvl="0" indent="-358775" algn="l" rtl="0">
              <a:lnSpc>
                <a:spcPct val="100000"/>
              </a:lnSpc>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The range of positive floating point numbers can be split into normalized numbers,</a:t>
            </a:r>
            <a:endParaRPr sz="2400">
              <a:solidFill>
                <a:schemeClr val="dk1"/>
              </a:solidFill>
              <a:latin typeface="Times New Roman"/>
              <a:ea typeface="Times New Roman"/>
              <a:cs typeface="Times New Roman"/>
              <a:sym typeface="Times New Roman"/>
            </a:endParaRPr>
          </a:p>
          <a:p>
            <a:pPr marL="370840" marR="0" lvl="0" indent="0" algn="l" rtl="0">
              <a:lnSpc>
                <a:spcPct val="100000"/>
              </a:lnSpc>
              <a:spcBef>
                <a:spcPts val="1445"/>
              </a:spcBef>
              <a:spcAft>
                <a:spcPts val="0"/>
              </a:spcAft>
              <a:buNone/>
            </a:pPr>
            <a:r>
              <a:rPr lang="en-US" sz="2400">
                <a:solidFill>
                  <a:schemeClr val="dk1"/>
                </a:solidFill>
                <a:latin typeface="Times New Roman"/>
                <a:ea typeface="Times New Roman"/>
                <a:cs typeface="Times New Roman"/>
                <a:sym typeface="Times New Roman"/>
              </a:rPr>
              <a:t>and denormalized numbers which use only a portion of the fractions’s precision.</a:t>
            </a:r>
            <a:endParaRPr sz="2400">
              <a:solidFill>
                <a:schemeClr val="dk1"/>
              </a:solidFill>
              <a:latin typeface="Times New Roman"/>
              <a:ea typeface="Times New Roman"/>
              <a:cs typeface="Times New Roman"/>
              <a:sym typeface="Times New Roman"/>
            </a:endParaRPr>
          </a:p>
          <a:p>
            <a:pPr marL="370840" marR="349885" lvl="0" indent="-358775" algn="l" rtl="0">
              <a:lnSpc>
                <a:spcPct val="150100"/>
              </a:lnSpc>
              <a:spcBef>
                <a:spcPts val="99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Since every floating-point number has a corresponding, negated value, the ranges  above are symmetric around zero.</a:t>
            </a:r>
            <a:endParaRPr sz="2400">
              <a:solidFill>
                <a:schemeClr val="dk1"/>
              </a:solidFill>
              <a:latin typeface="Times New Roman"/>
              <a:ea typeface="Times New Roman"/>
              <a:cs typeface="Times New Roman"/>
              <a:sym typeface="Times New Roman"/>
            </a:endParaRPr>
          </a:p>
          <a:p>
            <a:pPr marL="370840" marR="5080" lvl="0" indent="-358775" algn="l" rtl="0">
              <a:lnSpc>
                <a:spcPct val="150000"/>
              </a:lnSpc>
              <a:spcBef>
                <a:spcPts val="101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There are five distinct numerical ranges that single-precision floating-point numbers  are not able to represent with the scheme presented so far:</a:t>
            </a:r>
            <a:endParaRPr sz="2400">
              <a:solidFill>
                <a:schemeClr val="dk1"/>
              </a:solidFill>
              <a:latin typeface="Times New Roman"/>
              <a:ea typeface="Times New Roman"/>
              <a:cs typeface="Times New Roman"/>
              <a:sym typeface="Times New Roman"/>
            </a:endParaRPr>
          </a:p>
          <a:p>
            <a:pPr marL="913130" marR="0" lvl="1" indent="-457834" algn="l" rtl="0">
              <a:lnSpc>
                <a:spcPct val="100000"/>
              </a:lnSpc>
              <a:spcBef>
                <a:spcPts val="1515"/>
              </a:spcBef>
              <a:spcAft>
                <a:spcPts val="0"/>
              </a:spcAft>
              <a:buClr>
                <a:schemeClr val="dk1"/>
              </a:buClr>
              <a:buSzPts val="2400"/>
              <a:buFont typeface="Times New Roman"/>
              <a:buAutoNum type="arabicPeriod"/>
            </a:pPr>
            <a:r>
              <a:rPr lang="en-US" sz="2400" b="0" i="0" u="none" strike="noStrike" cap="none">
                <a:solidFill>
                  <a:schemeClr val="dk1"/>
                </a:solidFill>
                <a:latin typeface="Times New Roman"/>
                <a:ea typeface="Times New Roman"/>
                <a:cs typeface="Times New Roman"/>
                <a:sym typeface="Times New Roman"/>
              </a:rPr>
              <a:t>Negative numbers less than – (2 – 2-23) × 2127 (negative overflow)</a:t>
            </a:r>
            <a:endParaRPr sz="2400" b="0" i="0" u="none" strike="noStrike" cap="none">
              <a:solidFill>
                <a:schemeClr val="dk1"/>
              </a:solidFill>
              <a:latin typeface="Times New Roman"/>
              <a:ea typeface="Times New Roman"/>
              <a:cs typeface="Times New Roman"/>
              <a:sym typeface="Times New Roman"/>
            </a:endParaRPr>
          </a:p>
          <a:p>
            <a:pPr marL="913130" marR="0" lvl="1" indent="-457834" algn="l" rtl="0">
              <a:lnSpc>
                <a:spcPct val="100000"/>
              </a:lnSpc>
              <a:spcBef>
                <a:spcPts val="994"/>
              </a:spcBef>
              <a:spcAft>
                <a:spcPts val="0"/>
              </a:spcAft>
              <a:buClr>
                <a:schemeClr val="dk1"/>
              </a:buClr>
              <a:buSzPts val="2400"/>
              <a:buFont typeface="Times New Roman"/>
              <a:buAutoNum type="arabicPeriod"/>
            </a:pPr>
            <a:r>
              <a:rPr lang="en-US" sz="2400" b="0" i="0" u="none" strike="noStrike" cap="none">
                <a:solidFill>
                  <a:schemeClr val="dk1"/>
                </a:solidFill>
                <a:latin typeface="Times New Roman"/>
                <a:ea typeface="Times New Roman"/>
                <a:cs typeface="Times New Roman"/>
                <a:sym typeface="Times New Roman"/>
              </a:rPr>
              <a:t>Negative numbers greater than – 2-149 (negative underflow)</a:t>
            </a:r>
            <a:endParaRPr sz="2400" b="0" i="0" u="none" strike="noStrike" cap="none">
              <a:solidFill>
                <a:schemeClr val="dk1"/>
              </a:solidFill>
              <a:latin typeface="Times New Roman"/>
              <a:ea typeface="Times New Roman"/>
              <a:cs typeface="Times New Roman"/>
              <a:sym typeface="Times New Roman"/>
            </a:endParaRPr>
          </a:p>
          <a:p>
            <a:pPr marL="913130" marR="0" lvl="1" indent="-457834" algn="l" rtl="0">
              <a:lnSpc>
                <a:spcPct val="100000"/>
              </a:lnSpc>
              <a:spcBef>
                <a:spcPts val="1010"/>
              </a:spcBef>
              <a:spcAft>
                <a:spcPts val="0"/>
              </a:spcAft>
              <a:buClr>
                <a:schemeClr val="dk1"/>
              </a:buClr>
              <a:buSzPts val="2400"/>
              <a:buFont typeface="Times New Roman"/>
              <a:buAutoNum type="arabicPeriod"/>
            </a:pPr>
            <a:r>
              <a:rPr lang="en-US" sz="2400" b="0" i="0" u="none" strike="noStrike" cap="none">
                <a:solidFill>
                  <a:schemeClr val="dk1"/>
                </a:solidFill>
                <a:latin typeface="Times New Roman"/>
                <a:ea typeface="Times New Roman"/>
                <a:cs typeface="Times New Roman"/>
                <a:sym typeface="Times New Roman"/>
              </a:rPr>
              <a:t>Zero</a:t>
            </a:r>
            <a:endParaRPr sz="2400" b="0" i="0" u="none" strike="noStrike" cap="none">
              <a:solidFill>
                <a:schemeClr val="dk1"/>
              </a:solidFill>
              <a:latin typeface="Times New Roman"/>
              <a:ea typeface="Times New Roman"/>
              <a:cs typeface="Times New Roman"/>
              <a:sym typeface="Times New Roman"/>
            </a:endParaRPr>
          </a:p>
          <a:p>
            <a:pPr marL="913130" marR="0" lvl="1" indent="-457834" algn="l" rtl="0">
              <a:lnSpc>
                <a:spcPct val="100000"/>
              </a:lnSpc>
              <a:spcBef>
                <a:spcPts val="994"/>
              </a:spcBef>
              <a:spcAft>
                <a:spcPts val="0"/>
              </a:spcAft>
              <a:buClr>
                <a:schemeClr val="dk1"/>
              </a:buClr>
              <a:buSzPts val="2400"/>
              <a:buFont typeface="Times New Roman"/>
              <a:buAutoNum type="arabicPeriod"/>
            </a:pPr>
            <a:r>
              <a:rPr lang="en-US" sz="2400" b="0" i="0" u="none" strike="noStrike" cap="none">
                <a:solidFill>
                  <a:schemeClr val="dk1"/>
                </a:solidFill>
                <a:latin typeface="Times New Roman"/>
                <a:ea typeface="Times New Roman"/>
                <a:cs typeface="Times New Roman"/>
                <a:sym typeface="Times New Roman"/>
              </a:rPr>
              <a:t>Positive numbers less than 2-149 (positive underflow)</a:t>
            </a:r>
            <a:endParaRPr sz="2400" b="0" i="0" u="none" strike="noStrike" cap="none">
              <a:solidFill>
                <a:schemeClr val="dk1"/>
              </a:solidFill>
              <a:latin typeface="Times New Roman"/>
              <a:ea typeface="Times New Roman"/>
              <a:cs typeface="Times New Roman"/>
              <a:sym typeface="Times New Roman"/>
            </a:endParaRPr>
          </a:p>
          <a:p>
            <a:pPr marL="913130" marR="0" lvl="1" indent="-457834" algn="l" rtl="0">
              <a:lnSpc>
                <a:spcPct val="100000"/>
              </a:lnSpc>
              <a:spcBef>
                <a:spcPts val="994"/>
              </a:spcBef>
              <a:spcAft>
                <a:spcPts val="0"/>
              </a:spcAft>
              <a:buClr>
                <a:schemeClr val="dk1"/>
              </a:buClr>
              <a:buSzPts val="2400"/>
              <a:buFont typeface="Times New Roman"/>
              <a:buAutoNum type="arabicPeriod"/>
            </a:pPr>
            <a:r>
              <a:rPr lang="en-US" sz="2400" b="0" i="0" u="none" strike="noStrike" cap="none">
                <a:solidFill>
                  <a:schemeClr val="dk1"/>
                </a:solidFill>
                <a:latin typeface="Times New Roman"/>
                <a:ea typeface="Times New Roman"/>
                <a:cs typeface="Times New Roman"/>
                <a:sym typeface="Times New Roman"/>
              </a:rPr>
              <a:t>Positive numbers greater than (2 – 2-23) × 2127 (positive overflow)</a:t>
            </a:r>
            <a:endParaRPr sz="2400" b="0" i="0" u="none" strike="noStrike" cap="none">
              <a:solidFill>
                <a:schemeClr val="dk1"/>
              </a:solidFill>
              <a:latin typeface="Times New Roman"/>
              <a:ea typeface="Times New Roman"/>
              <a:cs typeface="Times New Roman"/>
              <a:sym typeface="Times New Roman"/>
            </a:endParaRPr>
          </a:p>
        </p:txBody>
      </p:sp>
      <p:pic>
        <p:nvPicPr>
          <p:cNvPr id="869" name="Google Shape;869;p126"/>
          <p:cNvPicPr preferRelativeResize="0"/>
          <p:nvPr/>
        </p:nvPicPr>
        <p:blipFill rotWithShape="1">
          <a:blip r:embed="rId3">
            <a:alphaModFix/>
          </a:blip>
          <a:srcRect/>
          <a:stretch/>
        </p:blipFill>
        <p:spPr>
          <a:xfrm>
            <a:off x="10027919" y="0"/>
            <a:ext cx="2049779" cy="957072"/>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127"/>
          <p:cNvSpPr txBox="1">
            <a:spLocks noGrp="1"/>
          </p:cNvSpPr>
          <p:nvPr>
            <p:ph type="title"/>
          </p:nvPr>
        </p:nvSpPr>
        <p:spPr>
          <a:xfrm>
            <a:off x="916939" y="77470"/>
            <a:ext cx="8134350" cy="69659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400"/>
              <a:buFont typeface="Calibri"/>
              <a:buNone/>
            </a:pPr>
            <a:r>
              <a:rPr lang="en-US"/>
              <a:t>Ranges of Floating point numbers</a:t>
            </a:r>
            <a:endParaRPr/>
          </a:p>
        </p:txBody>
      </p:sp>
      <p:pic>
        <p:nvPicPr>
          <p:cNvPr id="875" name="Google Shape;875;p127"/>
          <p:cNvPicPr preferRelativeResize="0"/>
          <p:nvPr/>
        </p:nvPicPr>
        <p:blipFill rotWithShape="1">
          <a:blip r:embed="rId3">
            <a:alphaModFix/>
          </a:blip>
          <a:srcRect/>
          <a:stretch/>
        </p:blipFill>
        <p:spPr>
          <a:xfrm>
            <a:off x="10054840" y="142215"/>
            <a:ext cx="1945944" cy="661109"/>
          </a:xfrm>
          <a:prstGeom prst="rect">
            <a:avLst/>
          </a:prstGeom>
          <a:noFill/>
          <a:ln>
            <a:noFill/>
          </a:ln>
        </p:spPr>
      </p:pic>
      <p:graphicFrame>
        <p:nvGraphicFramePr>
          <p:cNvPr id="876" name="Google Shape;876;p127"/>
          <p:cNvGraphicFramePr/>
          <p:nvPr/>
        </p:nvGraphicFramePr>
        <p:xfrm>
          <a:off x="1517650" y="3614165"/>
          <a:ext cx="9077325" cy="2580275"/>
        </p:xfrm>
        <a:graphic>
          <a:graphicData uri="http://schemas.openxmlformats.org/drawingml/2006/table">
            <a:tbl>
              <a:tblPr firstRow="1" bandRow="1">
                <a:noFill/>
                <a:tableStyleId>{7B4984F8-A8F8-455D-BC84-363041B57BD0}</a:tableStyleId>
              </a:tblPr>
              <a:tblGrid>
                <a:gridCol w="2462525">
                  <a:extLst>
                    <a:ext uri="{9D8B030D-6E8A-4147-A177-3AD203B41FA5}">
                      <a16:colId xmlns:a16="http://schemas.microsoft.com/office/drawing/2014/main" val="20000"/>
                    </a:ext>
                  </a:extLst>
                </a:gridCol>
                <a:gridCol w="2752100">
                  <a:extLst>
                    <a:ext uri="{9D8B030D-6E8A-4147-A177-3AD203B41FA5}">
                      <a16:colId xmlns:a16="http://schemas.microsoft.com/office/drawing/2014/main" val="20001"/>
                    </a:ext>
                  </a:extLst>
                </a:gridCol>
                <a:gridCol w="3862700">
                  <a:extLst>
                    <a:ext uri="{9D8B030D-6E8A-4147-A177-3AD203B41FA5}">
                      <a16:colId xmlns:a16="http://schemas.microsoft.com/office/drawing/2014/main" val="20002"/>
                    </a:ext>
                  </a:extLst>
                </a:gridCol>
              </a:tblGrid>
              <a:tr h="841625">
                <a:tc>
                  <a:txBody>
                    <a:bodyPr/>
                    <a:lstStyle/>
                    <a:p>
                      <a:pPr marL="0" marR="0" lvl="0" indent="0" algn="l" rtl="0">
                        <a:lnSpc>
                          <a:spcPct val="100000"/>
                        </a:lnSpc>
                        <a:spcBef>
                          <a:spcPts val="0"/>
                        </a:spcBef>
                        <a:spcAft>
                          <a:spcPts val="0"/>
                        </a:spcAft>
                        <a:buNone/>
                      </a:pPr>
                      <a:endParaRPr sz="24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b="1" u="none" strike="noStrike" cap="none">
                          <a:latin typeface="Times New Roman"/>
                          <a:ea typeface="Times New Roman"/>
                          <a:cs typeface="Times New Roman"/>
                          <a:sym typeface="Times New Roman"/>
                        </a:rPr>
                        <a:t>Binary</a:t>
                      </a:r>
                      <a:endParaRPr sz="2400" u="none" strike="noStrike" cap="none">
                        <a:latin typeface="Times New Roman"/>
                        <a:ea typeface="Times New Roman"/>
                        <a:cs typeface="Times New Roman"/>
                        <a:sym typeface="Times New Roman"/>
                      </a:endParaRPr>
                    </a:p>
                  </a:txBody>
                  <a:tcPr marL="0" marR="0" marT="2279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b="1" u="none" strike="noStrike" cap="none">
                          <a:latin typeface="Times New Roman"/>
                          <a:ea typeface="Times New Roman"/>
                          <a:cs typeface="Times New Roman"/>
                          <a:sym typeface="Times New Roman"/>
                        </a:rPr>
                        <a:t>Decimal</a:t>
                      </a:r>
                      <a:endParaRPr sz="2400" u="none" strike="noStrike" cap="none">
                        <a:latin typeface="Times New Roman"/>
                        <a:ea typeface="Times New Roman"/>
                        <a:cs typeface="Times New Roman"/>
                        <a:sym typeface="Times New Roman"/>
                      </a:endParaRPr>
                    </a:p>
                  </a:txBody>
                  <a:tcPr marL="0" marR="0" marT="2279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869325">
                <a:tc>
                  <a:txBody>
                    <a:bodyPr/>
                    <a:lstStyle/>
                    <a:p>
                      <a:pPr marL="95250" marR="0" lvl="0" indent="0" algn="l" rtl="0">
                        <a:lnSpc>
                          <a:spcPct val="100000"/>
                        </a:lnSpc>
                        <a:spcBef>
                          <a:spcPts val="0"/>
                        </a:spcBef>
                        <a:spcAft>
                          <a:spcPts val="0"/>
                        </a:spcAft>
                        <a:buNone/>
                      </a:pPr>
                      <a:r>
                        <a:rPr lang="en-US" sz="2400" b="1" u="none" strike="noStrike" cap="none">
                          <a:latin typeface="Times New Roman"/>
                          <a:ea typeface="Times New Roman"/>
                          <a:cs typeface="Times New Roman"/>
                          <a:sym typeface="Times New Roman"/>
                        </a:rPr>
                        <a:t>Single Precision</a:t>
                      </a:r>
                      <a:endParaRPr sz="2400" u="none" strike="noStrike" cap="none">
                        <a:latin typeface="Times New Roman"/>
                        <a:ea typeface="Times New Roman"/>
                        <a:cs typeface="Times New Roman"/>
                        <a:sym typeface="Times New Roman"/>
                      </a:endParaRPr>
                    </a:p>
                  </a:txBody>
                  <a:tcPr marL="0" marR="0" marT="2330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5250" marR="0" lvl="0" indent="0" algn="l"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 (2 – 2</a:t>
                      </a:r>
                      <a:r>
                        <a:rPr lang="en-US" sz="2400" u="none" strike="noStrike" cap="none" baseline="30000">
                          <a:latin typeface="Times New Roman"/>
                          <a:ea typeface="Times New Roman"/>
                          <a:cs typeface="Times New Roman"/>
                          <a:sym typeface="Times New Roman"/>
                        </a:rPr>
                        <a:t>-23</a:t>
                      </a:r>
                      <a:r>
                        <a:rPr lang="en-US" sz="2400" u="none" strike="noStrike" cap="none">
                          <a:latin typeface="Times New Roman"/>
                          <a:ea typeface="Times New Roman"/>
                          <a:cs typeface="Times New Roman"/>
                          <a:sym typeface="Times New Roman"/>
                        </a:rPr>
                        <a:t>) × 2</a:t>
                      </a:r>
                      <a:r>
                        <a:rPr lang="en-US" sz="2400" u="none" strike="noStrike" cap="none" baseline="30000">
                          <a:latin typeface="Times New Roman"/>
                          <a:ea typeface="Times New Roman"/>
                          <a:cs typeface="Times New Roman"/>
                          <a:sym typeface="Times New Roman"/>
                        </a:rPr>
                        <a:t>127</a:t>
                      </a:r>
                      <a:endParaRPr sz="2400" u="none" strike="noStrike" cap="none" baseline="30000">
                        <a:latin typeface="Times New Roman"/>
                        <a:ea typeface="Times New Roman"/>
                        <a:cs typeface="Times New Roman"/>
                        <a:sym typeface="Times New Roman"/>
                      </a:endParaRPr>
                    </a:p>
                  </a:txBody>
                  <a:tcPr marL="0" marR="0" marT="2330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5885" marR="0" lvl="0" indent="0" algn="l"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approximately ± 10</a:t>
                      </a:r>
                      <a:r>
                        <a:rPr lang="en-US" sz="2400" u="none" strike="noStrike" cap="none" baseline="30000">
                          <a:latin typeface="Times New Roman"/>
                          <a:ea typeface="Times New Roman"/>
                          <a:cs typeface="Times New Roman"/>
                          <a:sym typeface="Times New Roman"/>
                        </a:rPr>
                        <a:t>38.53</a:t>
                      </a:r>
                      <a:endParaRPr sz="2400" u="none" strike="noStrike" cap="none" baseline="30000">
                        <a:latin typeface="Times New Roman"/>
                        <a:ea typeface="Times New Roman"/>
                        <a:cs typeface="Times New Roman"/>
                        <a:sym typeface="Times New Roman"/>
                      </a:endParaRPr>
                    </a:p>
                  </a:txBody>
                  <a:tcPr marL="0" marR="0" marT="2330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69325">
                <a:tc>
                  <a:txBody>
                    <a:bodyPr/>
                    <a:lstStyle/>
                    <a:p>
                      <a:pPr marL="95250" marR="0" lvl="0" indent="0" algn="l" rtl="0">
                        <a:lnSpc>
                          <a:spcPct val="100000"/>
                        </a:lnSpc>
                        <a:spcBef>
                          <a:spcPts val="0"/>
                        </a:spcBef>
                        <a:spcAft>
                          <a:spcPts val="0"/>
                        </a:spcAft>
                        <a:buNone/>
                      </a:pPr>
                      <a:r>
                        <a:rPr lang="en-US" sz="2400" b="1" u="none" strike="noStrike" cap="none">
                          <a:latin typeface="Times New Roman"/>
                          <a:ea typeface="Times New Roman"/>
                          <a:cs typeface="Times New Roman"/>
                          <a:sym typeface="Times New Roman"/>
                        </a:rPr>
                        <a:t>Double Precision</a:t>
                      </a:r>
                      <a:endParaRPr sz="2400" u="none" strike="noStrike" cap="none">
                        <a:latin typeface="Times New Roman"/>
                        <a:ea typeface="Times New Roman"/>
                        <a:cs typeface="Times New Roman"/>
                        <a:sym typeface="Times New Roman"/>
                      </a:endParaRPr>
                    </a:p>
                  </a:txBody>
                  <a:tcPr marL="0" marR="0" marT="2330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5250" marR="0" lvl="0" indent="0" algn="l" rtl="0">
                        <a:lnSpc>
                          <a:spcPct val="100000"/>
                        </a:lnSpc>
                        <a:spcBef>
                          <a:spcPts val="0"/>
                        </a:spcBef>
                        <a:spcAft>
                          <a:spcPts val="0"/>
                        </a:spcAft>
                        <a:buNone/>
                      </a:pPr>
                      <a:r>
                        <a:rPr lang="en-US" sz="3600" u="none" strike="noStrike" cap="none" baseline="-25000">
                          <a:latin typeface="Times New Roman"/>
                          <a:ea typeface="Times New Roman"/>
                          <a:cs typeface="Times New Roman"/>
                          <a:sym typeface="Times New Roman"/>
                        </a:rPr>
                        <a:t>± (2 – 2</a:t>
                      </a:r>
                      <a:r>
                        <a:rPr lang="en-US" sz="1600" u="none" strike="noStrike" cap="none">
                          <a:latin typeface="Times New Roman"/>
                          <a:ea typeface="Times New Roman"/>
                          <a:cs typeface="Times New Roman"/>
                          <a:sym typeface="Times New Roman"/>
                        </a:rPr>
                        <a:t>-52) </a:t>
                      </a:r>
                      <a:r>
                        <a:rPr lang="en-US" sz="3600" u="none" strike="noStrike" cap="none" baseline="-25000">
                          <a:latin typeface="Times New Roman"/>
                          <a:ea typeface="Times New Roman"/>
                          <a:cs typeface="Times New Roman"/>
                          <a:sym typeface="Times New Roman"/>
                        </a:rPr>
                        <a:t>× 2</a:t>
                      </a:r>
                      <a:r>
                        <a:rPr lang="en-US" sz="1600" u="none" strike="noStrike" cap="none">
                          <a:latin typeface="Times New Roman"/>
                          <a:ea typeface="Times New Roman"/>
                          <a:cs typeface="Times New Roman"/>
                          <a:sym typeface="Times New Roman"/>
                        </a:rPr>
                        <a:t>1023</a:t>
                      </a:r>
                      <a:endParaRPr sz="1600" u="none" strike="noStrike" cap="none">
                        <a:latin typeface="Times New Roman"/>
                        <a:ea typeface="Times New Roman"/>
                        <a:cs typeface="Times New Roman"/>
                        <a:sym typeface="Times New Roman"/>
                      </a:endParaRPr>
                    </a:p>
                  </a:txBody>
                  <a:tcPr marL="0" marR="0" marT="1079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5885" marR="0" lvl="0" indent="0" algn="l"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approximately ± 10</a:t>
                      </a:r>
                      <a:r>
                        <a:rPr lang="en-US" sz="2400" u="none" strike="noStrike" cap="none" baseline="30000">
                          <a:latin typeface="Times New Roman"/>
                          <a:ea typeface="Times New Roman"/>
                          <a:cs typeface="Times New Roman"/>
                          <a:sym typeface="Times New Roman"/>
                        </a:rPr>
                        <a:t>308.25</a:t>
                      </a:r>
                      <a:endParaRPr sz="2400" u="none" strike="noStrike" cap="none" baseline="30000">
                        <a:latin typeface="Times New Roman"/>
                        <a:ea typeface="Times New Roman"/>
                        <a:cs typeface="Times New Roman"/>
                        <a:sym typeface="Times New Roman"/>
                      </a:endParaRPr>
                    </a:p>
                  </a:txBody>
                  <a:tcPr marL="0" marR="0" marT="2330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877" name="Google Shape;877;p127"/>
          <p:cNvSpPr txBox="1"/>
          <p:nvPr/>
        </p:nvSpPr>
        <p:spPr>
          <a:xfrm>
            <a:off x="781304" y="915014"/>
            <a:ext cx="9963785" cy="2346325"/>
          </a:xfrm>
          <a:prstGeom prst="rect">
            <a:avLst/>
          </a:prstGeom>
          <a:noFill/>
          <a:ln>
            <a:noFill/>
          </a:ln>
        </p:spPr>
        <p:txBody>
          <a:bodyPr spcFirstLastPara="1" wrap="square" lIns="0" tIns="12050" rIns="0" bIns="0" anchor="t" anchorCtr="0">
            <a:spAutoFit/>
          </a:bodyPr>
          <a:lstStyle/>
          <a:p>
            <a:pPr marL="370205" marR="5080" lvl="0" indent="-358140" algn="just" rtl="0">
              <a:lnSpc>
                <a:spcPct val="150000"/>
              </a:lnSpc>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Overflow generally means that values have grown too large to be represented.  Underflow is a less serious problem because is just denotes a loss of precision,  which is guaranteed to be closely approximated by zero.</a:t>
            </a: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None/>
            </a:pPr>
            <a:endParaRPr sz="21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The total effective range of finite IEEE floating-point numbers is</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p128"/>
          <p:cNvSpPr txBox="1">
            <a:spLocks noGrp="1"/>
          </p:cNvSpPr>
          <p:nvPr>
            <p:ph type="title"/>
          </p:nvPr>
        </p:nvSpPr>
        <p:spPr>
          <a:xfrm>
            <a:off x="616712" y="261620"/>
            <a:ext cx="7324725" cy="696595"/>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400"/>
              <a:buFont typeface="Calibri"/>
              <a:buNone/>
            </a:pPr>
            <a:r>
              <a:rPr lang="en-US"/>
              <a:t>IEEE 754 - Special Operations</a:t>
            </a:r>
            <a:endParaRPr/>
          </a:p>
        </p:txBody>
      </p:sp>
      <p:pic>
        <p:nvPicPr>
          <p:cNvPr id="883" name="Google Shape;883;p128"/>
          <p:cNvPicPr preferRelativeResize="0"/>
          <p:nvPr/>
        </p:nvPicPr>
        <p:blipFill rotWithShape="1">
          <a:blip r:embed="rId3">
            <a:alphaModFix/>
          </a:blip>
          <a:srcRect/>
          <a:stretch/>
        </p:blipFill>
        <p:spPr>
          <a:xfrm>
            <a:off x="10054840" y="142215"/>
            <a:ext cx="1945944" cy="661109"/>
          </a:xfrm>
          <a:prstGeom prst="rect">
            <a:avLst/>
          </a:prstGeom>
          <a:noFill/>
          <a:ln>
            <a:noFill/>
          </a:ln>
        </p:spPr>
      </p:pic>
      <p:graphicFrame>
        <p:nvGraphicFramePr>
          <p:cNvPr id="884" name="Google Shape;884;p128"/>
          <p:cNvGraphicFramePr/>
          <p:nvPr/>
        </p:nvGraphicFramePr>
        <p:xfrm>
          <a:off x="474662" y="1563750"/>
          <a:ext cx="5291450" cy="4173475"/>
        </p:xfrm>
        <a:graphic>
          <a:graphicData uri="http://schemas.openxmlformats.org/drawingml/2006/table">
            <a:tbl>
              <a:tblPr firstRow="1" bandRow="1">
                <a:noFill/>
                <a:tableStyleId>{7B4984F8-A8F8-455D-BC84-363041B57BD0}</a:tableStyleId>
              </a:tblPr>
              <a:tblGrid>
                <a:gridCol w="3376925">
                  <a:extLst>
                    <a:ext uri="{9D8B030D-6E8A-4147-A177-3AD203B41FA5}">
                      <a16:colId xmlns:a16="http://schemas.microsoft.com/office/drawing/2014/main" val="20000"/>
                    </a:ext>
                  </a:extLst>
                </a:gridCol>
                <a:gridCol w="1914525">
                  <a:extLst>
                    <a:ext uri="{9D8B030D-6E8A-4147-A177-3AD203B41FA5}">
                      <a16:colId xmlns:a16="http://schemas.microsoft.com/office/drawing/2014/main" val="20001"/>
                    </a:ext>
                  </a:extLst>
                </a:gridCol>
              </a:tblGrid>
              <a:tr h="724800">
                <a:tc>
                  <a:txBody>
                    <a:bodyPr/>
                    <a:lstStyle/>
                    <a:p>
                      <a:pPr marL="0" marR="0" lvl="0" indent="0" algn="ctr" rtl="0">
                        <a:lnSpc>
                          <a:spcPct val="100000"/>
                        </a:lnSpc>
                        <a:spcBef>
                          <a:spcPts val="0"/>
                        </a:spcBef>
                        <a:spcAft>
                          <a:spcPts val="0"/>
                        </a:spcAft>
                        <a:buNone/>
                      </a:pPr>
                      <a:r>
                        <a:rPr lang="en-US" sz="2400" b="1" u="none" strike="noStrike" cap="none">
                          <a:latin typeface="Times New Roman"/>
                          <a:ea typeface="Times New Roman"/>
                          <a:cs typeface="Times New Roman"/>
                          <a:sym typeface="Times New Roman"/>
                        </a:rPr>
                        <a:t>Operation</a:t>
                      </a:r>
                      <a:endParaRPr sz="2400" u="none" strike="noStrike" cap="none">
                        <a:latin typeface="Times New Roman"/>
                        <a:ea typeface="Times New Roman"/>
                        <a:cs typeface="Times New Roman"/>
                        <a:sym typeface="Times New Roman"/>
                      </a:endParaRPr>
                    </a:p>
                  </a:txBody>
                  <a:tcPr marL="0" marR="0" marT="1689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b="1" u="none" strike="noStrike" cap="none">
                          <a:latin typeface="Times New Roman"/>
                          <a:ea typeface="Times New Roman"/>
                          <a:cs typeface="Times New Roman"/>
                          <a:sym typeface="Times New Roman"/>
                        </a:rPr>
                        <a:t>Result</a:t>
                      </a:r>
                      <a:endParaRPr sz="2400" u="none" strike="noStrike" cap="none">
                        <a:latin typeface="Times New Roman"/>
                        <a:ea typeface="Times New Roman"/>
                        <a:cs typeface="Times New Roman"/>
                        <a:sym typeface="Times New Roman"/>
                      </a:endParaRPr>
                    </a:p>
                  </a:txBody>
                  <a:tcPr marL="0" marR="0" marT="1689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12775">
                <a:tc>
                  <a:txBody>
                    <a:bodyPr/>
                    <a:lstStyle/>
                    <a:p>
                      <a:pPr marL="0"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n ÷ ±Infinity</a:t>
                      </a:r>
                      <a:endParaRPr sz="2400" u="none" strike="noStrike" cap="none">
                        <a:latin typeface="Times New Roman"/>
                        <a:ea typeface="Times New Roman"/>
                        <a:cs typeface="Times New Roman"/>
                        <a:sym typeface="Times New Roman"/>
                      </a:endParaRPr>
                    </a:p>
                  </a:txBody>
                  <a:tcPr marL="0" marR="0" marT="104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0</a:t>
                      </a:r>
                      <a:endParaRPr sz="2400" u="none" strike="noStrike" cap="none">
                        <a:latin typeface="Times New Roman"/>
                        <a:ea typeface="Times New Roman"/>
                        <a:cs typeface="Times New Roman"/>
                        <a:sym typeface="Times New Roman"/>
                      </a:endParaRPr>
                    </a:p>
                  </a:txBody>
                  <a:tcPr marL="0" marR="0" marT="104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12775">
                <a:tc>
                  <a:txBody>
                    <a:bodyPr/>
                    <a:lstStyle/>
                    <a:p>
                      <a:pPr marL="0"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±Infinity × ±Infinity</a:t>
                      </a:r>
                      <a:endParaRPr sz="2400" u="none" strike="noStrike" cap="none">
                        <a:latin typeface="Times New Roman"/>
                        <a:ea typeface="Times New Roman"/>
                        <a:cs typeface="Times New Roman"/>
                        <a:sym typeface="Times New Roman"/>
                      </a:endParaRPr>
                    </a:p>
                  </a:txBody>
                  <a:tcPr marL="0" marR="0" marT="104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±Infinity</a:t>
                      </a:r>
                      <a:endParaRPr sz="2400" u="none" strike="noStrike" cap="none">
                        <a:latin typeface="Times New Roman"/>
                        <a:ea typeface="Times New Roman"/>
                        <a:cs typeface="Times New Roman"/>
                        <a:sym typeface="Times New Roman"/>
                      </a:endParaRPr>
                    </a:p>
                  </a:txBody>
                  <a:tcPr marL="0" marR="0" marT="104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12775">
                <a:tc>
                  <a:txBody>
                    <a:bodyPr/>
                    <a:lstStyle/>
                    <a:p>
                      <a:pPr marL="1270"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±nonZero ÷ ±0</a:t>
                      </a:r>
                      <a:endParaRPr sz="2400" u="none" strike="noStrike" cap="none">
                        <a:latin typeface="Times New Roman"/>
                        <a:ea typeface="Times New Roman"/>
                        <a:cs typeface="Times New Roman"/>
                        <a:sym typeface="Times New Roman"/>
                      </a:endParaRPr>
                    </a:p>
                  </a:txBody>
                  <a:tcPr marL="0" marR="0" marT="104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±Infinity</a:t>
                      </a:r>
                      <a:endParaRPr sz="2400" u="none" strike="noStrike" cap="none">
                        <a:latin typeface="Times New Roman"/>
                        <a:ea typeface="Times New Roman"/>
                        <a:cs typeface="Times New Roman"/>
                        <a:sym typeface="Times New Roman"/>
                      </a:endParaRPr>
                    </a:p>
                  </a:txBody>
                  <a:tcPr marL="0" marR="0" marT="104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12775">
                <a:tc>
                  <a:txBody>
                    <a:bodyPr/>
                    <a:lstStyle/>
                    <a:p>
                      <a:pPr marL="0"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±finite × ±Infinity</a:t>
                      </a:r>
                      <a:endParaRPr sz="2400" u="none" strike="noStrike" cap="none">
                        <a:latin typeface="Times New Roman"/>
                        <a:ea typeface="Times New Roman"/>
                        <a:cs typeface="Times New Roman"/>
                        <a:sym typeface="Times New Roman"/>
                      </a:endParaRPr>
                    </a:p>
                  </a:txBody>
                  <a:tcPr marL="0" marR="0" marT="104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±Infinity</a:t>
                      </a:r>
                      <a:endParaRPr sz="2400" u="none" strike="noStrike" cap="none">
                        <a:latin typeface="Times New Roman"/>
                        <a:ea typeface="Times New Roman"/>
                        <a:cs typeface="Times New Roman"/>
                        <a:sym typeface="Times New Roman"/>
                      </a:endParaRPr>
                    </a:p>
                  </a:txBody>
                  <a:tcPr marL="0" marR="0" marT="104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997575">
                <a:tc>
                  <a:txBody>
                    <a:bodyPr/>
                    <a:lstStyle/>
                    <a:p>
                      <a:pPr marL="570230" marR="562610" lvl="0" indent="42544" algn="l"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Infinity + Infinity  Infinity – -Infinity</a:t>
                      </a:r>
                      <a:endParaRPr sz="2400" u="none" strike="noStrike" cap="none">
                        <a:latin typeface="Times New Roman"/>
                        <a:ea typeface="Times New Roman"/>
                        <a:cs typeface="Times New Roman"/>
                        <a:sym typeface="Times New Roman"/>
                      </a:endParaRPr>
                    </a:p>
                  </a:txBody>
                  <a:tcPr marL="0" marR="0" marT="1143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+Infinity</a:t>
                      </a:r>
                      <a:endParaRPr sz="2400" u="none" strike="noStrike" cap="none">
                        <a:latin typeface="Times New Roman"/>
                        <a:ea typeface="Times New Roman"/>
                        <a:cs typeface="Times New Roman"/>
                        <a:sym typeface="Times New Roman"/>
                      </a:endParaRPr>
                    </a:p>
                  </a:txBody>
                  <a:tcPr marL="0" marR="0" marT="2971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885" name="Google Shape;885;p128"/>
          <p:cNvGraphicFramePr/>
          <p:nvPr/>
        </p:nvGraphicFramePr>
        <p:xfrm>
          <a:off x="6218173" y="1576577"/>
          <a:ext cx="5234300" cy="4173400"/>
        </p:xfrm>
        <a:graphic>
          <a:graphicData uri="http://schemas.openxmlformats.org/drawingml/2006/table">
            <a:tbl>
              <a:tblPr firstRow="1" bandRow="1">
                <a:noFill/>
                <a:tableStyleId>{7B4984F8-A8F8-455D-BC84-363041B57BD0}</a:tableStyleId>
              </a:tblPr>
              <a:tblGrid>
                <a:gridCol w="3348350">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tblGrid>
              <a:tr h="724650">
                <a:tc>
                  <a:txBody>
                    <a:bodyPr/>
                    <a:lstStyle/>
                    <a:p>
                      <a:pPr marL="635" marR="0" lvl="0" indent="0" algn="ctr" rtl="0">
                        <a:lnSpc>
                          <a:spcPct val="100000"/>
                        </a:lnSpc>
                        <a:spcBef>
                          <a:spcPts val="0"/>
                        </a:spcBef>
                        <a:spcAft>
                          <a:spcPts val="0"/>
                        </a:spcAft>
                        <a:buNone/>
                      </a:pPr>
                      <a:r>
                        <a:rPr lang="en-US" sz="2400" b="1" u="none" strike="noStrike" cap="none">
                          <a:latin typeface="Times New Roman"/>
                          <a:ea typeface="Times New Roman"/>
                          <a:cs typeface="Times New Roman"/>
                          <a:sym typeface="Times New Roman"/>
                        </a:rPr>
                        <a:t>Operation</a:t>
                      </a:r>
                      <a:endParaRPr sz="2400" u="none" strike="noStrike" cap="none">
                        <a:latin typeface="Times New Roman"/>
                        <a:ea typeface="Times New Roman"/>
                        <a:cs typeface="Times New Roman"/>
                        <a:sym typeface="Times New Roman"/>
                      </a:endParaRPr>
                    </a:p>
                  </a:txBody>
                  <a:tcPr marL="0" marR="0" marT="1689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2400" b="1" u="none" strike="noStrike" cap="none">
                          <a:latin typeface="Times New Roman"/>
                          <a:ea typeface="Times New Roman"/>
                          <a:cs typeface="Times New Roman"/>
                          <a:sym typeface="Times New Roman"/>
                        </a:rPr>
                        <a:t>Result</a:t>
                      </a:r>
                      <a:endParaRPr sz="2400" u="none" strike="noStrike" cap="none">
                        <a:latin typeface="Times New Roman"/>
                        <a:ea typeface="Times New Roman"/>
                        <a:cs typeface="Times New Roman"/>
                        <a:sym typeface="Times New Roman"/>
                      </a:endParaRPr>
                    </a:p>
                  </a:txBody>
                  <a:tcPr marL="0" marR="0" marT="1689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997575">
                <a:tc>
                  <a:txBody>
                    <a:bodyPr/>
                    <a:lstStyle/>
                    <a:p>
                      <a:pPr marL="556895" marR="0" lvl="0" indent="0" algn="l"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-Infinity – Infinity</a:t>
                      </a:r>
                      <a:endParaRPr sz="2400" u="none" strike="noStrike" cap="none">
                        <a:latin typeface="Times New Roman"/>
                        <a:ea typeface="Times New Roman"/>
                        <a:cs typeface="Times New Roman"/>
                        <a:sym typeface="Times New Roman"/>
                      </a:endParaRPr>
                    </a:p>
                    <a:p>
                      <a:pPr marL="433705" marR="0" lvl="0" indent="0" algn="l"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-Infinity + – Infinity</a:t>
                      </a:r>
                      <a:endParaRPr sz="2400" u="none" strike="noStrike" cap="none">
                        <a:latin typeface="Times New Roman"/>
                        <a:ea typeface="Times New Roman"/>
                        <a:cs typeface="Times New Roman"/>
                        <a:sym typeface="Times New Roman"/>
                      </a:endParaRPr>
                    </a:p>
                  </a:txBody>
                  <a:tcPr marL="0" marR="0" marT="1136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 Infinity</a:t>
                      </a:r>
                      <a:endParaRPr sz="2400" u="none" strike="noStrike" cap="none">
                        <a:latin typeface="Times New Roman"/>
                        <a:ea typeface="Times New Roman"/>
                        <a:cs typeface="Times New Roman"/>
                        <a:sym typeface="Times New Roman"/>
                      </a:endParaRPr>
                    </a:p>
                  </a:txBody>
                  <a:tcPr marL="0" marR="0" marT="2965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12900">
                <a:tc>
                  <a:txBody>
                    <a:bodyPr/>
                    <a:lstStyle/>
                    <a:p>
                      <a:pPr marL="1905"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±0 ÷ ±0</a:t>
                      </a:r>
                      <a:endParaRPr sz="2400" u="none" strike="noStrike" cap="none">
                        <a:latin typeface="Times New Roman"/>
                        <a:ea typeface="Times New Roman"/>
                        <a:cs typeface="Times New Roman"/>
                        <a:sym typeface="Times New Roman"/>
                      </a:endParaRPr>
                    </a:p>
                  </a:txBody>
                  <a:tcPr marL="0" marR="0" marT="1047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540"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NaN</a:t>
                      </a:r>
                      <a:endParaRPr sz="2400" u="none" strike="noStrike" cap="none">
                        <a:latin typeface="Times New Roman"/>
                        <a:ea typeface="Times New Roman"/>
                        <a:cs typeface="Times New Roman"/>
                        <a:sym typeface="Times New Roman"/>
                      </a:endParaRPr>
                    </a:p>
                  </a:txBody>
                  <a:tcPr marL="0" marR="0" marT="1047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12775">
                <a:tc>
                  <a:txBody>
                    <a:bodyPr/>
                    <a:lstStyle/>
                    <a:p>
                      <a:pPr marL="1270"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±Infinity ÷ ±Infinity</a:t>
                      </a:r>
                      <a:endParaRPr sz="2400" u="none" strike="noStrike" cap="none">
                        <a:latin typeface="Times New Roman"/>
                        <a:ea typeface="Times New Roman"/>
                        <a:cs typeface="Times New Roman"/>
                        <a:sym typeface="Times New Roman"/>
                      </a:endParaRPr>
                    </a:p>
                  </a:txBody>
                  <a:tcPr marL="0" marR="0" marT="104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3175"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NaN</a:t>
                      </a:r>
                      <a:endParaRPr sz="2400" u="none" strike="noStrike" cap="none">
                        <a:latin typeface="Times New Roman"/>
                        <a:ea typeface="Times New Roman"/>
                        <a:cs typeface="Times New Roman"/>
                        <a:sym typeface="Times New Roman"/>
                      </a:endParaRPr>
                    </a:p>
                  </a:txBody>
                  <a:tcPr marL="0" marR="0" marT="104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12775">
                <a:tc>
                  <a:txBody>
                    <a:bodyPr/>
                    <a:lstStyle/>
                    <a:p>
                      <a:pPr marL="1905"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±Infinity × 0</a:t>
                      </a:r>
                      <a:endParaRPr sz="2400" u="none" strike="noStrike" cap="none">
                        <a:latin typeface="Times New Roman"/>
                        <a:ea typeface="Times New Roman"/>
                        <a:cs typeface="Times New Roman"/>
                        <a:sym typeface="Times New Roman"/>
                      </a:endParaRPr>
                    </a:p>
                  </a:txBody>
                  <a:tcPr marL="0" marR="0" marT="104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540"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NaN</a:t>
                      </a:r>
                      <a:endParaRPr sz="2400" u="none" strike="noStrike" cap="none">
                        <a:latin typeface="Times New Roman"/>
                        <a:ea typeface="Times New Roman"/>
                        <a:cs typeface="Times New Roman"/>
                        <a:sym typeface="Times New Roman"/>
                      </a:endParaRPr>
                    </a:p>
                  </a:txBody>
                  <a:tcPr marL="0" marR="0" marT="1041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612725">
                <a:tc>
                  <a:txBody>
                    <a:bodyPr/>
                    <a:lstStyle/>
                    <a:p>
                      <a:pPr marL="1270"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NaN == NaN</a:t>
                      </a:r>
                      <a:endParaRPr sz="2400" u="none" strike="noStrike" cap="none">
                        <a:latin typeface="Times New Roman"/>
                        <a:ea typeface="Times New Roman"/>
                        <a:cs typeface="Times New Roman"/>
                        <a:sym typeface="Times New Roman"/>
                      </a:endParaRPr>
                    </a:p>
                  </a:txBody>
                  <a:tcPr marL="0" marR="0" marT="1047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2400" u="none" strike="noStrike" cap="none">
                          <a:latin typeface="Times New Roman"/>
                          <a:ea typeface="Times New Roman"/>
                          <a:cs typeface="Times New Roman"/>
                          <a:sym typeface="Times New Roman"/>
                        </a:rPr>
                        <a:t>False</a:t>
                      </a:r>
                      <a:endParaRPr sz="2400" u="none" strike="noStrike" cap="none">
                        <a:latin typeface="Times New Roman"/>
                        <a:ea typeface="Times New Roman"/>
                        <a:cs typeface="Times New Roman"/>
                        <a:sym typeface="Times New Roman"/>
                      </a:endParaRPr>
                    </a:p>
                  </a:txBody>
                  <a:tcPr marL="0" marR="0" marT="1047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4918</Words>
  <Application>Microsoft Office PowerPoint</Application>
  <PresentationFormat>Widescreen</PresentationFormat>
  <Paragraphs>515</Paragraphs>
  <Slides>116</Slides>
  <Notes>116</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116</vt:i4>
      </vt:variant>
    </vt:vector>
  </HeadingPairs>
  <TitlesOfParts>
    <vt:vector size="127" baseType="lpstr">
      <vt:lpstr>Palatino Linotype</vt:lpstr>
      <vt:lpstr>Noto Sans Symbols</vt:lpstr>
      <vt:lpstr>Georgia</vt:lpstr>
      <vt:lpstr>Calibri</vt:lpstr>
      <vt:lpstr>Nunito</vt:lpstr>
      <vt:lpstr>Tahoma</vt:lpstr>
      <vt:lpstr>Arial</vt:lpstr>
      <vt:lpstr>Roboto</vt:lpstr>
      <vt:lpstr>Times New Roman</vt:lpstr>
      <vt:lpstr>Arimo</vt:lpstr>
      <vt:lpstr>Office Theme</vt:lpstr>
      <vt:lpstr>     21CSS201T COMPUTER ORGANIZATION AND ARCHITECTURE  UNIT-3 Design of ALU and De Morgan’s Law</vt:lpstr>
      <vt:lpstr>                Arithmetic Logic Unit</vt:lpstr>
      <vt:lpstr>                               Arithmetic Logic Unit</vt:lpstr>
      <vt:lpstr>                                 ALU Symbol</vt:lpstr>
      <vt:lpstr>                                 ADDERS</vt:lpstr>
      <vt:lpstr>                                   Half  Adder</vt:lpstr>
      <vt:lpstr>                Truth Table and Circuit Diagram </vt:lpstr>
      <vt:lpstr>                                   Full Adder</vt:lpstr>
      <vt:lpstr>         Truth Table and Circuit Diagram </vt:lpstr>
      <vt:lpstr>                                   Design of ALU </vt:lpstr>
      <vt:lpstr>  The 4-bit ALU block is combined using 4 1-bit ALU block</vt:lpstr>
      <vt:lpstr>    Design Issues  </vt:lpstr>
      <vt:lpstr>                   16 bit ALU Design</vt:lpstr>
      <vt:lpstr>                            De Morgan’s Theorem</vt:lpstr>
      <vt:lpstr>                         Two Theorems</vt:lpstr>
      <vt:lpstr>                    Theorem1 – Logic diagram</vt:lpstr>
      <vt:lpstr>                      Table showing verification of the De Morgan's first theorem </vt:lpstr>
      <vt:lpstr>                       Theorem 2</vt:lpstr>
      <vt:lpstr>                     Theorem 2- Logic diagram</vt:lpstr>
      <vt:lpstr>    Table showing verification of the De Morgan's second theorem   </vt:lpstr>
      <vt:lpstr>                    Applications of De Morgan’s Theorem</vt:lpstr>
      <vt:lpstr>Ripple  Carry Adder </vt:lpstr>
      <vt:lpstr>Ripple  Carry Adder </vt:lpstr>
      <vt:lpstr>Ripple  Carry Adder </vt:lpstr>
      <vt:lpstr>PowerPoint Presentation</vt:lpstr>
      <vt:lpstr>example</vt:lpstr>
      <vt:lpstr>Ripple  Carry Adder </vt:lpstr>
      <vt:lpstr>Ripple  Carry Adder </vt:lpstr>
      <vt:lpstr>Ripple  Carry Adder </vt:lpstr>
      <vt:lpstr>PowerPoint Presentation</vt:lpstr>
      <vt:lpstr>Design of Fast adder:  Carry Look-ahead Adder</vt:lpstr>
      <vt:lpstr>PowerPoint Presentation</vt:lpstr>
      <vt:lpstr>Carry Look-ahead Adder</vt:lpstr>
      <vt:lpstr>Carry Look-ahead Adder</vt:lpstr>
      <vt:lpstr>Carry Look-ahead Adder</vt:lpstr>
      <vt:lpstr>Carry Look-ahead Adder</vt:lpstr>
      <vt:lpstr>Carry Look-ahead Adder</vt:lpstr>
      <vt:lpstr>Carry Look-ahead Adder</vt:lpstr>
      <vt:lpstr>PowerPoint Presentation</vt:lpstr>
      <vt:lpstr>4-bit Carry Look-ahead Adder</vt:lpstr>
      <vt:lpstr>4-bit Carry Look-ahead Adder</vt:lpstr>
      <vt:lpstr>Binary Parallel Adder/Subtractor:  </vt:lpstr>
      <vt:lpstr>Binary Parallel Adder/Subtractor:  </vt:lpstr>
      <vt:lpstr>PowerPoint Presentation</vt:lpstr>
      <vt:lpstr>Binary Parallel Adder/Subtractor:  </vt:lpstr>
      <vt:lpstr>Multiplier –  Unsigned, Signed  Fast, Carry Save Addition of summands </vt:lpstr>
      <vt:lpstr>Binary Multiplier</vt:lpstr>
      <vt:lpstr>Binary Multiplier</vt:lpstr>
      <vt:lpstr>Binary Multiplier</vt:lpstr>
      <vt:lpstr>Binary Multiplier</vt:lpstr>
      <vt:lpstr>Binary Multiplier</vt:lpstr>
      <vt:lpstr>Binary Multiplier</vt:lpstr>
      <vt:lpstr>Binary Multiplier</vt:lpstr>
      <vt:lpstr>Example</vt:lpstr>
      <vt:lpstr>Multiplication of Positive Numbers:  Shift-and-Add Multiplier</vt:lpstr>
      <vt:lpstr>Shift-and-Add Multiplication</vt:lpstr>
      <vt:lpstr>Shift-and-Add Multiplier</vt:lpstr>
      <vt:lpstr>Shift-and-Add Multiplier</vt:lpstr>
      <vt:lpstr>Shift - and - Add multiplier</vt:lpstr>
      <vt:lpstr>Shift-and-Add Multiplier</vt:lpstr>
      <vt:lpstr>Shift-and-Add Multiplier</vt:lpstr>
      <vt:lpstr>Example to multiply 11 and 13</vt:lpstr>
      <vt:lpstr>Example to multiply 11 and 13</vt:lpstr>
      <vt:lpstr>Signed Multiplication - Booth Algorithm</vt:lpstr>
      <vt:lpstr>Signed Multiplication - Booth Algorithm</vt:lpstr>
      <vt:lpstr>Signed Multiplication - Booth Algorithm</vt:lpstr>
      <vt:lpstr>Signed Multiplication - Booth Algorithm</vt:lpstr>
      <vt:lpstr>Signed Multiplication - Booth Algorithm</vt:lpstr>
      <vt:lpstr>PowerPoint Presentation</vt:lpstr>
      <vt:lpstr>PowerPoint Presentation</vt:lpstr>
      <vt:lpstr>Alternate Method : The BOOTH Algorithm</vt:lpstr>
      <vt:lpstr>The BOOTH RECODED MULTIPLIER</vt:lpstr>
      <vt:lpstr>BOOTH Algorithm</vt:lpstr>
      <vt:lpstr>BOOTH Algorithm</vt:lpstr>
      <vt:lpstr>BOOTH Algorithm</vt:lpstr>
      <vt:lpstr>BOOTH Algorithm</vt:lpstr>
      <vt:lpstr>BOOTH Algorithm</vt:lpstr>
      <vt:lpstr>PowerPoint Presentation</vt:lpstr>
      <vt:lpstr>FAST MULTIPLICATION</vt:lpstr>
      <vt:lpstr>Fast Multiplication</vt:lpstr>
      <vt:lpstr>Bit-Pair Recoding of Multipliers</vt:lpstr>
      <vt:lpstr>Bit-Pair Recoding of Multipliers</vt:lpstr>
      <vt:lpstr>Bit-Pair Recoding of Multipliers</vt:lpstr>
      <vt:lpstr>PowerPoint Presentation</vt:lpstr>
      <vt:lpstr>Bit-Pair Recoding of Multipliers</vt:lpstr>
      <vt:lpstr>Carry-Save Addition of Summands</vt:lpstr>
      <vt:lpstr>Carry-Save Addition of Summands</vt:lpstr>
      <vt:lpstr>Ripple Carry Array</vt:lpstr>
      <vt:lpstr>Carry Save Array </vt:lpstr>
      <vt:lpstr>Carry-Save Addition of Summands</vt:lpstr>
      <vt:lpstr>PowerPoint Presentation</vt:lpstr>
      <vt:lpstr>PowerPoint Presentation</vt:lpstr>
      <vt:lpstr>PowerPoint Presentation</vt:lpstr>
      <vt:lpstr>       Division – Restoring and  Non—Restoring </vt:lpstr>
      <vt:lpstr>Integer Division </vt:lpstr>
      <vt:lpstr>Integer Division</vt:lpstr>
      <vt:lpstr>Long Hand Division</vt:lpstr>
      <vt:lpstr>Restoring Division</vt:lpstr>
      <vt:lpstr>Restoring Division</vt:lpstr>
      <vt:lpstr>Flowchart for Restoring Division </vt:lpstr>
      <vt:lpstr>Restoring Division – Example </vt:lpstr>
      <vt:lpstr>Non-Restoring Division</vt:lpstr>
      <vt:lpstr>Flowchart for Non-Restoring Division </vt:lpstr>
      <vt:lpstr>Non-Restoring Division</vt:lpstr>
      <vt:lpstr>Non-Restoring Division - Example</vt:lpstr>
      <vt:lpstr>IEEE 754 Floating point numbers  and operations.</vt:lpstr>
      <vt:lpstr>Floating-Point Arithmetic (IEEE 754)</vt:lpstr>
      <vt:lpstr>IEEE 754 - Basic components</vt:lpstr>
      <vt:lpstr>IEEE 754 - Precision</vt:lpstr>
      <vt:lpstr>Example 1: Single precision</vt:lpstr>
      <vt:lpstr>Example 2: Double precision</vt:lpstr>
      <vt:lpstr>IEEE 754 - Special Values</vt:lpstr>
      <vt:lpstr>IEEE 754 - Special Values</vt:lpstr>
      <vt:lpstr>Ranges of Floating point numbers</vt:lpstr>
      <vt:lpstr>Ranges of Floating point numbers</vt:lpstr>
      <vt:lpstr>IEEE 754 - Special Operations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21CSS201T COMPUTER ORGANIZATION AND ARCHITECTURE  UNIT-3 Design of ALU and De Morgan’s Law</dc:title>
  <cp:lastModifiedBy>arpit shrivastava</cp:lastModifiedBy>
  <cp:revision>1</cp:revision>
  <dcterms:modified xsi:type="dcterms:W3CDTF">2023-11-29T07:25:38Z</dcterms:modified>
</cp:coreProperties>
</file>